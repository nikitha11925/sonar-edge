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
  </p:handoutMasterIdLst>
  <p:sldIdLst>
    <p:sldId id="256" r:id="rId3"/>
    <p:sldId id="257" r:id="rId5"/>
    <p:sldId id="258" r:id="rId6"/>
    <p:sldId id="259" r:id="rId7"/>
    <p:sldId id="260" r:id="rId8"/>
    <p:sldId id="261" r:id="rId9"/>
    <p:sldId id="262" r:id="rId10"/>
    <p:sldId id="263" r:id="rId19"/>
    <p:sldId id="264" r:id="rId20"/>
    <p:sldId id="265" r:id="rId11"/>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13"/>
    <p:sldId id="281" r:id="rId14"/>
  </p:sldIdLst>
  <p:sldSz cx="9144000" cy="6858000" type="screen4x3"/>
  <p:notesSz cx="6858000" cy="9144000"/>
  <p:defaultTextStyle>
    <a:defPPr>
      <a:defRPr lang="en-US"/>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3217"/>
    <a:srgbClr val="420408"/>
    <a:srgbClr val="0D0D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p:scale>
          <a:sx n="71" d="100"/>
          <a:sy n="71" d="100"/>
        </p:scale>
        <p:origin x="-1136" y="2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latin typeface="Calibri"/>
              </a:rPr>
              <a:t>AUC on a new machine (6 dB)</a:t>
            </a:r>
          </a:p>
        </c:rich>
      </c:tx>
      <c:layout/>
      <c:overlay val="0"/>
    </c:title>
    <c:autoTitleDeleted val="0"/>
    <c:plotArea>
      <c:barChart>
        <c:barDir val="col"/>
        <c:grouping val="clustered"/>
        <c:ser>
          <c:idx val="0"/>
          <c:order val="0"/>
          <c:tx>
            <c:strRef>
              <c:f>Sheet1!$B$1</c:f>
              <c:strCache>
                <c:ptCount val="1"/>
                <c:pt idx="0">
                  <c:v>No calibration</c:v>
                </c:pt>
              </c:strCache>
            </c:strRef>
          </c:tx>
          <c:spPr>
            <a:solidFill>
              <a:srgbClr val="9AA7B5"/>
            </a:solidFill>
          </c:spPr>
          <c:cat>
            <c:strRef>
              <c:f>Sheet1!$A$2:$A$4</c:f>
              <c:strCache>
                <c:ptCount val="3"/>
                <c:pt idx="0">
                  <c:v>Fan</c:v>
                </c:pt>
                <c:pt idx="1">
                  <c:v>Pump</c:v>
                </c:pt>
                <c:pt idx="2">
                  <c:v>Slider</c:v>
                </c:pt>
              </c:strCache>
            </c:strRef>
          </c:cat>
          <c:val>
            <c:numRef>
              <c:f>Sheet1!$B$2:$B$4</c:f>
              <c:numCache>
                <c:formatCode>General</c:formatCode>
                <c:ptCount val="3"/>
                <c:pt idx="0">
                  <c:v>0.53</c:v>
                </c:pt>
                <c:pt idx="1">
                  <c:v>0.51</c:v>
                </c:pt>
                <c:pt idx="2">
                  <c:v>0.85</c:v>
                </c:pt>
              </c:numCache>
            </c:numRef>
          </c:val>
        </c:ser>
        <c:ser>
          <c:idx val="1"/>
          <c:order val="1"/>
          <c:tx>
            <c:strRef>
              <c:f>Sheet1!$C$1</c:f>
              <c:strCache>
                <c:ptCount val="1"/>
                <c:pt idx="0">
                  <c:v>Full calibration</c:v>
                </c:pt>
              </c:strCache>
            </c:strRef>
          </c:tx>
          <c:spPr>
            <a:solidFill>
              <a:srgbClr val="25578F"/>
            </a:solidFill>
          </c:spPr>
          <c:cat>
            <c:strRef>
              <c:f>Sheet1!$A$2:$A$4</c:f>
              <c:strCache>
                <c:ptCount val="3"/>
                <c:pt idx="0">
                  <c:v>Fan</c:v>
                </c:pt>
                <c:pt idx="1">
                  <c:v>Pump</c:v>
                </c:pt>
                <c:pt idx="2">
                  <c:v>Slider</c:v>
                </c:pt>
              </c:strCache>
            </c:strRef>
          </c:cat>
          <c:val>
            <c:numRef>
              <c:f>Sheet1!$C$2:$C$4</c:f>
              <c:numCache>
                <c:formatCode>General</c:formatCode>
                <c:ptCount val="3"/>
                <c:pt idx="0">
                  <c:v>0.92</c:v>
                </c:pt>
                <c:pt idx="1">
                  <c:v>0.96</c:v>
                </c:pt>
                <c:pt idx="2">
                  <c:v>0.95</c:v>
                </c:pt>
              </c:numCache>
            </c:numRef>
          </c:val>
        </c:ser>
        <c:dLbls>
          <c:numFmt formatCode="0.00" sourceLinked="0"/>
          <c:txPr>
            <a:bodyPr/>
            <a:lstStyle/>
            <a:p>
              <a:pPr>
                <a:defRPr sz="1100">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latin typeface="Calibri"/>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D5DCE6"/>
              </a:solidFill>
            </a:ln>
          </c:spPr>
        </c:majorGridlines>
        <c:majorTickMark val="out"/>
        <c:minorTickMark val="none"/>
        <c:tickLblPos val="nextTo"/>
        <c:txPr>
          <a:bodyPr/>
          <a:lstStyle/>
          <a:p>
            <a:pPr>
              <a:defRPr sz="1100">
                <a:latin typeface="Calibri"/>
              </a:defRPr>
            </a:pPr>
          </a:p>
        </c:txPr>
        <c:crossAx val="-2068027336"/>
        <c:crosses val="autoZero"/>
        <c:majorUnit val="0.25"/>
      </c:valAx>
    </c:plotArea>
    <c:legend>
      <c:legendPos val="b"/>
      <c:overlay val="0"/>
      <c:txPr>
        <a:bodyPr/>
        <a:lstStyle/>
        <a:p>
          <a:pPr>
            <a:defRPr sz="1100">
              <a:latin typeface="Calibri"/>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216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fontAlgn="auto" hangingPunct="1">
              <a:spcBef>
                <a:spcPts val="0"/>
              </a:spcBef>
              <a:spcAft>
                <a:spcPts val="0"/>
              </a:spcAft>
              <a:defRPr sz="1200">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Title of the project</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92163"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fontAlgn="auto" hangingPunct="1">
              <a:spcBef>
                <a:spcPts val="0"/>
              </a:spcBef>
              <a:spcAft>
                <a:spcPts val="0"/>
              </a:spcAft>
              <a:defRPr sz="1200">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19D65D1B-4878-47F4-A64E-DF6BAA956D7E}" type="datetime1">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92164"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fontAlgn="auto" hangingPunct="1">
              <a:spcBef>
                <a:spcPts val="0"/>
              </a:spcBef>
              <a:spcAft>
                <a:spcPts val="0"/>
              </a:spcAft>
              <a:defRPr sz="1200">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CSE Dept., SET-Jain University</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92165"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fld id="{9A0DB2DC-4C9A-4742-B13C-FB6460FD3503}" type="slidenum">
              <a:rPr lang="en-US" altLang="en-US" sz="1200" dirty="0">
                <a:latin typeface="Calibri" panose="020F0502020204030204" pitchFamily="34" charset="0"/>
              </a:rPr>
            </a:fld>
            <a:endParaRPr lang="en-US"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011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fontAlgn="auto" hangingPunct="1">
              <a:spcBef>
                <a:spcPts val="0"/>
              </a:spcBef>
              <a:spcAft>
                <a:spcPts val="0"/>
              </a:spcAft>
              <a:defRPr sz="1200">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Title of the project</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9011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fontAlgn="auto" hangingPunct="1">
              <a:spcBef>
                <a:spcPts val="0"/>
              </a:spcBef>
              <a:spcAft>
                <a:spcPts val="0"/>
              </a:spcAft>
              <a:defRPr sz="1200">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EE49C896-B1F7-42D3-B379-D84BAE1F72E3}" type="datetime1">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29700"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9011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011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fontAlgn="auto" hangingPunct="1">
              <a:spcBef>
                <a:spcPts val="0"/>
              </a:spcBef>
              <a:spcAft>
                <a:spcPts val="0"/>
              </a:spcAft>
              <a:defRPr sz="1200">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CSE Dept., SET-Jain University</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9011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fld id="{9A0DB2DC-4C9A-4742-B13C-FB6460FD3503}" type="slidenum">
              <a:rPr lang="en-US" altLang="en-US" sz="1200" dirty="0">
                <a:latin typeface="Calibri" panose="020F0502020204030204" pitchFamily="34" charset="0"/>
              </a:rPr>
            </a:fld>
            <a:endParaRPr lang="en-US"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txBox="1">
            <a:spLocks noGrp="1"/>
          </p:cNvSpPr>
          <p:nvPr>
            <p:ph type="hdr" sz="quarter"/>
          </p:nvPr>
        </p:nvSpPr>
        <p:spPr>
          <a:xfrm>
            <a:off x="0" y="0"/>
            <a:ext cx="2971800" cy="457200"/>
          </a:xfrm>
          <a:prstGeom prst="rect">
            <a:avLst/>
          </a:prstGeom>
          <a:noFill/>
          <a:ln w="9525">
            <a:noFill/>
          </a:ln>
        </p:spPr>
        <p:txBody>
          <a:bodyPr/>
          <a:p>
            <a:pPr lvl="0" eaLnBrk="1" hangingPunct="1"/>
            <a:r>
              <a:rPr lang="en-US" altLang="en-US" sz="1200" dirty="0">
                <a:latin typeface="Arial" panose="020B0604020202020204" pitchFamily="34" charset="0"/>
              </a:rPr>
              <a:t>Title of the project</a:t>
            </a:r>
            <a:endParaRPr lang="en-US" altLang="en-US" sz="1200" dirty="0">
              <a:latin typeface="Arial" panose="020B0604020202020204" pitchFamily="34" charset="0"/>
            </a:endParaRPr>
          </a:p>
        </p:txBody>
      </p:sp>
      <p:sp>
        <p:nvSpPr>
          <p:cNvPr id="30723" name="Rectangle 6"/>
          <p:cNvSpPr txBox="1">
            <a:spLocks noGrp="1"/>
          </p:cNvSpPr>
          <p:nvPr>
            <p:ph type="ftr" sz="quarter"/>
          </p:nvPr>
        </p:nvSpPr>
        <p:spPr>
          <a:xfrm>
            <a:off x="0" y="8685213"/>
            <a:ext cx="2971800" cy="457200"/>
          </a:xfrm>
          <a:prstGeom prst="rect">
            <a:avLst/>
          </a:prstGeom>
          <a:noFill/>
          <a:ln w="9525">
            <a:noFill/>
          </a:ln>
        </p:spPr>
        <p:txBody>
          <a:bodyPr anchor="b" anchorCtr="0"/>
          <a:p>
            <a:pPr lvl="0" eaLnBrk="1" hangingPunct="1"/>
            <a:r>
              <a:rPr lang="en-US" altLang="en-US" sz="1200" dirty="0">
                <a:latin typeface="Arial" panose="020B0604020202020204" pitchFamily="34" charset="0"/>
              </a:rPr>
              <a:t>CSE Dept., SET-Jain University</a:t>
            </a:r>
            <a:endParaRPr lang="en-US" altLang="en-US" sz="1200" dirty="0">
              <a:latin typeface="Arial" panose="020B0604020202020204" pitchFamily="34" charset="0"/>
            </a:endParaRPr>
          </a:p>
        </p:txBody>
      </p:sp>
      <p:sp>
        <p:nvSpPr>
          <p:cNvPr id="3072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latin typeface="Arial" panose="020B0604020202020204" pitchFamily="34" charset="0"/>
              </a:rPr>
            </a:fld>
            <a:endParaRPr lang="en-US" altLang="en-US" sz="1200" dirty="0">
              <a:latin typeface="Arial" panose="020B0604020202020204" pitchFamily="34" charset="0"/>
            </a:endParaRPr>
          </a:p>
        </p:txBody>
      </p:sp>
      <p:sp>
        <p:nvSpPr>
          <p:cNvPr id="30725" name="Rectangle 2"/>
          <p:cNvSpPr>
            <a:spLocks noRot="1" noTextEdit="1"/>
          </p:cNvSpPr>
          <p:nvPr>
            <p:ph type="sldImg"/>
          </p:nvPr>
        </p:nvSpPr>
        <p:spPr>
          <a:ln/>
        </p:spPr>
      </p:sp>
      <p:sp>
        <p:nvSpPr>
          <p:cNvPr id="30726" name="Rectangle 3"/>
          <p:cNvSpPr>
            <a:spLocks noGrp="1"/>
          </p:cNvSpPr>
          <p:nvPr>
            <p:ph type="body" idx="1"/>
          </p:nvPr>
        </p:nvSpPr>
        <p:spPr>
          <a:ln/>
        </p:spPr>
        <p:txBody>
          <a:bodyPr wrap="square" lIns="91440" tIns="45720" rIns="91440" bIns="45720" anchor="t" anchorCtr="0"/>
          <a:p>
            <a:r>
              <a:t>Introduce the team, guide and project title.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follows the review rubric: problem and literature, methodology and design, implementation progress, then challenges, plan and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idea, calibration, results, limits, vibration and fusion, in that order. Say honestly that valves and heavy noise are not solved and nothing runs on hardware yet.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AUC target of 0.90 is met for fans and sliders at 6 dB; say clearly that it is not met for valves or heavy noise.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and how we validate them. The sealed machine and three seeds are what make the numbers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say first or novel method. Per-domain statistics are an existing idea; our contribution is the low-cost, tiny-model, multi-modal version tested on unseen machines with failures reported.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to be filled in by the team.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to be filled in by the team.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claim narrow. The energy and noise gap is only 'not found in a narrow search'. Update this slide once the literature tables are filled.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diagram goes here. Explain it with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six blocks. Be clear about what is built (sound pipeline) and what is planned (hardware, fusion).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Features are the same for every machine; only the number of bands and the model size differ per type. The settings come from Hitachi's baseline.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never decides by itself what is too bad; the alert level is a separate number computed from healthy scores during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the CNN versus autoencoder table with the dataset and metric the team used. The CNN is supervised, so it needs fault examples; the autoencoder does not.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how the multi-modal part will work. It is a hypothesis to test on paired data, not a result. Dashed boxes are planned.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marked Done runs on a laptop; the hardware part is not started. The 40% is a team estimate and should be said as such.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6 dB, four machines per type, two seeds. Hitachi trains per machine; we test on machines never seen in training, so the comparison is not perfectly equal.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sealed machine column separately; it is the fairest test but is one machine per type. The alert-level rule is the weakest part.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 on a laptop with recorded clips. Explain the ROC curve, the score histogram with the alert level, and the confusion matrix.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window says it is a simulation on a laptop with recorded clips. The folder name is shown for reference only; the model never sees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the open items. The alert-level rule and valves are the two biggest.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options to evaluate, not decided results. No specific extra model is committed 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Fusion is tested only once sound and vibration are recorded from the same machine on our own rig.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this slide in before the review: the rubric asks for individual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Done items can be shown live in the dashboard. Planned items depend on hardware.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only papers that were opened. Add the literature-table papers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2053" name="Freeform 8"/>
          <p:cNvSpPr/>
          <p:nvPr/>
        </p:nvSpPr>
        <p:spPr>
          <a:xfrm>
            <a:off x="-31750" y="4321175"/>
            <a:ext cx="1395413" cy="7810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0" y="2147483647"/>
              </a:cxn>
              <a:cxn ang="0">
                <a:pos x="2147483647" y="2147483647"/>
              </a:cxn>
            </a:cxnLst>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alpha val="100000"/>
            </a:schemeClr>
          </a:solidFill>
          <a:ln w="9525">
            <a:noFill/>
          </a:ln>
        </p:spPr>
        <p:txBody>
          <a:bodyPr/>
          <a:p>
            <a:endParaRPr lang="en-US"/>
          </a:p>
        </p:txBody>
      </p:sp>
      <p:pic>
        <p:nvPicPr>
          <p:cNvPr id="2054" name="Picture 34"/>
          <p:cNvPicPr>
            <a:picLocks noChangeAspect="1"/>
          </p:cNvPicPr>
          <p:nvPr userDrawn="1"/>
        </p:nvPicPr>
        <p:blipFill>
          <a:blip r:embed="rId2"/>
          <a:stretch>
            <a:fillRect/>
          </a:stretch>
        </p:blipFill>
        <p:spPr>
          <a:xfrm>
            <a:off x="7467600" y="304800"/>
            <a:ext cx="1416050" cy="454025"/>
          </a:xfrm>
          <a:prstGeom prst="rect">
            <a:avLst/>
          </a:prstGeom>
          <a:noFill/>
          <a:ln w="9525">
            <a:noFill/>
          </a:ln>
        </p:spPr>
      </p:pic>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36" name="Slide Number Placeholder 5"/>
          <p:cNvSpPr>
            <a:spLocks noGrp="1"/>
          </p:cNvSpPr>
          <p:nvPr>
            <p:ph type="sldNum" sz="quarter" idx="4"/>
          </p:nvPr>
        </p:nvSpPr>
        <p:spPr>
          <a:xfrm>
            <a:off x="423863" y="4529138"/>
            <a:ext cx="584200"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3077"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pic>
        <p:nvPicPr>
          <p:cNvPr id="3078" name="Picture 34"/>
          <p:cNvPicPr>
            <a:picLocks noChangeAspect="1"/>
          </p:cNvPicPr>
          <p:nvPr userDrawn="1"/>
        </p:nvPicPr>
        <p:blipFill>
          <a:blip r:embed="rId2"/>
          <a:stretch>
            <a:fillRect/>
          </a:stretch>
        </p:blipFill>
        <p:spPr>
          <a:xfrm>
            <a:off x="7467600" y="125413"/>
            <a:ext cx="1416050" cy="454025"/>
          </a:xfrm>
          <a:prstGeom prst="rect">
            <a:avLst/>
          </a:prstGeom>
          <a:noFill/>
          <a:ln w="9525">
            <a:noFill/>
          </a:ln>
        </p:spPr>
      </p:pic>
      <p:sp>
        <p:nvSpPr>
          <p:cNvPr id="2" name="Title 1"/>
          <p:cNvSpPr>
            <a:spLocks noGrp="1"/>
          </p:cNvSpPr>
          <p:nvPr>
            <p:ph type="title"/>
          </p:nvPr>
        </p:nvSpPr>
        <p:spPr>
          <a:xfrm>
            <a:off x="1945201" y="624110"/>
            <a:ext cx="6589199" cy="1280890"/>
          </a:xfrm>
        </p:spPr>
        <p:txBody>
          <a:bodyPr/>
          <a:lstStyle/>
          <a:p>
            <a:r>
              <a:rPr lang="en-US" dirty="0"/>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6" name="Date Placeholder 3"/>
          <p:cNvSpPr>
            <a:spLocks noGrp="1"/>
          </p:cNvSpPr>
          <p:nvPr>
            <p:ph type="dt" sz="half" idx="2"/>
          </p:nvPr>
        </p:nvSpPr>
        <p:spPr>
          <a:xfrm>
            <a:off x="1943100" y="6103938"/>
            <a:ext cx="9525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A4BF0F24-9822-4852-94C5-14FFDA0157E7}"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7" name="Footer Placeholder 4"/>
          <p:cNvSpPr>
            <a:spLocks noGrp="1"/>
          </p:cNvSpPr>
          <p:nvPr>
            <p:ph type="ftr" sz="quarter" idx="3"/>
          </p:nvPr>
        </p:nvSpPr>
        <p:spPr>
          <a:xfrm>
            <a:off x="2895600" y="6103938"/>
            <a:ext cx="48768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8" name="Slide Number Placeholder 5"/>
          <p:cNvSpPr>
            <a:spLocks noGrp="1"/>
          </p:cNvSpPr>
          <p:nvPr>
            <p:ph type="sldNum" sz="quarter" idx="4"/>
          </p:nvPr>
        </p:nvSpPr>
        <p:spPr>
          <a:xfrm>
            <a:off x="7948613" y="6140450"/>
            <a:ext cx="776288" cy="365125"/>
          </a:xfrm>
          <a:prstGeom prst="rect">
            <a:avLst/>
          </a:prstGeom>
        </p:spPr>
        <p:txBody>
          <a:bodyPr vert="horz" wrap="square" lIns="91440" tIns="45720" rIns="91440" bIns="45720" numCol="1" rtlCol="0" anchor="ctr" anchorCtr="0" compatLnSpc="1"/>
          <a:lstStyle>
            <a:lvl1pPr algn="ctr" fontAlgn="auto">
              <a:spcBef>
                <a:spcPts val="0"/>
              </a:spcBef>
              <a:spcAft>
                <a:spcPts val="0"/>
              </a:spcAft>
              <a:defRPr lang="en-IN" sz="900" kern="1200">
                <a:solidFill>
                  <a:schemeClr val="tx1">
                    <a:tint val="75000"/>
                  </a:schemeClr>
                </a:solidFill>
                <a:latin typeface="+mn-lt"/>
                <a:ea typeface="+mn-ea"/>
                <a:cs typeface="+mn-cs"/>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4101" name="Freeform 11"/>
          <p:cNvSpPr/>
          <p:nvPr/>
        </p:nvSpPr>
        <p:spPr>
          <a:xfrm flipV="1">
            <a:off x="0" y="3167063"/>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4103" name="Picture 35"/>
          <p:cNvPicPr>
            <a:picLocks noChangeAspect="1"/>
          </p:cNvPicPr>
          <p:nvPr userDrawn="1"/>
        </p:nvPicPr>
        <p:blipFill>
          <a:blip r:embed="rId2"/>
          <a:stretch>
            <a:fillRect/>
          </a:stretch>
        </p:blipFill>
        <p:spPr>
          <a:xfrm>
            <a:off x="7467600" y="304800"/>
            <a:ext cx="1416050" cy="454025"/>
          </a:xfrm>
          <a:prstGeom prst="rect">
            <a:avLst/>
          </a:prstGeom>
          <a:noFill/>
          <a:ln w="9525">
            <a:noFill/>
          </a:ln>
        </p:spPr>
      </p:pic>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37" name="Date Placeholder 3"/>
          <p:cNvSpPr>
            <a:spLocks noGrp="1"/>
          </p:cNvSpPr>
          <p:nvPr>
            <p:ph type="dt" sz="half" idx="2"/>
          </p:nvPr>
        </p:nvSpPr>
        <p:spPr>
          <a:xfrm>
            <a:off x="1908175" y="6129338"/>
            <a:ext cx="766763"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C51EFF6-FB9F-4E88-846D-A0E2569634EA}"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8" name="Footer Placeholder 4"/>
          <p:cNvSpPr>
            <a:spLocks noGrp="1"/>
          </p:cNvSpPr>
          <p:nvPr>
            <p:ph type="ftr" sz="quarter" idx="3"/>
          </p:nvPr>
        </p:nvSpPr>
        <p:spPr>
          <a:xfrm>
            <a:off x="2674938" y="6129338"/>
            <a:ext cx="5173663"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9" name="Slide Number Placeholder 5"/>
          <p:cNvSpPr>
            <a:spLocks noGrp="1"/>
          </p:cNvSpPr>
          <p:nvPr>
            <p:ph type="sldNum" sz="quarter" idx="4"/>
          </p:nvPr>
        </p:nvSpPr>
        <p:spPr>
          <a:xfrm>
            <a:off x="511175" y="3244850"/>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5125"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5127" name="Picture 35"/>
          <p:cNvPicPr>
            <a:picLocks noChangeAspect="1"/>
          </p:cNvPicPr>
          <p:nvPr userDrawn="1"/>
        </p:nvPicPr>
        <p:blipFill>
          <a:blip r:embed="rId2"/>
          <a:stretch>
            <a:fillRect/>
          </a:stretch>
        </p:blipFill>
        <p:spPr>
          <a:xfrm>
            <a:off x="7627938" y="125413"/>
            <a:ext cx="1416050" cy="454025"/>
          </a:xfrm>
          <a:prstGeom prst="rect">
            <a:avLst/>
          </a:prstGeom>
          <a:noFill/>
          <a:ln w="9525">
            <a:noFill/>
          </a:ln>
        </p:spPr>
      </p:pic>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7" name="Date Placeholder 1"/>
          <p:cNvSpPr>
            <a:spLocks noGrp="1"/>
          </p:cNvSpPr>
          <p:nvPr>
            <p:ph type="dt" sz="half" idx="12"/>
          </p:nvPr>
        </p:nvSpPr>
        <p:spPr>
          <a:xfrm>
            <a:off x="1828800" y="6111875"/>
            <a:ext cx="766763"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97B91C6-A360-4486-920B-07236A69ECA6}"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8" name="Footer Placeholder 13"/>
          <p:cNvSpPr>
            <a:spLocks noGrp="1"/>
          </p:cNvSpPr>
          <p:nvPr>
            <p:ph type="ftr" sz="quarter" idx="3"/>
          </p:nvPr>
        </p:nvSpPr>
        <p:spPr>
          <a:xfrm>
            <a:off x="2595563" y="6135688"/>
            <a:ext cx="5064125" cy="365125"/>
          </a:xfrm>
          <a:prstGeom prst="rect">
            <a:avLst/>
          </a:prstGeom>
        </p:spPr>
        <p:txBody>
          <a:bodyPr vert="horz" lIns="91440" tIns="45720" rIns="91440" bIns="45720" rtlCol="0" anchor="ctr"/>
          <a:lstStyle>
            <a:lvl1pPr>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9" name="Slide Number Placeholder 14"/>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6149"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6151" name="Picture 35"/>
          <p:cNvPicPr>
            <a:picLocks noChangeAspect="1"/>
          </p:cNvPicPr>
          <p:nvPr userDrawn="1"/>
        </p:nvPicPr>
        <p:blipFill>
          <a:blip r:embed="rId2"/>
          <a:stretch>
            <a:fillRect/>
          </a:stretch>
        </p:blipFill>
        <p:spPr>
          <a:xfrm>
            <a:off x="7467600" y="304800"/>
            <a:ext cx="1416050" cy="454025"/>
          </a:xfrm>
          <a:prstGeom prst="rect">
            <a:avLst/>
          </a:prstGeom>
          <a:noFill/>
          <a:ln w="9525">
            <a:noFill/>
          </a:ln>
        </p:spPr>
      </p:pic>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7" name="Slide Number Placeholder 5"/>
          <p:cNvSpPr>
            <a:spLocks noGrp="1"/>
          </p:cNvSpPr>
          <p:nvPr>
            <p:ph type="sldNum" sz="quarter" idx="14"/>
          </p:nvPr>
        </p:nvSpPr>
        <p:spPr>
          <a:xfrm>
            <a:off x="511175" y="787400"/>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38" name="Date Placeholder 1"/>
          <p:cNvSpPr>
            <a:spLocks noGrp="1"/>
          </p:cNvSpPr>
          <p:nvPr>
            <p:ph type="dt" sz="half" idx="12"/>
          </p:nvPr>
        </p:nvSpPr>
        <p:spPr>
          <a:xfrm>
            <a:off x="1943100" y="6156325"/>
            <a:ext cx="8763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4EE97578-B622-4EDE-ADB7-90441716F8A5}"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9" name="Footer Placeholder 2"/>
          <p:cNvSpPr>
            <a:spLocks noGrp="1"/>
          </p:cNvSpPr>
          <p:nvPr>
            <p:ph type="ftr" sz="quarter" idx="13"/>
          </p:nvPr>
        </p:nvSpPr>
        <p:spPr>
          <a:xfrm>
            <a:off x="2819400" y="6156325"/>
            <a:ext cx="48768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7173"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pic>
        <p:nvPicPr>
          <p:cNvPr id="7174" name="Picture 34"/>
          <p:cNvPicPr>
            <a:picLocks noChangeAspect="1"/>
          </p:cNvPicPr>
          <p:nvPr userDrawn="1"/>
        </p:nvPicPr>
        <p:blipFill>
          <a:blip r:embed="rId2"/>
          <a:stretch>
            <a:fillRect/>
          </a:stretch>
        </p:blipFill>
        <p:spPr>
          <a:xfrm>
            <a:off x="7378700" y="165100"/>
            <a:ext cx="1416050" cy="454025"/>
          </a:xfrm>
          <a:prstGeom prst="rect">
            <a:avLst/>
          </a:prstGeom>
          <a:noFill/>
          <a:ln w="9525">
            <a:noFill/>
          </a:ln>
        </p:spPr>
      </p:pic>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6" name="Date Placeholder 1"/>
          <p:cNvSpPr>
            <a:spLocks noGrp="1"/>
          </p:cNvSpPr>
          <p:nvPr>
            <p:ph type="dt" sz="half" idx="2"/>
          </p:nvPr>
        </p:nvSpPr>
        <p:spPr>
          <a:xfrm>
            <a:off x="1943100" y="6156325"/>
            <a:ext cx="8763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C9B03FA8-0D1D-4DBD-91FA-34D589472BD8}"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7" name="Footer Placeholder 2"/>
          <p:cNvSpPr>
            <a:spLocks noGrp="1"/>
          </p:cNvSpPr>
          <p:nvPr>
            <p:ph type="ftr" sz="quarter" idx="3"/>
          </p:nvPr>
        </p:nvSpPr>
        <p:spPr>
          <a:xfrm>
            <a:off x="2819400" y="6156325"/>
            <a:ext cx="48768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8" name="Slide Number Placeholder 5"/>
          <p:cNvSpPr>
            <a:spLocks noGrp="1"/>
          </p:cNvSpPr>
          <p:nvPr>
            <p:ph type="sldNum" sz="quarter" idx="4"/>
          </p:nvPr>
        </p:nvSpPr>
        <p:spPr>
          <a:xfrm>
            <a:off x="7948613" y="6140450"/>
            <a:ext cx="776288" cy="365125"/>
          </a:xfrm>
          <a:prstGeom prst="rect">
            <a:avLst/>
          </a:prstGeom>
        </p:spPr>
        <p:txBody>
          <a:bodyPr vert="horz" wrap="square" lIns="91440" tIns="45720" rIns="91440" bIns="45720" numCol="1" rtlCol="0" anchor="ctr" anchorCtr="0" compatLnSpc="1"/>
          <a:lstStyle>
            <a:lvl1pPr algn="ctr" fontAlgn="auto">
              <a:spcBef>
                <a:spcPts val="0"/>
              </a:spcBef>
              <a:spcAft>
                <a:spcPts val="0"/>
              </a:spcAft>
              <a:defRPr lang="en-IN" sz="900" kern="1200">
                <a:solidFill>
                  <a:schemeClr val="tx1">
                    <a:tint val="75000"/>
                  </a:schemeClr>
                </a:solidFill>
                <a:latin typeface="+mn-lt"/>
                <a:ea typeface="+mn-ea"/>
                <a:cs typeface="+mn-cs"/>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8197"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8199" name="Picture 35"/>
          <p:cNvPicPr>
            <a:picLocks noChangeAspect="1"/>
          </p:cNvPicPr>
          <p:nvPr userDrawn="1"/>
        </p:nvPicPr>
        <p:blipFill>
          <a:blip r:embed="rId2"/>
          <a:stretch>
            <a:fillRect/>
          </a:stretch>
        </p:blipFill>
        <p:spPr>
          <a:xfrm>
            <a:off x="7467600" y="304800"/>
            <a:ext cx="1416050" cy="454025"/>
          </a:xfrm>
          <a:prstGeom prst="rect">
            <a:avLst/>
          </a:prstGeom>
          <a:noFill/>
          <a:ln w="9525">
            <a:noFill/>
          </a:ln>
        </p:spPr>
      </p:pic>
      <p:sp>
        <p:nvSpPr>
          <p:cNvPr id="37" name="Date Placeholder 1"/>
          <p:cNvSpPr>
            <a:spLocks noGrp="1"/>
          </p:cNvSpPr>
          <p:nvPr>
            <p:ph type="dt" sz="half" idx="2"/>
          </p:nvPr>
        </p:nvSpPr>
        <p:spPr>
          <a:xfrm>
            <a:off x="1943100" y="6156325"/>
            <a:ext cx="8763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96EC54A-439F-4F7D-B89E-D2B4329EC00F}"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8" name="Footer Placeholder 2"/>
          <p:cNvSpPr>
            <a:spLocks noGrp="1"/>
          </p:cNvSpPr>
          <p:nvPr>
            <p:ph type="ftr" sz="quarter" idx="3"/>
          </p:nvPr>
        </p:nvSpPr>
        <p:spPr>
          <a:xfrm>
            <a:off x="2819400" y="6156325"/>
            <a:ext cx="50292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9" name="Slide Number Placeholder 3"/>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9221"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Slide Number Placeholder 5"/>
          <p:cNvSpPr txBox="1"/>
          <p:nvPr/>
        </p:nvSpPr>
        <p:spPr>
          <a:xfrm>
            <a:off x="7948613" y="6140450"/>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12</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9223" name="Picture 35"/>
          <p:cNvPicPr>
            <a:picLocks noChangeAspect="1"/>
          </p:cNvPicPr>
          <p:nvPr userDrawn="1"/>
        </p:nvPicPr>
        <p:blipFill>
          <a:blip r:embed="rId2"/>
          <a:stretch>
            <a:fillRect/>
          </a:stretch>
        </p:blipFill>
        <p:spPr>
          <a:xfrm>
            <a:off x="7627938" y="58738"/>
            <a:ext cx="1416050" cy="455612"/>
          </a:xfrm>
          <a:prstGeom prst="rect">
            <a:avLst/>
          </a:prstGeom>
          <a:noFill/>
          <a:ln w="9525">
            <a:noFill/>
          </a:ln>
        </p:spPr>
      </p:pic>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7" name="Slide Number Placeholder 6"/>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38" name="Date Placeholder 1"/>
          <p:cNvSpPr>
            <a:spLocks noGrp="1"/>
          </p:cNvSpPr>
          <p:nvPr>
            <p:ph type="dt" sz="half" idx="12"/>
          </p:nvPr>
        </p:nvSpPr>
        <p:spPr>
          <a:xfrm>
            <a:off x="1943100" y="6156325"/>
            <a:ext cx="876300" cy="369888"/>
          </a:xfrm>
          <a:prstGeom prst="rect">
            <a:avLst/>
          </a:prstGeom>
        </p:spPr>
        <p:txBody>
          <a:bodyPr vert="horz"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290FA49-AE4E-4E10-8D9A-5AFC2F58E9D8}"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Footer Placeholder 2"/>
          <p:cNvSpPr>
            <a:spLocks noGrp="1"/>
          </p:cNvSpPr>
          <p:nvPr>
            <p:ph type="ftr" sz="quarter" idx="3"/>
          </p:nvPr>
        </p:nvSpPr>
        <p:spPr>
          <a:xfrm>
            <a:off x="2819400" y="6156325"/>
            <a:ext cx="5029200" cy="365125"/>
          </a:xfrm>
          <a:prstGeom prst="rect">
            <a:avLst/>
          </a:prstGeom>
        </p:spPr>
        <p:txBody>
          <a:bodyPr vert="horz"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0245" name="Freeform 11"/>
          <p:cNvSpPr/>
          <p:nvPr/>
        </p:nvSpPr>
        <p:spPr>
          <a:xfrm flipV="1">
            <a:off x="0" y="4910138"/>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vert="horz" wrap="square" lIns="91440" tIns="45720" rIns="91440" bIns="45720" numCol="1" rtlCol="0" anchor="t" anchorCtr="0" compatLnSpc="1">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marR="0" lvl="0" indent="0" algn="ctr" defTabSz="457200" rtl="0" eaLnBrk="0" fontAlgn="base" latinLnBrk="0" hangingPunct="0">
              <a:lnSpc>
                <a:spcPct val="100000"/>
              </a:lnSpc>
              <a:spcBef>
                <a:spcPts val="1000"/>
              </a:spcBef>
              <a:spcAft>
                <a:spcPct val="0"/>
              </a:spcAft>
              <a:buClr>
                <a:schemeClr val="accent1"/>
              </a:buClr>
              <a:buSzTx/>
              <a:buFont typeface="Wingdings 3" panose="05040102010807070707" pitchFamily="18" charset="2"/>
              <a:buNone/>
              <a:defRPr/>
            </a:pPr>
            <a:r>
              <a:rPr kumimoji="0" lang="en-US" sz="1600" b="0" i="0" u="none" strike="noStrike" kern="1200" cap="none" spc="0" normalizeH="0" baseline="0" noProof="0">
                <a:ln>
                  <a:noFill/>
                </a:ln>
                <a:solidFill>
                  <a:srgbClr val="404040"/>
                </a:solidFill>
                <a:effectLst/>
                <a:uLnTx/>
                <a:uFillTx/>
                <a:latin typeface="+mn-lt"/>
                <a:ea typeface="+mn-ea"/>
                <a:cs typeface="+mn-cs"/>
              </a:rPr>
              <a:t>Click icon to add picture</a:t>
            </a:r>
            <a:endParaRPr kumimoji="0" lang="en-US" sz="1600" b="0" i="0" u="none" strike="noStrike" kern="1200" cap="none" spc="0" normalizeH="0" baseline="0" noProof="0" dirty="0">
              <a:ln>
                <a:noFill/>
              </a:ln>
              <a:solidFill>
                <a:srgbClr val="404040"/>
              </a:solidFill>
              <a:effectLst/>
              <a:uLnTx/>
              <a:uFillTx/>
              <a:latin typeface="+mn-lt"/>
              <a:ea typeface="+mn-ea"/>
              <a:cs typeface="+mn-cs"/>
            </a:endParaRPr>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38" name="Slide Number Placeholder 6"/>
          <p:cNvSpPr>
            <a:spLocks noGrp="1"/>
          </p:cNvSpPr>
          <p:nvPr>
            <p:ph type="sldNum" sz="quarter" idx="4"/>
          </p:nvPr>
        </p:nvSpPr>
        <p:spPr>
          <a:xfrm>
            <a:off x="511175" y="4983163"/>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5" name="Date Placeholder 4"/>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1269" name="Freeform 11"/>
          <p:cNvSpPr/>
          <p:nvPr/>
        </p:nvSpPr>
        <p:spPr>
          <a:xfrm flipV="1">
            <a:off x="0" y="3167063"/>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11273" name="Picture 37"/>
          <p:cNvPicPr>
            <a:picLocks noChangeAspect="1"/>
          </p:cNvPicPr>
          <p:nvPr userDrawn="1"/>
        </p:nvPicPr>
        <p:blipFill>
          <a:blip r:embed="rId2"/>
          <a:stretch>
            <a:fillRect/>
          </a:stretch>
        </p:blipFill>
        <p:spPr>
          <a:xfrm>
            <a:off x="7315200" y="38100"/>
            <a:ext cx="1416050" cy="454025"/>
          </a:xfrm>
          <a:prstGeom prst="rect">
            <a:avLst/>
          </a:prstGeom>
          <a:noFill/>
          <a:ln w="9525">
            <a:noFill/>
          </a:ln>
        </p:spPr>
      </p:pic>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39" name="Slide Number Placeholder 5"/>
          <p:cNvSpPr>
            <a:spLocks noGrp="1"/>
          </p:cNvSpPr>
          <p:nvPr>
            <p:ph type="sldNum" sz="quarter" idx="4"/>
          </p:nvPr>
        </p:nvSpPr>
        <p:spPr>
          <a:xfrm>
            <a:off x="511175" y="3244850"/>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2293" name="Freeform 11"/>
          <p:cNvSpPr/>
          <p:nvPr/>
        </p:nvSpPr>
        <p:spPr>
          <a:xfrm flipV="1">
            <a:off x="0" y="3167063"/>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TextBox 34"/>
          <p:cNvSpPr txBox="1">
            <a:spLocks noChangeArrowheads="1"/>
          </p:cNvSpPr>
          <p:nvPr/>
        </p:nvSpPr>
        <p:spPr bwMode="auto">
          <a:xfrm>
            <a:off x="1808163" y="647700"/>
            <a:ext cx="457200" cy="585788"/>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rPr>
              <a:t>“</a:t>
            </a:r>
            <a:endPar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endParaRPr>
          </a:p>
        </p:txBody>
      </p:sp>
      <p:sp>
        <p:nvSpPr>
          <p:cNvPr id="36" name="TextBox 62"/>
          <p:cNvSpPr txBox="1">
            <a:spLocks noChangeArrowheads="1"/>
          </p:cNvSpPr>
          <p:nvPr/>
        </p:nvSpPr>
        <p:spPr bwMode="auto">
          <a:xfrm>
            <a:off x="8169275" y="2905125"/>
            <a:ext cx="457200" cy="584200"/>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rPr>
              <a:t>”</a:t>
            </a:r>
            <a:endPar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endParaRPr>
          </a:p>
        </p:txBody>
      </p:sp>
      <p:sp>
        <p:nvSpPr>
          <p:cNvPr id="37"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8"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12299" name="Picture 39"/>
          <p:cNvPicPr>
            <a:picLocks noChangeAspect="1"/>
          </p:cNvPicPr>
          <p:nvPr userDrawn="1"/>
        </p:nvPicPr>
        <p:blipFill>
          <a:blip r:embed="rId2"/>
          <a:stretch>
            <a:fillRect/>
          </a:stretch>
        </p:blipFill>
        <p:spPr>
          <a:xfrm>
            <a:off x="7315200" y="38100"/>
            <a:ext cx="1416050" cy="454025"/>
          </a:xfrm>
          <a:prstGeom prst="rect">
            <a:avLst/>
          </a:prstGeom>
          <a:noFill/>
          <a:ln w="9525">
            <a:noFill/>
          </a:ln>
        </p:spPr>
      </p:pic>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1" name="Slide Number Placeholder 5"/>
          <p:cNvSpPr>
            <a:spLocks noGrp="1"/>
          </p:cNvSpPr>
          <p:nvPr>
            <p:ph type="sldNum" sz="quarter" idx="4"/>
          </p:nvPr>
        </p:nvSpPr>
        <p:spPr>
          <a:xfrm>
            <a:off x="511175" y="3244850"/>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4" name="Date Placeholder 3"/>
          <p:cNvSpPr>
            <a:spLocks noGrp="1"/>
          </p:cNvSpPr>
          <p:nvPr>
            <p:ph type="dt" sz="half" idx="14"/>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3317" name="Freeform 11"/>
          <p:cNvSpPr/>
          <p:nvPr/>
        </p:nvSpPr>
        <p:spPr>
          <a:xfrm flipV="1">
            <a:off x="0" y="4910138"/>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a:t>Click to edit Master text styles</a:t>
            </a:r>
            <a:endParaRPr lang="en-US"/>
          </a:p>
        </p:txBody>
      </p:sp>
      <p:sp>
        <p:nvSpPr>
          <p:cNvPr id="35" name="Slide Number Placeholder 6"/>
          <p:cNvSpPr>
            <a:spLocks noGrp="1"/>
          </p:cNvSpPr>
          <p:nvPr>
            <p:ph type="sldNum" sz="quarter" idx="4"/>
          </p:nvPr>
        </p:nvSpPr>
        <p:spPr>
          <a:xfrm>
            <a:off x="511175" y="4983163"/>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3" name="Date Placeholder 2"/>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4341" name="Freeform 11"/>
          <p:cNvSpPr/>
          <p:nvPr/>
        </p:nvSpPr>
        <p:spPr>
          <a:xfrm flipV="1">
            <a:off x="0" y="4910138"/>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TextBox 34"/>
          <p:cNvSpPr txBox="1">
            <a:spLocks noChangeArrowheads="1"/>
          </p:cNvSpPr>
          <p:nvPr/>
        </p:nvSpPr>
        <p:spPr bwMode="auto">
          <a:xfrm>
            <a:off x="1808163" y="647700"/>
            <a:ext cx="457200" cy="585788"/>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rPr>
              <a:t>“</a:t>
            </a:r>
            <a:endPar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endParaRPr>
          </a:p>
        </p:txBody>
      </p:sp>
      <p:sp>
        <p:nvSpPr>
          <p:cNvPr id="36" name="TextBox 62"/>
          <p:cNvSpPr txBox="1">
            <a:spLocks noChangeArrowheads="1"/>
          </p:cNvSpPr>
          <p:nvPr/>
        </p:nvSpPr>
        <p:spPr bwMode="auto">
          <a:xfrm>
            <a:off x="8169275" y="2905125"/>
            <a:ext cx="457200" cy="584200"/>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marL="0" marR="0" lvl="0" indent="0" algn="l" defTabSz="457200" rtl="0" eaLnBrk="1" fontAlgn="base" latinLnBrk="0" hangingPunct="1">
              <a:lnSpc>
                <a:spcPct val="100000"/>
              </a:lnSpc>
              <a:spcBef>
                <a:spcPct val="0"/>
              </a:spcBef>
              <a:spcAft>
                <a:spcPct val="0"/>
              </a:spcAft>
              <a:buClrTx/>
              <a:buSzTx/>
              <a:buFontTx/>
              <a:buNone/>
              <a:defRPr/>
            </a:pPr>
            <a:r>
              <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rPr>
              <a:t>”</a:t>
            </a:r>
            <a:endParaRPr kumimoji="0" lang="en-US" altLang="en-US" sz="8000" b="0" i="0" u="none" strike="noStrike" kern="1200" cap="none" spc="0" normalizeH="0" baseline="0" noProof="0">
              <a:ln>
                <a:noFill/>
              </a:ln>
              <a:solidFill>
                <a:schemeClr val="accent1"/>
              </a:solidFill>
              <a:effectLst/>
              <a:uLnTx/>
              <a:uFillTx/>
              <a:latin typeface="Arial" panose="020B0604020202020204" pitchFamily="34" charset="0"/>
              <a:ea typeface="+mn-ea"/>
              <a:cs typeface="+mn-cs"/>
            </a:endParaRPr>
          </a:p>
        </p:txBody>
      </p:sp>
      <p:sp>
        <p:nvSpPr>
          <p:cNvPr id="37"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8"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9"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1942415" y="5181600"/>
            <a:ext cx="6688292" cy="729622"/>
          </a:xfrm>
        </p:spPr>
        <p:txBody>
          <a:bodyPr rtlCol="0">
            <a:normAutofit/>
          </a:bodyPr>
          <a:lstStyle>
            <a:lvl1pPr>
              <a:buNone/>
              <a:defRPr lang="en-US">
                <a:solidFill>
                  <a:schemeClr val="tx1">
                    <a:lumMod val="65000"/>
                    <a:lumOff val="35000"/>
                  </a:schemeClr>
                </a:solidFill>
              </a:defRPr>
            </a:lvl1pPr>
          </a:lstStyle>
          <a:p>
            <a:pPr lvl="0"/>
            <a:r>
              <a:rPr lang="en-US"/>
              <a:t>Click to edit Master text styles</a:t>
            </a:r>
            <a:endParaRPr lang="en-US"/>
          </a:p>
        </p:txBody>
      </p:sp>
      <p:sp>
        <p:nvSpPr>
          <p:cNvPr id="40" name="Slide Number Placeholder 6"/>
          <p:cNvSpPr>
            <a:spLocks noGrp="1"/>
          </p:cNvSpPr>
          <p:nvPr>
            <p:ph type="sldNum" sz="quarter" idx="4"/>
          </p:nvPr>
        </p:nvSpPr>
        <p:spPr>
          <a:xfrm>
            <a:off x="511175" y="4983163"/>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2" name="Date Placeholder 1"/>
          <p:cNvSpPr>
            <a:spLocks noGrp="1"/>
          </p:cNvSpPr>
          <p:nvPr>
            <p:ph type="dt" sz="half" idx="14"/>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5"/>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5365" name="Freeform 11"/>
          <p:cNvSpPr/>
          <p:nvPr/>
        </p:nvSpPr>
        <p:spPr>
          <a:xfrm flipV="1">
            <a:off x="0" y="4910138"/>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a:t>Click to edit Master text styles</a:t>
            </a:r>
            <a:endParaRPr lang="en-US"/>
          </a:p>
        </p:txBody>
      </p:sp>
      <p:sp>
        <p:nvSpPr>
          <p:cNvPr id="38" name="Slide Number Placeholder 6"/>
          <p:cNvSpPr>
            <a:spLocks noGrp="1"/>
          </p:cNvSpPr>
          <p:nvPr>
            <p:ph type="sldNum" sz="quarter" idx="4"/>
          </p:nvPr>
        </p:nvSpPr>
        <p:spPr>
          <a:xfrm>
            <a:off x="511175" y="4983163"/>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3" name="Date Placeholder 2"/>
          <p:cNvSpPr>
            <a:spLocks noGrp="1"/>
          </p:cNvSpPr>
          <p:nvPr>
            <p:ph type="dt" sz="half" idx="14"/>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5"/>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6389"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8" name="Slide Number Placeholder 5"/>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gradFill rotWithShape="1">
          <a:gsLst>
            <a:gs pos="0">
              <a:srgbClr val="FFFFFF"/>
            </a:gs>
            <a:gs pos="100000">
              <a:srgbClr val="C5DEE5"/>
            </a:gs>
          </a:gsLst>
          <a:lin ang="5400000"/>
          <a:tileRect/>
        </a:gradFill>
        <a:effectLst/>
      </p:bgPr>
    </p:bg>
    <p:spTree>
      <p:nvGrpSpPr>
        <p:cNvPr id="1" name=""/>
        <p:cNvGrpSpPr/>
        <p:nvPr/>
      </p:nvGrpSpPr>
      <p:grpSpPr>
        <a:xfrm>
          <a:off x="0" y="0"/>
          <a:ext cx="0" cy="0"/>
          <a:chOff x="0" y="0"/>
          <a:chExt cx="0" cy="0"/>
        </a:xfrm>
      </p:grpSpPr>
      <p:sp>
        <p:nvSpPr>
          <p:cNvPr id="17413" name="Freeform 11"/>
          <p:cNvSpPr/>
          <p:nvPr/>
        </p:nvSpPr>
        <p:spPr>
          <a:xfrm flipV="1">
            <a:off x="0" y="711200"/>
            <a:ext cx="1358900" cy="508000"/>
          </a:xfrm>
          <a:custGeom>
            <a:avLst/>
            <a:gdLst/>
            <a:ahLst/>
            <a:cxnLst>
              <a:cxn ang="0">
                <a:pos x="2147483647" y="2147483647"/>
              </a:cxn>
              <a:cxn ang="0">
                <a:pos x="2147483647" y="2147483647"/>
              </a:cxn>
              <a:cxn ang="0">
                <a:pos x="2147483647" y="2147483647"/>
              </a:cxn>
              <a:cxn ang="0">
                <a:pos x="2147483647" y="0"/>
              </a:cxn>
              <a:cxn ang="0">
                <a:pos x="2147483647" y="0"/>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alpha val="100000"/>
            </a:schemeClr>
          </a:solidFill>
          <a:ln w="9525">
            <a:noFill/>
          </a:ln>
        </p:spPr>
        <p:txBody>
          <a:bodyPr/>
          <a:p>
            <a:endParaRPr lang="en-US"/>
          </a:p>
        </p:txBody>
      </p:sp>
      <p:sp>
        <p:nvSpPr>
          <p:cNvPr id="35" name="Date Placeholder 1"/>
          <p:cNvSpPr txBox="1"/>
          <p:nvPr/>
        </p:nvSpPr>
        <p:spPr>
          <a:xfrm>
            <a:off x="1949450" y="6188075"/>
            <a:ext cx="876300" cy="369888"/>
          </a:xfrm>
          <a:prstGeom prst="rect">
            <a:avLst/>
          </a:prstGeom>
        </p:spPr>
        <p:txBody>
          <a:bodyPr anchor="ctr"/>
          <a:lstStyle>
            <a:defPPr>
              <a:defRPr lang="en-US"/>
            </a:defPPr>
            <a:lvl1pPr algn="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4B7BC46C-3AC0-4BB2-A5DF-9CF601BEACAA}"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6" name="Footer Placeholder 2"/>
          <p:cNvSpPr txBox="1"/>
          <p:nvPr/>
        </p:nvSpPr>
        <p:spPr>
          <a:xfrm>
            <a:off x="2790825" y="6210300"/>
            <a:ext cx="5029200" cy="365125"/>
          </a:xfrm>
          <a:prstGeom prst="rect">
            <a:avLst/>
          </a:prstGeom>
        </p:spPr>
        <p:txBody>
          <a:bodyPr anchor="ctr"/>
          <a:lstStyle>
            <a:defPPr>
              <a:defRPr lang="en-US"/>
            </a:defPPr>
            <a:lvl1pPr algn="ctr" defTabSz="457200" rtl="0" eaLnBrk="1" fontAlgn="auto" hangingPunct="1">
              <a:spcBef>
                <a:spcPts val="0"/>
              </a:spcBef>
              <a:spcAft>
                <a:spcPts val="0"/>
              </a:spcAft>
              <a:defRPr sz="900" kern="120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37" name="Slide Number Placeholder 5"/>
          <p:cNvSpPr txBox="1"/>
          <p:nvPr/>
        </p:nvSpPr>
        <p:spPr>
          <a:xfrm>
            <a:off x="7954963" y="6091238"/>
            <a:ext cx="776288" cy="365125"/>
          </a:xfrm>
          <a:prstGeom prst="rect">
            <a:avLst/>
          </a:prstGeom>
        </p:spPr>
        <p:txBody>
          <a:bodyPr anchor="ctr"/>
          <a:lstStyle>
            <a:defPPr>
              <a:defRPr lang="en-US"/>
            </a:defPPr>
            <a:lvl1pPr algn="ctr" defTabSz="457200" rtl="0" eaLnBrk="1" fontAlgn="auto" hangingPunct="1">
              <a:spcBef>
                <a:spcPts val="0"/>
              </a:spcBef>
              <a:spcAft>
                <a:spcPts val="0"/>
              </a:spcAft>
              <a:defRPr lang="en-IN" sz="900" kern="1200" dirty="0" smtClean="0">
                <a:solidFill>
                  <a:schemeClr val="tx1">
                    <a:tint val="75000"/>
                  </a:schemeClr>
                </a:solidFill>
                <a:latin typeface="+mn-lt"/>
                <a:ea typeface="+mn-ea"/>
                <a:cs typeface="+mn-cs"/>
              </a:defRPr>
            </a:lvl1pPr>
            <a:lvl2pPr marL="4572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entury Gothic" panose="020B0502020202020204" pitchFamily="34" charset="0"/>
                <a:ea typeface="+mn-ea"/>
                <a:cs typeface="+mn-cs"/>
              </a:defRPr>
            </a:lvl5pPr>
            <a:lvl6pPr marL="2286000" algn="l" defTabSz="914400" rtl="0" eaLnBrk="1" latinLnBrk="0" hangingPunct="1">
              <a:defRPr kern="1200">
                <a:solidFill>
                  <a:schemeClr val="tx1"/>
                </a:solidFill>
                <a:latin typeface="Century Gothic" panose="020B0502020202020204" pitchFamily="34" charset="0"/>
                <a:ea typeface="+mn-ea"/>
                <a:cs typeface="+mn-cs"/>
              </a:defRPr>
            </a:lvl6pPr>
            <a:lvl7pPr marL="2743200" algn="l" defTabSz="914400" rtl="0" eaLnBrk="1" latinLnBrk="0" hangingPunct="1">
              <a:defRPr kern="1200">
                <a:solidFill>
                  <a:schemeClr val="tx1"/>
                </a:solidFill>
                <a:latin typeface="Century Gothic" panose="020B0502020202020204" pitchFamily="34" charset="0"/>
                <a:ea typeface="+mn-ea"/>
                <a:cs typeface="+mn-cs"/>
              </a:defRPr>
            </a:lvl7pPr>
            <a:lvl8pPr marL="3200400" algn="l" defTabSz="914400" rtl="0" eaLnBrk="1" latinLnBrk="0" hangingPunct="1">
              <a:defRPr kern="1200">
                <a:solidFill>
                  <a:schemeClr val="tx1"/>
                </a:solidFill>
                <a:latin typeface="Century Gothic" panose="020B0502020202020204" pitchFamily="34" charset="0"/>
                <a:ea typeface="+mn-ea"/>
                <a:cs typeface="+mn-cs"/>
              </a:defRPr>
            </a:lvl8pPr>
            <a:lvl9pPr marL="3657600" algn="l" defTabSz="914400" rtl="0" eaLnBrk="1" latinLnBrk="0" hangingPunct="1">
              <a:defRPr kern="1200">
                <a:solidFill>
                  <a:schemeClr val="tx1"/>
                </a:solidFill>
                <a:latin typeface="Century Gothic" panose="020B0502020202020204" pitchFamily="34" charset="0"/>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IN" sz="900" b="0" i="0" u="none" strike="noStrike" kern="1200" cap="none" spc="0" normalizeH="0" baseline="0" noProof="0">
                <a:ln>
                  <a:noFill/>
                </a:ln>
                <a:solidFill>
                  <a:schemeClr val="tx1">
                    <a:tint val="75000"/>
                  </a:schemeClr>
                </a:solidFill>
                <a:effectLst/>
                <a:uLnTx/>
                <a:uFillTx/>
                <a:latin typeface="+mn-lt"/>
                <a:ea typeface="+mn-ea"/>
                <a:cs typeface="+mn-cs"/>
              </a:rPr>
              <a:t># of ##</a:t>
            </a:r>
            <a:endParaRPr kumimoji="0" lang="en-IN"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8" name="Slide Number Placeholder 5"/>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p>
            <a:pPr algn="r" eaLnBrk="1" hangingPunct="1"/>
            <a:fld id="{9A0DB2DC-4C9A-4742-B13C-FB6460FD3503}" type="slidenum">
              <a:rPr lang="en-US" altLang="en-US" dirty="0"/>
            </a:fld>
            <a:endParaRPr lang="en-US" altLang="en-US" dirty="0"/>
          </a:p>
        </p:txBody>
      </p:sp>
      <p:sp>
        <p:nvSpPr>
          <p:cNvPr id="4" name="Date Placeholder 3"/>
          <p:cNvSpPr>
            <a:spLocks noGrp="1"/>
          </p:cNvSpPr>
          <p:nvPr>
            <p:ph type="dt" sz="half" idx="10"/>
          </p:nvPr>
        </p:nvSpPr>
        <p:spPr/>
        <p:txBody>
          <a:bodyPr/>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C5DEE5"/>
            </a:gs>
          </a:gsLst>
          <a:lin ang="5400000"/>
          <a:tileRect/>
        </a:gradFill>
        <a:effectLst/>
      </p:bgPr>
    </p:bg>
    <p:spTree>
      <p:nvGrpSpPr>
        <p:cNvPr id="1" name=""/>
        <p:cNvGrpSpPr/>
        <p:nvPr/>
      </p:nvGrpSpPr>
      <p:grpSpPr/>
      <p:grpSp>
        <p:nvGrpSpPr>
          <p:cNvPr id="1026" name="Group 35"/>
          <p:cNvGrpSpPr/>
          <p:nvPr/>
        </p:nvGrpSpPr>
        <p:grpSpPr>
          <a:xfrm>
            <a:off x="0" y="228600"/>
            <a:ext cx="1981200" cy="6638925"/>
            <a:chOff x="2487613" y="285750"/>
            <a:chExt cx="2428875" cy="5654676"/>
          </a:xfrm>
        </p:grpSpPr>
        <p:sp>
          <p:nvSpPr>
            <p:cNvPr id="1046" name="Freeform 11"/>
            <p:cNvSpPr/>
            <p:nvPr/>
          </p:nvSpPr>
          <p:spPr>
            <a:xfrm>
              <a:off x="2487613" y="2284413"/>
              <a:ext cx="85725" cy="533400"/>
            </a:xfrm>
            <a:custGeom>
              <a:avLst/>
              <a:gdLst/>
              <a:ahLst/>
              <a:cxnLst>
                <a:cxn ang="0">
                  <a:pos x="2147483647" y="2147483647"/>
                </a:cxn>
                <a:cxn ang="0">
                  <a:pos x="2147483647" y="2147483647"/>
                </a:cxn>
                <a:cxn ang="0">
                  <a:pos x="0" y="0"/>
                </a:cxn>
                <a:cxn ang="0">
                  <a:pos x="0" y="2147483647"/>
                </a:cxn>
                <a:cxn ang="0">
                  <a:pos x="2147483647" y="2147483647"/>
                </a:cxn>
                <a:cxn ang="0">
                  <a:pos x="2147483647" y="2147483647"/>
                </a:cxn>
              </a:cxnLst>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9525">
              <a:noFill/>
            </a:ln>
          </p:spPr>
          <p:txBody>
            <a:bodyPr/>
            <a:p>
              <a:endParaRPr lang="en-US"/>
            </a:p>
          </p:txBody>
        </p:sp>
        <p:sp>
          <p:nvSpPr>
            <p:cNvPr id="1047" name="Freeform 12"/>
            <p:cNvSpPr/>
            <p:nvPr/>
          </p:nvSpPr>
          <p:spPr>
            <a:xfrm>
              <a:off x="2597151" y="2779713"/>
              <a:ext cx="550863" cy="1978025"/>
            </a:xfrm>
            <a:custGeom>
              <a:avLst/>
              <a:gdLst/>
              <a:ahLst/>
              <a:cxnLst>
                <a:cxn ang="0">
                  <a:pos x="2147483647" y="2147483647"/>
                </a:cxn>
                <a:cxn ang="0">
                  <a:pos x="2147483647" y="2147483647"/>
                </a:cxn>
                <a:cxn ang="0">
                  <a:pos x="2147483647" y="2147483647"/>
                </a:cxn>
                <a:cxn ang="0">
                  <a:pos x="2147483647" y="2147483647"/>
                </a:cxn>
                <a:cxn ang="0">
                  <a:pos x="0" y="0"/>
                </a:cxn>
                <a:cxn ang="0">
                  <a:pos x="2147483647" y="2147483647"/>
                </a:cxn>
                <a:cxn ang="0">
                  <a:pos x="2147483647" y="2147483647"/>
                </a:cxn>
              </a:cxnLst>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9525">
              <a:noFill/>
            </a:ln>
          </p:spPr>
          <p:txBody>
            <a:bodyPr/>
            <a:p>
              <a:endParaRPr lang="en-US"/>
            </a:p>
          </p:txBody>
        </p:sp>
        <p:sp>
          <p:nvSpPr>
            <p:cNvPr id="1048" name="Freeform 13"/>
            <p:cNvSpPr/>
            <p:nvPr/>
          </p:nvSpPr>
          <p:spPr>
            <a:xfrm>
              <a:off x="3175001" y="4730750"/>
              <a:ext cx="519113" cy="1209675"/>
            </a:xfrm>
            <a:custGeom>
              <a:avLst/>
              <a:gdLst/>
              <a:ahLst/>
              <a:cxnLst>
                <a:cxn ang="0">
                  <a:pos x="2147483647" y="2147483647"/>
                </a:cxn>
                <a:cxn ang="0">
                  <a:pos x="0" y="0"/>
                </a:cxn>
                <a:cxn ang="0">
                  <a:pos x="0" y="2147483647"/>
                </a:cxn>
                <a:cxn ang="0">
                  <a:pos x="2147483647" y="2147483647"/>
                </a:cxn>
                <a:cxn ang="0">
                  <a:pos x="2147483647" y="2147483647"/>
                </a:cxn>
                <a:cxn ang="0">
                  <a:pos x="2147483647" y="2147483647"/>
                </a:cxn>
                <a:cxn ang="0">
                  <a:pos x="2147483647" y="2147483647"/>
                </a:cxn>
                <a:cxn ang="0">
                  <a:pos x="2147483647" y="2147483647"/>
                </a:cxn>
              </a:cxnLst>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9525">
              <a:noFill/>
            </a:ln>
          </p:spPr>
          <p:txBody>
            <a:bodyPr/>
            <a:p>
              <a:endParaRPr lang="en-US"/>
            </a:p>
          </p:txBody>
        </p:sp>
        <p:sp>
          <p:nvSpPr>
            <p:cNvPr id="1049" name="Freeform 14"/>
            <p:cNvSpPr/>
            <p:nvPr/>
          </p:nvSpPr>
          <p:spPr>
            <a:xfrm>
              <a:off x="3305176" y="5630863"/>
              <a:ext cx="146050" cy="309563"/>
            </a:xfrm>
            <a:custGeom>
              <a:avLst/>
              <a:gdLst/>
              <a:ahLst/>
              <a:cxnLst>
                <a:cxn ang="0">
                  <a:pos x="2147483647" y="2147483647"/>
                </a:cxn>
                <a:cxn ang="0">
                  <a:pos x="2147483647" y="2147483647"/>
                </a:cxn>
                <a:cxn ang="0">
                  <a:pos x="0" y="0"/>
                </a:cxn>
                <a:cxn ang="0">
                  <a:pos x="2147483647" y="2147483647"/>
                </a:cxn>
              </a:cxnLst>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9525">
              <a:noFill/>
            </a:ln>
          </p:spPr>
          <p:txBody>
            <a:bodyPr/>
            <a:p>
              <a:endParaRPr lang="en-US"/>
            </a:p>
          </p:txBody>
        </p:sp>
        <p:sp>
          <p:nvSpPr>
            <p:cNvPr id="1050" name="Freeform 15"/>
            <p:cNvSpPr/>
            <p:nvPr/>
          </p:nvSpPr>
          <p:spPr>
            <a:xfrm>
              <a:off x="2573338" y="2817813"/>
              <a:ext cx="700088" cy="2835275"/>
            </a:xfrm>
            <a:custGeom>
              <a:avLst/>
              <a:gdLst/>
              <a:ahLst/>
              <a:cxnLst>
                <a:cxn ang="0">
                  <a:pos x="2147483647" y="2147483647"/>
                </a:cxn>
                <a:cxn ang="0">
                  <a:pos x="2147483647" y="2147483647"/>
                </a:cxn>
                <a:cxn ang="0">
                  <a:pos x="2147483647" y="2147483647"/>
                </a:cxn>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9525">
              <a:noFill/>
            </a:ln>
          </p:spPr>
          <p:txBody>
            <a:bodyPr/>
            <a:p>
              <a:endParaRPr lang="en-US"/>
            </a:p>
          </p:txBody>
        </p:sp>
        <p:sp>
          <p:nvSpPr>
            <p:cNvPr id="1051" name="Freeform 16"/>
            <p:cNvSpPr/>
            <p:nvPr/>
          </p:nvSpPr>
          <p:spPr>
            <a:xfrm>
              <a:off x="2506663" y="285750"/>
              <a:ext cx="90488" cy="2493963"/>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Lst>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9525">
              <a:noFill/>
            </a:ln>
          </p:spPr>
          <p:txBody>
            <a:bodyPr/>
            <a:p>
              <a:endParaRPr lang="en-US"/>
            </a:p>
          </p:txBody>
        </p:sp>
        <p:sp>
          <p:nvSpPr>
            <p:cNvPr id="1052" name="Freeform 17"/>
            <p:cNvSpPr/>
            <p:nvPr/>
          </p:nvSpPr>
          <p:spPr>
            <a:xfrm>
              <a:off x="2554288" y="2598738"/>
              <a:ext cx="66675" cy="420688"/>
            </a:xfrm>
            <a:custGeom>
              <a:avLst/>
              <a:gdLst/>
              <a:ahLst/>
              <a:cxnLst>
                <a:cxn ang="0">
                  <a:pos x="0" y="0"/>
                </a:cxn>
                <a:cxn ang="0">
                  <a:pos x="2147483647" y="2147483647"/>
                </a:cxn>
                <a:cxn ang="0">
                  <a:pos x="2147483647" y="2147483647"/>
                </a:cxn>
                <a:cxn ang="0">
                  <a:pos x="2147483647" y="2147483647"/>
                </a:cxn>
                <a:cxn ang="0">
                  <a:pos x="2147483647" y="2147483647"/>
                </a:cxn>
                <a:cxn ang="0">
                  <a:pos x="0" y="0"/>
                </a:cxn>
              </a:cxnLst>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9525">
              <a:noFill/>
            </a:ln>
          </p:spPr>
          <p:txBody>
            <a:bodyPr/>
            <a:p>
              <a:endParaRPr lang="en-US"/>
            </a:p>
          </p:txBody>
        </p:sp>
        <p:sp>
          <p:nvSpPr>
            <p:cNvPr id="1053" name="Freeform 18"/>
            <p:cNvSpPr/>
            <p:nvPr/>
          </p:nvSpPr>
          <p:spPr>
            <a:xfrm>
              <a:off x="3143251" y="4757738"/>
              <a:ext cx="161925" cy="873125"/>
            </a:xfrm>
            <a:custGeom>
              <a:avLst/>
              <a:gdLst/>
              <a:ahLst/>
              <a:cxnLst>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0"/>
                </a:cxn>
              </a:cxnLst>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9525">
              <a:noFill/>
            </a:ln>
          </p:spPr>
          <p:txBody>
            <a:bodyPr/>
            <a:p>
              <a:endParaRPr lang="en-US"/>
            </a:p>
          </p:txBody>
        </p:sp>
        <p:sp>
          <p:nvSpPr>
            <p:cNvPr id="1054" name="Freeform 19"/>
            <p:cNvSpPr/>
            <p:nvPr/>
          </p:nvSpPr>
          <p:spPr>
            <a:xfrm>
              <a:off x="3148013" y="1282700"/>
              <a:ext cx="1768475" cy="34480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Lst>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9525">
              <a:noFill/>
            </a:ln>
          </p:spPr>
          <p:txBody>
            <a:bodyPr/>
            <a:p>
              <a:endParaRPr lang="en-US"/>
            </a:p>
          </p:txBody>
        </p:sp>
        <p:sp>
          <p:nvSpPr>
            <p:cNvPr id="1055" name="Freeform 20"/>
            <p:cNvSpPr/>
            <p:nvPr/>
          </p:nvSpPr>
          <p:spPr>
            <a:xfrm>
              <a:off x="3273426" y="5653088"/>
              <a:ext cx="138113" cy="287338"/>
            </a:xfrm>
            <a:custGeom>
              <a:avLst/>
              <a:gdLst/>
              <a:ahLst/>
              <a:cxnLst>
                <a:cxn ang="0">
                  <a:pos x="0" y="0"/>
                </a:cxn>
                <a:cxn ang="0">
                  <a:pos x="2147483647" y="2147483647"/>
                </a:cxn>
                <a:cxn ang="0">
                  <a:pos x="2147483647" y="2147483647"/>
                </a:cxn>
                <a:cxn ang="0">
                  <a:pos x="0" y="0"/>
                </a:cxn>
              </a:cxnLst>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9525">
              <a:noFill/>
            </a:ln>
          </p:spPr>
          <p:txBody>
            <a:bodyPr/>
            <a:p>
              <a:endParaRPr lang="en-US"/>
            </a:p>
          </p:txBody>
        </p:sp>
        <p:sp>
          <p:nvSpPr>
            <p:cNvPr id="1056" name="Freeform 21"/>
            <p:cNvSpPr/>
            <p:nvPr/>
          </p:nvSpPr>
          <p:spPr>
            <a:xfrm>
              <a:off x="3143251" y="4656138"/>
              <a:ext cx="31750" cy="188913"/>
            </a:xfrm>
            <a:custGeom>
              <a:avLst/>
              <a:gdLst/>
              <a:ahLst/>
              <a:cxnLst>
                <a:cxn ang="0">
                  <a:pos x="2147483647" y="2147483647"/>
                </a:cxn>
                <a:cxn ang="0">
                  <a:pos x="2147483647" y="2147483647"/>
                </a:cxn>
                <a:cxn ang="0">
                  <a:pos x="2147483647" y="2147483647"/>
                </a:cxn>
                <a:cxn ang="0">
                  <a:pos x="2147483647" y="0"/>
                </a:cxn>
                <a:cxn ang="0">
                  <a:pos x="0" y="2147483647"/>
                </a:cxn>
                <a:cxn ang="0">
                  <a:pos x="2147483647" y="2147483647"/>
                </a:cxn>
              </a:cxnLst>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9525">
              <a:noFill/>
            </a:ln>
          </p:spPr>
          <p:txBody>
            <a:bodyPr/>
            <a:p>
              <a:endParaRPr lang="en-US"/>
            </a:p>
          </p:txBody>
        </p:sp>
        <p:sp>
          <p:nvSpPr>
            <p:cNvPr id="1057" name="Freeform 22"/>
            <p:cNvSpPr/>
            <p:nvPr/>
          </p:nvSpPr>
          <p:spPr>
            <a:xfrm>
              <a:off x="3211513" y="5410200"/>
              <a:ext cx="203200" cy="530225"/>
            </a:xfrm>
            <a:custGeom>
              <a:avLst/>
              <a:gdLst/>
              <a:ahLst/>
              <a:cxnLst>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9525">
              <a:noFill/>
            </a:ln>
          </p:spPr>
          <p:txBody>
            <a:bodyPr/>
            <a:p>
              <a:endParaRPr lang="en-US"/>
            </a:p>
          </p:txBody>
        </p:sp>
      </p:grpSp>
      <p:grpSp>
        <p:nvGrpSpPr>
          <p:cNvPr id="1027" name="Group 48"/>
          <p:cNvGrpSpPr/>
          <p:nvPr/>
        </p:nvGrpSpPr>
        <p:grpSpPr>
          <a:xfrm>
            <a:off x="20638" y="0"/>
            <a:ext cx="1952625" cy="6853238"/>
            <a:chOff x="6627813" y="196102"/>
            <a:chExt cx="1952625" cy="5677649"/>
          </a:xfrm>
        </p:grpSpPr>
        <p:sp>
          <p:nvSpPr>
            <p:cNvPr id="1034" name="Freeform 27"/>
            <p:cNvSpPr/>
            <p:nvPr/>
          </p:nvSpPr>
          <p:spPr>
            <a:xfrm>
              <a:off x="6627813" y="196102"/>
              <a:ext cx="409575" cy="364648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0" y="0"/>
                </a:cxn>
                <a:cxn ang="0">
                  <a:pos x="2147483647" y="2147483647"/>
                </a:cxn>
                <a:cxn ang="0">
                  <a:pos x="2147483647" y="2147483647"/>
                </a:cxn>
              </a:cxnLst>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alpha val="100000"/>
              </a:schemeClr>
            </a:solidFill>
            <a:ln w="9525">
              <a:noFill/>
            </a:ln>
          </p:spPr>
          <p:txBody>
            <a:bodyPr/>
            <a:p>
              <a:endParaRPr lang="en-US"/>
            </a:p>
          </p:txBody>
        </p:sp>
        <p:sp>
          <p:nvSpPr>
            <p:cNvPr id="1035" name="Freeform 28"/>
            <p:cNvSpPr/>
            <p:nvPr/>
          </p:nvSpPr>
          <p:spPr>
            <a:xfrm>
              <a:off x="7061201" y="3771900"/>
              <a:ext cx="350838" cy="1309688"/>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0" y="0"/>
                </a:cxn>
                <a:cxn ang="0">
                  <a:pos x="2147483647" y="2147483647"/>
                </a:cxn>
                <a:cxn ang="0">
                  <a:pos x="2147483647" y="2147483647"/>
                </a:cxn>
              </a:cxnLst>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alpha val="100000"/>
              </a:schemeClr>
            </a:solidFill>
            <a:ln w="9525">
              <a:noFill/>
            </a:ln>
          </p:spPr>
          <p:txBody>
            <a:bodyPr/>
            <a:p>
              <a:endParaRPr lang="en-US"/>
            </a:p>
          </p:txBody>
        </p:sp>
        <p:sp>
          <p:nvSpPr>
            <p:cNvPr id="1036" name="Freeform 29"/>
            <p:cNvSpPr/>
            <p:nvPr/>
          </p:nvSpPr>
          <p:spPr>
            <a:xfrm>
              <a:off x="7439026" y="5053013"/>
              <a:ext cx="357188" cy="820738"/>
            </a:xfrm>
            <a:custGeom>
              <a:avLst/>
              <a:gdLst/>
              <a:ahLst/>
              <a:cxnLst>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alpha val="100000"/>
              </a:schemeClr>
            </a:solidFill>
            <a:ln w="9525">
              <a:noFill/>
            </a:ln>
          </p:spPr>
          <p:txBody>
            <a:bodyPr/>
            <a:p>
              <a:endParaRPr lang="en-US"/>
            </a:p>
          </p:txBody>
        </p:sp>
        <p:sp>
          <p:nvSpPr>
            <p:cNvPr id="1037" name="Freeform 30"/>
            <p:cNvSpPr/>
            <p:nvPr/>
          </p:nvSpPr>
          <p:spPr>
            <a:xfrm>
              <a:off x="7037388" y="3811588"/>
              <a:ext cx="457200" cy="1852613"/>
            </a:xfrm>
            <a:custGeom>
              <a:avLst/>
              <a:gdLst/>
              <a:ahLst/>
              <a:cxnLst>
                <a:cxn ang="0">
                  <a:pos x="2147483647" y="2147483647"/>
                </a:cxn>
                <a:cxn ang="0">
                  <a:pos x="2147483647" y="2147483647"/>
                </a:cxn>
                <a:cxn ang="0">
                  <a:pos x="2147483647" y="2147483647"/>
                </a:cxn>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alpha val="100000"/>
              </a:schemeClr>
            </a:solidFill>
            <a:ln w="9525">
              <a:noFill/>
            </a:ln>
          </p:spPr>
          <p:txBody>
            <a:bodyPr/>
            <a:p>
              <a:endParaRPr lang="en-US"/>
            </a:p>
          </p:txBody>
        </p:sp>
        <p:sp>
          <p:nvSpPr>
            <p:cNvPr id="1038" name="Freeform 31"/>
            <p:cNvSpPr/>
            <p:nvPr/>
          </p:nvSpPr>
          <p:spPr>
            <a:xfrm>
              <a:off x="6992938" y="1263650"/>
              <a:ext cx="144463" cy="250825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alpha val="100000"/>
              </a:schemeClr>
            </a:solidFill>
            <a:ln w="9525">
              <a:noFill/>
            </a:ln>
          </p:spPr>
          <p:txBody>
            <a:bodyPr/>
            <a:p>
              <a:endParaRPr lang="en-US"/>
            </a:p>
          </p:txBody>
        </p:sp>
        <p:sp>
          <p:nvSpPr>
            <p:cNvPr id="1039" name="Freeform 32"/>
            <p:cNvSpPr/>
            <p:nvPr/>
          </p:nvSpPr>
          <p:spPr>
            <a:xfrm>
              <a:off x="7526338" y="5640388"/>
              <a:ext cx="111125" cy="233363"/>
            </a:xfrm>
            <a:custGeom>
              <a:avLst/>
              <a:gdLst/>
              <a:ahLst/>
              <a:cxnLst>
                <a:cxn ang="0">
                  <a:pos x="2147483647" y="2147483647"/>
                </a:cxn>
                <a:cxn ang="0">
                  <a:pos x="2147483647" y="2147483647"/>
                </a:cxn>
                <a:cxn ang="0">
                  <a:pos x="0" y="0"/>
                </a:cxn>
                <a:cxn ang="0">
                  <a:pos x="2147483647" y="2147483647"/>
                </a:cxn>
              </a:cxnLst>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alpha val="100000"/>
              </a:schemeClr>
            </a:solidFill>
            <a:ln w="9525">
              <a:noFill/>
            </a:ln>
          </p:spPr>
          <p:txBody>
            <a:bodyPr/>
            <a:p>
              <a:endParaRPr lang="en-US"/>
            </a:p>
          </p:txBody>
        </p:sp>
        <p:sp>
          <p:nvSpPr>
            <p:cNvPr id="1040" name="Freeform 33"/>
            <p:cNvSpPr/>
            <p:nvPr/>
          </p:nvSpPr>
          <p:spPr>
            <a:xfrm>
              <a:off x="7021513" y="3598863"/>
              <a:ext cx="68263" cy="423863"/>
            </a:xfrm>
            <a:custGeom>
              <a:avLst/>
              <a:gdLst/>
              <a:ahLst/>
              <a:cxnLst>
                <a:cxn ang="0">
                  <a:pos x="2147483647" y="2147483647"/>
                </a:cxn>
                <a:cxn ang="0">
                  <a:pos x="2147483647" y="2147483647"/>
                </a:cxn>
                <a:cxn ang="0">
                  <a:pos x="2147483647" y="2147483647"/>
                </a:cxn>
                <a:cxn ang="0">
                  <a:pos x="2147483647" y="2147483647"/>
                </a:cxn>
                <a:cxn ang="0">
                  <a:pos x="0" y="0"/>
                </a:cxn>
                <a:cxn ang="0">
                  <a:pos x="0" y="2147483647"/>
                </a:cxn>
                <a:cxn ang="0">
                  <a:pos x="2147483647" y="2147483647"/>
                </a:cxn>
              </a:cxnLst>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alpha val="100000"/>
              </a:schemeClr>
            </a:solidFill>
            <a:ln w="9525">
              <a:noFill/>
            </a:ln>
          </p:spPr>
          <p:txBody>
            <a:bodyPr/>
            <a:p>
              <a:endParaRPr lang="en-US"/>
            </a:p>
          </p:txBody>
        </p:sp>
        <p:sp>
          <p:nvSpPr>
            <p:cNvPr id="1041" name="Freeform 34"/>
            <p:cNvSpPr/>
            <p:nvPr/>
          </p:nvSpPr>
          <p:spPr>
            <a:xfrm>
              <a:off x="7412038" y="2801938"/>
              <a:ext cx="1168400" cy="225107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Lst>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alpha val="100000"/>
              </a:schemeClr>
            </a:solidFill>
            <a:ln w="9525">
              <a:noFill/>
            </a:ln>
          </p:spPr>
          <p:txBody>
            <a:bodyPr/>
            <a:p>
              <a:endParaRPr lang="en-US"/>
            </a:p>
          </p:txBody>
        </p:sp>
        <p:sp>
          <p:nvSpPr>
            <p:cNvPr id="1042" name="Freeform 35"/>
            <p:cNvSpPr/>
            <p:nvPr/>
          </p:nvSpPr>
          <p:spPr>
            <a:xfrm>
              <a:off x="7494588" y="5664200"/>
              <a:ext cx="100013" cy="209550"/>
            </a:xfrm>
            <a:custGeom>
              <a:avLst/>
              <a:gdLst/>
              <a:ahLst/>
              <a:cxnLst>
                <a:cxn ang="0">
                  <a:pos x="0" y="0"/>
                </a:cxn>
                <a:cxn ang="0">
                  <a:pos x="2147483647" y="2147483647"/>
                </a:cxn>
                <a:cxn ang="0">
                  <a:pos x="2147483647" y="2147483647"/>
                </a:cxn>
                <a:cxn ang="0">
                  <a:pos x="0" y="0"/>
                </a:cxn>
              </a:cxnLst>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alpha val="100000"/>
              </a:schemeClr>
            </a:solidFill>
            <a:ln w="9525">
              <a:noFill/>
            </a:ln>
          </p:spPr>
          <p:txBody>
            <a:bodyPr/>
            <a:p>
              <a:endParaRPr lang="en-US"/>
            </a:p>
          </p:txBody>
        </p:sp>
        <p:sp>
          <p:nvSpPr>
            <p:cNvPr id="1043" name="Freeform 36"/>
            <p:cNvSpPr/>
            <p:nvPr/>
          </p:nvSpPr>
          <p:spPr>
            <a:xfrm>
              <a:off x="7412038" y="5081588"/>
              <a:ext cx="114300" cy="558800"/>
            </a:xfrm>
            <a:custGeom>
              <a:avLst/>
              <a:gdLst/>
              <a:ahLst/>
              <a:cxnLst>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0"/>
                </a:cxn>
              </a:cxnLst>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alpha val="100000"/>
              </a:schemeClr>
            </a:solidFill>
            <a:ln w="9525">
              <a:noFill/>
            </a:ln>
          </p:spPr>
          <p:txBody>
            <a:bodyPr/>
            <a:p>
              <a:endParaRPr lang="en-US"/>
            </a:p>
          </p:txBody>
        </p:sp>
        <p:sp>
          <p:nvSpPr>
            <p:cNvPr id="1044" name="Freeform 37"/>
            <p:cNvSpPr/>
            <p:nvPr/>
          </p:nvSpPr>
          <p:spPr>
            <a:xfrm>
              <a:off x="7412038" y="4978400"/>
              <a:ext cx="31750" cy="188913"/>
            </a:xfrm>
            <a:custGeom>
              <a:avLst/>
              <a:gdLst/>
              <a:ahLst/>
              <a:cxnLst>
                <a:cxn ang="0">
                  <a:pos x="0" y="2147483647"/>
                </a:cxn>
                <a:cxn ang="0">
                  <a:pos x="2147483647" y="2147483647"/>
                </a:cxn>
                <a:cxn ang="0">
                  <a:pos x="2147483647" y="2147483647"/>
                </a:cxn>
                <a:cxn ang="0">
                  <a:pos x="2147483647" y="2147483647"/>
                </a:cxn>
                <a:cxn ang="0">
                  <a:pos x="0" y="0"/>
                </a:cxn>
                <a:cxn ang="0">
                  <a:pos x="0" y="2147483647"/>
                </a:cxn>
                <a:cxn ang="0">
                  <a:pos x="0" y="2147483647"/>
                </a:cxn>
              </a:cxnLst>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alpha val="100000"/>
              </a:schemeClr>
            </a:solidFill>
            <a:ln w="9525">
              <a:noFill/>
            </a:ln>
          </p:spPr>
          <p:txBody>
            <a:bodyPr/>
            <a:p>
              <a:endParaRPr lang="en-US"/>
            </a:p>
          </p:txBody>
        </p:sp>
        <p:sp>
          <p:nvSpPr>
            <p:cNvPr id="1045" name="Freeform 38"/>
            <p:cNvSpPr/>
            <p:nvPr/>
          </p:nvSpPr>
          <p:spPr>
            <a:xfrm>
              <a:off x="7439026" y="5434013"/>
              <a:ext cx="174625" cy="439738"/>
            </a:xfrm>
            <a:custGeom>
              <a:avLst/>
              <a:gdLst/>
              <a:ahLst/>
              <a:cxnLst>
                <a:cxn ang="0">
                  <a:pos x="2147483647" y="2147483647"/>
                </a:cxn>
                <a:cxn ang="0">
                  <a:pos x="0" y="0"/>
                </a:cxn>
                <a:cxn ang="0">
                  <a:pos x="2147483647" y="2147483647"/>
                </a:cxn>
                <a:cxn ang="0">
                  <a:pos x="2147483647" y="2147483647"/>
                </a:cxn>
                <a:cxn ang="0">
                  <a:pos x="2147483647" y="2147483647"/>
                </a:cxn>
                <a:cxn ang="0">
                  <a:pos x="2147483647" y="2147483647"/>
                </a:cxn>
                <a:cxn ang="0">
                  <a:pos x="2147483647" y="2147483647"/>
                </a:cxn>
                <a:cxn ang="0">
                  <a:pos x="2147483647" y="2147483647"/>
                </a:cxn>
              </a:cxnLst>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alpha val="100000"/>
              </a:schemeClr>
            </a:solidFill>
            <a:ln w="9525">
              <a:noFill/>
            </a:ln>
          </p:spPr>
          <p:txBody>
            <a:bodyPr/>
            <a:p>
              <a:endParaRPr lang="en-US"/>
            </a:p>
          </p:txBody>
        </p:sp>
      </p:grpSp>
      <p:sp>
        <p:nvSpPr>
          <p:cNvPr id="62" name="Rectangle 61"/>
          <p:cNvSpPr/>
          <p:nvPr/>
        </p:nvSpPr>
        <p:spPr>
          <a:xfrm>
            <a:off x="0" y="0"/>
            <a:ext cx="182563"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029" name="Title Placeholder 1"/>
          <p:cNvSpPr>
            <a:spLocks noGrp="1"/>
          </p:cNvSpPr>
          <p:nvPr>
            <p:ph type="title"/>
          </p:nvPr>
        </p:nvSpPr>
        <p:spPr>
          <a:xfrm>
            <a:off x="1944688" y="623888"/>
            <a:ext cx="6589712" cy="1281112"/>
          </a:xfrm>
          <a:prstGeom prst="rect">
            <a:avLst/>
          </a:prstGeom>
          <a:noFill/>
          <a:ln w="9525">
            <a:noFill/>
          </a:ln>
        </p:spPr>
        <p:txBody>
          <a:bodyPr/>
          <a:p>
            <a:pPr lvl="0"/>
            <a:r>
              <a:rPr lang="en-US" altLang="en-US" dirty="0"/>
              <a:t>Click to edit Master title style</a:t>
            </a:r>
            <a:endParaRPr lang="en-US" altLang="en-US" dirty="0"/>
          </a:p>
        </p:txBody>
      </p:sp>
      <p:sp>
        <p:nvSpPr>
          <p:cNvPr id="1030" name="Text Placeholder 2"/>
          <p:cNvSpPr>
            <a:spLocks noGrp="1"/>
          </p:cNvSpPr>
          <p:nvPr>
            <p:ph type="body" idx="1"/>
          </p:nvPr>
        </p:nvSpPr>
        <p:spPr>
          <a:xfrm>
            <a:off x="1943100" y="2133600"/>
            <a:ext cx="6591300" cy="3886200"/>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4" name="Date Placeholder 3"/>
          <p:cNvSpPr>
            <a:spLocks noGrp="1"/>
          </p:cNvSpPr>
          <p:nvPr>
            <p:ph type="dt" sz="half" idx="2"/>
          </p:nvPr>
        </p:nvSpPr>
        <p:spPr>
          <a:xfrm>
            <a:off x="7772400" y="6135688"/>
            <a:ext cx="766763" cy="369888"/>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F82A147-CBC7-4C5D-839E-B7CA253D168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1943100" y="6135688"/>
            <a:ext cx="5716588"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511175" y="787400"/>
            <a:ext cx="585788" cy="365125"/>
          </a:xfrm>
          <a:prstGeom prst="rect">
            <a:avLst/>
          </a:prstGeom>
        </p:spPr>
        <p:txBody>
          <a:bodyPr vert="horz" wrap="square" lIns="91440" tIns="45720" rIns="91440" bIns="45720" numCol="1" anchor="ctr" anchorCtr="0" compatLnSpc="1"/>
          <a:lstStyle>
            <a:lvl1pPr algn="r">
              <a:defRPr sz="2000">
                <a:solidFill>
                  <a:srgbClr val="FEFFFF"/>
                </a:solidFill>
              </a:defRPr>
            </a:lvl1pPr>
          </a:lstStyle>
          <a:p>
            <a:pPr lvl="0" eaLnBrk="1" hangingPunct="1"/>
            <a:fld id="{9A0DB2DC-4C9A-4742-B13C-FB6460FD3503}" type="slidenum">
              <a:rPr lang="en-US" altLang="en-US" dirty="0">
                <a:latin typeface="Century Gothic" panose="020B0502020202020204" pitchFamily="34" charset="0"/>
              </a:rPr>
            </a:fld>
            <a:endParaRPr lang="en-US" altLang="en-US" dirty="0">
              <a:latin typeface="Century Gothic" panose="020B0502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p:txStyles>
    <p:titleStyle>
      <a:lvl1pPr algn="l" defTabSz="457200" rtl="0" eaLnBrk="0" fontAlgn="base" hangingPunct="0">
        <a:spcBef>
          <a:spcPct val="0"/>
        </a:spcBef>
        <a:spcAft>
          <a:spcPct val="0"/>
        </a:spcAft>
        <a:defRPr sz="3600" kern="1200">
          <a:solidFill>
            <a:srgbClr val="1581AA"/>
          </a:solidFill>
          <a:latin typeface="+mj-lt"/>
          <a:ea typeface="+mj-ea"/>
          <a:cs typeface="+mj-cs"/>
        </a:defRPr>
      </a:lvl1pPr>
      <a:lvl2pPr algn="l" defTabSz="457200" rtl="0" eaLnBrk="0" fontAlgn="base" hangingPunct="0">
        <a:spcBef>
          <a:spcPct val="0"/>
        </a:spcBef>
        <a:spcAft>
          <a:spcPct val="0"/>
        </a:spcAft>
        <a:defRPr sz="3600">
          <a:solidFill>
            <a:srgbClr val="1581AA"/>
          </a:solidFill>
          <a:latin typeface="Century Gothic" panose="020B0502020202020204" pitchFamily="34" charset="0"/>
        </a:defRPr>
      </a:lvl2pPr>
      <a:lvl3pPr algn="l" defTabSz="457200" rtl="0" eaLnBrk="0" fontAlgn="base" hangingPunct="0">
        <a:spcBef>
          <a:spcPct val="0"/>
        </a:spcBef>
        <a:spcAft>
          <a:spcPct val="0"/>
        </a:spcAft>
        <a:defRPr sz="3600">
          <a:solidFill>
            <a:srgbClr val="1581AA"/>
          </a:solidFill>
          <a:latin typeface="Century Gothic" panose="020B0502020202020204" pitchFamily="34" charset="0"/>
        </a:defRPr>
      </a:lvl3pPr>
      <a:lvl4pPr algn="l" defTabSz="457200" rtl="0" eaLnBrk="0" fontAlgn="base" hangingPunct="0">
        <a:spcBef>
          <a:spcPct val="0"/>
        </a:spcBef>
        <a:spcAft>
          <a:spcPct val="0"/>
        </a:spcAft>
        <a:defRPr sz="3600">
          <a:solidFill>
            <a:srgbClr val="1581AA"/>
          </a:solidFill>
          <a:latin typeface="Century Gothic" panose="020B0502020202020204" pitchFamily="34" charset="0"/>
        </a:defRPr>
      </a:lvl4pPr>
      <a:lvl5pPr algn="l" defTabSz="457200" rtl="0" eaLnBrk="0" fontAlgn="base" hangingPunct="0">
        <a:spcBef>
          <a:spcPct val="0"/>
        </a:spcBef>
        <a:spcAft>
          <a:spcPct val="0"/>
        </a:spcAft>
        <a:defRPr sz="3600">
          <a:solidFill>
            <a:srgbClr val="1581AA"/>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1000"/>
        </a:spcBef>
        <a:spcAft>
          <a:spcPct val="0"/>
        </a:spcAft>
        <a:buClr>
          <a:schemeClr val="accent1"/>
        </a:buClr>
        <a:buFont typeface="Wingdings 3" panose="05040102010807070707" pitchFamily="18" charset="2"/>
        <a:buChar char=""/>
        <a:defRPr kern="1200">
          <a:solidFill>
            <a:srgbClr val="404040"/>
          </a:solidFill>
          <a:latin typeface="+mn-lt"/>
          <a:ea typeface="+mn-ea"/>
          <a:cs typeface="+mn-cs"/>
        </a:defRPr>
      </a:lvl1pPr>
      <a:lvl2pPr marL="742950" indent="-285750" algn="l" defTabSz="457200" rtl="0" eaLnBrk="0" fontAlgn="base" hangingPunct="0">
        <a:spcBef>
          <a:spcPts val="1000"/>
        </a:spcBef>
        <a:spcAft>
          <a:spcPct val="0"/>
        </a:spcAft>
        <a:buClr>
          <a:schemeClr val="accent1"/>
        </a:buClr>
        <a:buFont typeface="Wingdings 3" panose="05040102010807070707" pitchFamily="18" charset="2"/>
        <a:buChar char=""/>
        <a:defRPr sz="1600" kern="1200">
          <a:solidFill>
            <a:srgbClr val="404040"/>
          </a:solidFill>
          <a:latin typeface="+mn-lt"/>
          <a:ea typeface="+mn-ea"/>
          <a:cs typeface="+mn-cs"/>
        </a:defRPr>
      </a:lvl2pPr>
      <a:lvl3pPr marL="1143000" indent="-228600" algn="l" defTabSz="457200" rtl="0" eaLnBrk="0" fontAlgn="base" hangingPunct="0">
        <a:spcBef>
          <a:spcPts val="1000"/>
        </a:spcBef>
        <a:spcAft>
          <a:spcPct val="0"/>
        </a:spcAft>
        <a:buClr>
          <a:schemeClr val="accent1"/>
        </a:buClr>
        <a:buFont typeface="Wingdings 3" panose="05040102010807070707" pitchFamily="18" charset="2"/>
        <a:buChar char=""/>
        <a:defRPr sz="1400" kern="1200">
          <a:solidFill>
            <a:srgbClr val="404040"/>
          </a:solidFill>
          <a:latin typeface="+mn-lt"/>
          <a:ea typeface="+mn-ea"/>
          <a:cs typeface="+mn-cs"/>
        </a:defRPr>
      </a:lvl3pPr>
      <a:lvl4pPr marL="1600200" indent="-228600" algn="l" defTabSz="457200" rtl="0" eaLnBrk="0" fontAlgn="base" hangingPunct="0">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4pPr>
      <a:lvl5pPr marL="2057400" indent="-228600" algn="l" defTabSz="457200" rtl="0" eaLnBrk="0" fontAlgn="base" hangingPunct="0">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pitchFamily="18"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pitchFamily="18"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pitchFamily="18"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pitchFamily="18"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Rectangle 3"/>
          <p:cNvSpPr txBox="1">
            <a:spLocks noChangeArrowheads="1"/>
          </p:cNvSpPr>
          <p:nvPr/>
        </p:nvSpPr>
        <p:spPr bwMode="auto">
          <a:xfrm>
            <a:off x="876300" y="42863"/>
            <a:ext cx="8153400" cy="858838"/>
          </a:xfrm>
          <a:prstGeom prst="rect">
            <a:avLst/>
          </a:prstGeom>
          <a:solidFill>
            <a:schemeClr val="bg1"/>
          </a:solidFill>
          <a:ln>
            <a:noFill/>
          </a:ln>
          <a:effectLst/>
        </p:spPr>
        <p:txBody>
          <a:bodyPr/>
          <a:lstStyle>
            <a:lvl1pPr marL="0" indent="0" algn="l" rtl="0" eaLnBrk="0" fontAlgn="base" hangingPunct="0">
              <a:spcBef>
                <a:spcPct val="20000"/>
              </a:spcBef>
              <a:spcAft>
                <a:spcPct val="0"/>
              </a:spcAft>
              <a:buClr>
                <a:schemeClr val="accent1"/>
              </a:buClr>
              <a:buSzPct val="65000"/>
              <a:buFont typeface="Wingdings" panose="05000000000000000000" pitchFamily="2" charset="2"/>
              <a:buNone/>
              <a:defRPr sz="2800" kern="12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4572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defRPr/>
            </a:pPr>
            <a:endParaRPr kumimoji="0" lang="en-US" altLang="en-US" sz="2800" b="0" i="0" u="none" strike="noStrike" kern="1200" cap="none" spc="0" normalizeH="0" baseline="0" noProof="0" dirty="0">
              <a:ln>
                <a:noFill/>
              </a:ln>
              <a:solidFill>
                <a:schemeClr val="accent2">
                  <a:lumMod val="50000"/>
                </a:schemeClr>
              </a:solidFill>
              <a:effectLst/>
              <a:uLnTx/>
              <a:uFillTx/>
              <a:latin typeface="+mn-lt"/>
              <a:ea typeface="+mn-ea"/>
              <a:cs typeface="+mn-cs"/>
            </a:endParaRPr>
          </a:p>
        </p:txBody>
      </p:sp>
      <p:sp>
        <p:nvSpPr>
          <p:cNvPr id="18435" name="Rectangle 3"/>
          <p:cNvSpPr>
            <a:spLocks noGrp="1"/>
          </p:cNvSpPr>
          <p:nvPr>
            <p:ph type="subTitle" idx="1"/>
          </p:nvPr>
        </p:nvSpPr>
        <p:spPr>
          <a:xfrm>
            <a:off x="822960" y="2514600"/>
            <a:ext cx="7498079" cy="1325880"/>
          </a:xfrm>
          <a:ln/>
        </p:spPr>
        <p:txBody>
          <a:bodyPr vert="horz" wrap="square" lIns="91440" tIns="45720" rIns="91440" bIns="45720" anchor="ctr" anchorCtr="0">
            <a:noAutofit/>
          </a:bodyPr>
          <a:p>
            <a:pPr algn="ctr" defTabSz="457200" eaLnBrk="1" hangingPunct="1">
              <a:spcAft>
                <a:spcPts val="600"/>
              </a:spcAft>
              <a:buSzTx/>
            </a:pPr>
            <a:r>
              <a:rPr sz="2200" b="1">
                <a:solidFill>
                  <a:srgbClr val="4A0A0A"/>
                </a:solidFill>
                <a:latin typeface="Calibri"/>
              </a:rPr>
              <a:t>SELF-CALIBRATING MULTI-MODAL EDGE AI NODE FOR INDUSTRIAL MACHINE ANOMALY DETECTION</a:t>
            </a:r>
            <a:endParaRPr lang="en-US" altLang="en-US" sz="2800" b="1" kern="1200" dirty="0">
              <a:solidFill>
                <a:srgbClr val="420408"/>
              </a:solidFill>
              <a:latin typeface="Calibri" panose="020F0502020204030204" pitchFamily="34" charset="0"/>
              <a:ea typeface="+mn-ea"/>
              <a:cs typeface="Calibri" panose="020F0502020204030204" pitchFamily="34" charset="0"/>
            </a:endParaRPr>
          </a:p>
          <a:p>
            <a:pPr algn="ctr">
              <a:spcAft>
                <a:spcPts val="600"/>
              </a:spcAft>
            </a:pPr>
            <a:r>
              <a:rPr sz="2000" b="1">
                <a:solidFill>
                  <a:srgbClr val="4A0A0A"/>
                </a:solidFill>
                <a:latin typeface="Calibri"/>
              </a:rPr>
              <a:t>Team No : 163</a:t>
            </a:r>
          </a:p>
        </p:txBody>
      </p:sp>
      <p:sp>
        <p:nvSpPr>
          <p:cNvPr id="18436" name="TextBox 1"/>
          <p:cNvSpPr txBox="1"/>
          <p:nvPr/>
        </p:nvSpPr>
        <p:spPr>
          <a:xfrm>
            <a:off x="2148840" y="4892040"/>
            <a:ext cx="4846320" cy="1371600"/>
          </a:xfrm>
          <a:prstGeom prst="rect">
            <a:avLst/>
          </a:prstGeom>
          <a:noFill/>
          <a:ln w="9525">
            <a:noFill/>
          </a:ln>
        </p:spPr>
        <p:txBody>
          <a:bodyPr>
            <a:spAutoFit/>
          </a:bodyPr>
          <a:p>
            <a:pPr algn="ctr" eaLnBrk="1" hangingPunct="1">
              <a:spcAft>
                <a:spcPts val="0"/>
              </a:spcAft>
            </a:pPr>
            <a:r>
              <a:rPr sz="1400" b="1">
                <a:solidFill>
                  <a:srgbClr val="26323F"/>
                </a:solidFill>
                <a:latin typeface="Calibri"/>
              </a:rPr>
              <a:t>Presented By:</a:t>
            </a:r>
            <a:endParaRPr lang="en-IN" altLang="en-US" b="1" dirty="0">
              <a:latin typeface="Arial" panose="020B0604020202020204" pitchFamily="34" charset="0"/>
            </a:endParaRPr>
          </a:p>
          <a:p>
            <a:pPr algn="ctr">
              <a:spcAft>
                <a:spcPts val="0"/>
              </a:spcAft>
            </a:pPr>
            <a:r>
              <a:rPr sz="1400" b="1">
                <a:solidFill>
                  <a:srgbClr val="26323F"/>
                </a:solidFill>
                <a:latin typeface="Calibri"/>
              </a:rPr>
              <a:t>Nikitha D (ENG23CS0384)</a:t>
            </a:r>
          </a:p>
          <a:p>
            <a:pPr algn="ctr">
              <a:spcAft>
                <a:spcPts val="0"/>
              </a:spcAft>
            </a:pPr>
            <a:r>
              <a:rPr sz="1400" b="1">
                <a:solidFill>
                  <a:srgbClr val="26323F"/>
                </a:solidFill>
                <a:latin typeface="Calibri"/>
              </a:rPr>
              <a:t>Rajika Saha (ENG23CS0415)</a:t>
            </a:r>
          </a:p>
          <a:p>
            <a:pPr algn="ctr">
              <a:spcAft>
                <a:spcPts val="0"/>
              </a:spcAft>
            </a:pPr>
            <a:r>
              <a:rPr sz="1400" b="1">
                <a:solidFill>
                  <a:srgbClr val="26323F"/>
                </a:solidFill>
                <a:latin typeface="Calibri"/>
              </a:rPr>
              <a:t>Monalisa (ENG23CS0368)</a:t>
            </a:r>
          </a:p>
          <a:p>
            <a:pPr algn="ctr">
              <a:spcAft>
                <a:spcPts val="0"/>
              </a:spcAft>
            </a:pPr>
            <a:r>
              <a:rPr sz="1400" b="1">
                <a:solidFill>
                  <a:srgbClr val="26323F"/>
                </a:solidFill>
                <a:latin typeface="Calibri"/>
              </a:rPr>
              <a:t>Sunand P Chowdary (ENG23CS0387)</a:t>
            </a:r>
          </a:p>
        </p:txBody>
      </p:sp>
      <p:sp>
        <p:nvSpPr>
          <p:cNvPr id="18437" name="TextBox 5"/>
          <p:cNvSpPr txBox="1"/>
          <p:nvPr/>
        </p:nvSpPr>
        <p:spPr>
          <a:xfrm>
            <a:off x="1619250" y="2084388"/>
            <a:ext cx="5905500" cy="461962"/>
          </a:xfrm>
          <a:prstGeom prst="rect">
            <a:avLst/>
          </a:prstGeom>
          <a:noFill/>
          <a:ln w="9525">
            <a:noFill/>
          </a:ln>
        </p:spPr>
        <p:txBody>
          <a:bodyPr>
            <a:spAutoFit/>
          </a:bodyPr>
          <a:p>
            <a:pPr algn="ctr" eaLnBrk="1" hangingPunct="1"/>
            <a:r>
              <a:rPr lang="en-IN" altLang="en-US" sz="2400" b="1" dirty="0">
                <a:solidFill>
                  <a:srgbClr val="0070C0"/>
                </a:solidFill>
                <a:latin typeface="Calibri" panose="020F0502020204030204" pitchFamily="34" charset="0"/>
                <a:cs typeface="Calibri" panose="020F0502020204030204" pitchFamily="34" charset="0"/>
              </a:rPr>
              <a:t>Major Project Phase-I</a:t>
            </a:r>
            <a:endParaRPr lang="en-IN" altLang="en-US" sz="2400" b="1" dirty="0">
              <a:solidFill>
                <a:srgbClr val="0070C0"/>
              </a:solidFill>
              <a:latin typeface="Calibri" panose="020F0502020204030204" pitchFamily="34" charset="0"/>
              <a:ea typeface="Calibri" panose="020F0502020204030204" pitchFamily="34" charset="0"/>
            </a:endParaRPr>
          </a:p>
        </p:txBody>
      </p:sp>
      <p:sp>
        <p:nvSpPr>
          <p:cNvPr id="18438" name="Rectangle 3"/>
          <p:cNvSpPr txBox="1"/>
          <p:nvPr/>
        </p:nvSpPr>
        <p:spPr>
          <a:xfrm>
            <a:off x="381000" y="1319213"/>
            <a:ext cx="8763000" cy="731837"/>
          </a:xfrm>
          <a:prstGeom prst="rect">
            <a:avLst/>
          </a:prstGeom>
          <a:noFill/>
          <a:ln w="9525">
            <a:noFill/>
          </a:ln>
        </p:spPr>
        <p:txBody>
          <a:bodyPr/>
          <a:p>
            <a:pPr algn="ctr" eaLnBrk="1" hangingPunct="1">
              <a:spcBef>
                <a:spcPct val="20000"/>
              </a:spcBef>
              <a:buClr>
                <a:schemeClr val="accent1"/>
              </a:buClr>
              <a:buSzPct val="65000"/>
              <a:buFont typeface="Wingdings" panose="05000000000000000000" pitchFamily="2" charset="2"/>
            </a:pPr>
            <a:r>
              <a:rPr lang="en-US" altLang="en-US" sz="2800" b="1" dirty="0">
                <a:solidFill>
                  <a:srgbClr val="0D0D47"/>
                </a:solidFill>
                <a:latin typeface="Calibri" panose="020F0502020204030204" pitchFamily="34" charset="0"/>
                <a:cs typeface="Calibri" panose="020F0502020204030204" pitchFamily="34" charset="0"/>
              </a:rPr>
              <a:t>Department of </a:t>
            </a:r>
            <a:r>
              <a:rPr lang="en-IN" altLang="en-US" sz="2800" b="1" dirty="0">
                <a:solidFill>
                  <a:srgbClr val="0D0D47"/>
                </a:solidFill>
                <a:latin typeface="Calibri" panose="020F0502020204030204" pitchFamily="34" charset="0"/>
                <a:cs typeface="Calibri" panose="020F0502020204030204" pitchFamily="34" charset="0"/>
              </a:rPr>
              <a:t>Computer Science an</a:t>
            </a:r>
            <a:r>
              <a:rPr lang="en-US" altLang="en-IN" sz="2800" b="1" dirty="0">
                <a:solidFill>
                  <a:srgbClr val="0D0D47"/>
                </a:solidFill>
                <a:latin typeface="Calibri" panose="020F0502020204030204" pitchFamily="34" charset="0"/>
                <a:cs typeface="Calibri" panose="020F0502020204030204" pitchFamily="34" charset="0"/>
              </a:rPr>
              <a:t>d Engineering</a:t>
            </a:r>
            <a:endParaRPr lang="en-US" altLang="en-IN" sz="2800" b="1" dirty="0">
              <a:solidFill>
                <a:srgbClr val="0D0D47"/>
              </a:solidFill>
              <a:latin typeface="Calibri" panose="020F0502020204030204" pitchFamily="34" charset="0"/>
              <a:ea typeface="Calibri" panose="020F0502020204030204" pitchFamily="34" charset="0"/>
              <a:cs typeface="Calibri" panose="020F0502020204030204" pitchFamily="34" charset="0"/>
            </a:endParaRPr>
          </a:p>
        </p:txBody>
      </p:sp>
      <p:sp>
        <p:nvSpPr>
          <p:cNvPr id="18439" name="TextBox 5"/>
          <p:cNvSpPr txBox="1"/>
          <p:nvPr/>
        </p:nvSpPr>
        <p:spPr>
          <a:xfrm>
            <a:off x="1737360" y="3977639"/>
            <a:ext cx="5669280" cy="822960"/>
          </a:xfrm>
          <a:prstGeom prst="rect">
            <a:avLst/>
          </a:prstGeom>
          <a:noFill/>
          <a:ln w="9525">
            <a:noFill/>
          </a:ln>
        </p:spPr>
        <p:txBody>
          <a:bodyPr>
            <a:spAutoFit/>
          </a:bodyPr>
          <a:p>
            <a:pPr algn="ctr" eaLnBrk="1" hangingPunct="1">
              <a:spcAft>
                <a:spcPts val="0"/>
              </a:spcAft>
            </a:pPr>
            <a:r>
              <a:rPr sz="1600" b="1">
                <a:solidFill>
                  <a:srgbClr val="0B3D1A"/>
                </a:solidFill>
                <a:latin typeface="Calibri"/>
              </a:rPr>
              <a:t>Under the Supervision Of</a:t>
            </a:r>
            <a:endParaRPr lang="en-IN" altLang="en-US" sz="2000" b="1" dirty="0">
              <a:solidFill>
                <a:srgbClr val="003217"/>
              </a:solidFill>
              <a:latin typeface="Calibri" panose="020F0502020204030204" pitchFamily="34" charset="0"/>
              <a:cs typeface="Calibri" panose="020F0502020204030204" pitchFamily="34" charset="0"/>
            </a:endParaRPr>
          </a:p>
          <a:p>
            <a:pPr algn="ctr">
              <a:spcAft>
                <a:spcPts val="0"/>
              </a:spcAft>
            </a:pPr>
            <a:r>
              <a:rPr sz="1600" b="1">
                <a:solidFill>
                  <a:srgbClr val="0B3D1A"/>
                </a:solidFill>
                <a:latin typeface="Calibri"/>
              </a:rPr>
              <a:t>Dr. Meenakshi Malhotra</a:t>
            </a:r>
          </a:p>
        </p:txBody>
      </p:sp>
      <p:sp>
        <p:nvSpPr>
          <p:cNvPr id="18440" name="Slide Number Placeholder 3"/>
          <p:cNvSpPr txBox="1">
            <a:spLocks noGrp="1"/>
          </p:cNvSpPr>
          <p:nvPr>
            <p:ph type="sldNum" sz="quarter" idx="4"/>
          </p:nvPr>
        </p:nvSpPr>
        <p:spPr>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r" eaLnBrk="1" hangingPunct="1"/>
            <a:fld id="{9A0DB2DC-4C9A-4742-B13C-FB6460FD3503}" type="slidenum">
              <a:rPr lang="en-US" altLang="en-US" sz="2000" dirty="0">
                <a:solidFill>
                  <a:srgbClr val="FEFFFF"/>
                </a:solidFill>
              </a:rPr>
            </a:fld>
            <a:endParaRPr lang="en-US" altLang="en-US" sz="2000" dirty="0">
              <a:solidFill>
                <a:srgbClr val="FEFFFF"/>
              </a:solidFill>
            </a:endParaRPr>
          </a:p>
        </p:txBody>
      </p:sp>
      <p:pic>
        <p:nvPicPr>
          <p:cNvPr id="2" name="Picture 1" descr="WhatsApp Image 2026-10-21 at 13.31.11"/>
          <p:cNvPicPr>
            <a:picLocks noChangeAspect="1"/>
          </p:cNvPicPr>
          <p:nvPr/>
        </p:nvPicPr>
        <p:blipFill>
          <a:blip r:embed="rId1"/>
          <a:stretch>
            <a:fillRect/>
          </a:stretch>
        </p:blipFill>
        <p:spPr>
          <a:xfrm>
            <a:off x="304800" y="-10160"/>
            <a:ext cx="2409825" cy="1162050"/>
          </a:xfrm>
          <a:prstGeom prst="rect">
            <a:avLst/>
          </a:prstGeom>
        </p:spPr>
      </p:pic>
      <p:pic>
        <p:nvPicPr>
          <p:cNvPr id="3" name="Picture 2" descr="WhatsApp Image 2026-10-21 at 13.31.13"/>
          <p:cNvPicPr>
            <a:picLocks noChangeAspect="1"/>
          </p:cNvPicPr>
          <p:nvPr/>
        </p:nvPicPr>
        <p:blipFill>
          <a:blip r:embed="rId2"/>
          <a:stretch>
            <a:fillRect/>
          </a:stretch>
        </p:blipFill>
        <p:spPr>
          <a:xfrm>
            <a:off x="6019800" y="152400"/>
            <a:ext cx="2571750" cy="904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itle 1"/>
          <p:cNvSpPr>
            <a:spLocks noGrp="1"/>
          </p:cNvSpPr>
          <p:nvPr>
            <p:ph type="title"/>
          </p:nvPr>
        </p:nvSpPr>
        <p:spPr>
          <a:xfrm>
            <a:off x="1234440" y="475488"/>
            <a:ext cx="6492240" cy="777240"/>
          </a:xfrm>
          <a:ln/>
        </p:spPr>
        <p:txBody>
          <a:bodyPr vert="horz" wrap="square" lIns="91440" tIns="45720" rIns="91440" bIns="45720" anchor="ctr" anchorCtr="0">
            <a:noAutofit/>
          </a:bodyPr>
          <a:p>
            <a:pPr eaLnBrk="1" hangingPunct="1" algn="ctr"/>
            <a:r>
              <a:rPr sz="3000">
                <a:latin typeface="Calibri"/>
              </a:rPr>
              <a:t>Overview</a:t>
            </a:r>
            <a:endParaRPr lang="en-IN" altLang="en-US" b="1"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950913" y="6165850"/>
            <a:ext cx="1066800" cy="369888"/>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C15839E0-7EC2-48C7-B32E-2EBA9045D97E}"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9462"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19463" name="TextBox 19462"/>
          <p:cNvSpPr txBox="1"/>
          <p:nvPr/>
        </p:nvSpPr>
        <p:spPr>
          <a:xfrm>
            <a:off x="1463040" y="1508760"/>
            <a:ext cx="6949440" cy="4389120"/>
          </a:xfrm>
          <a:prstGeom prst="rect">
            <a:avLst/>
          </a:prstGeom>
          <a:noFill/>
        </p:spPr>
        <p:txBody>
          <a:bodyPr wrap="square" lIns="54864" rIns="54864" tIns="27432" bIns="27432" anchor="t">
            <a:noAutofit/>
          </a:bodyPr>
          <a:lstStyle/>
          <a:p>
            <a:pPr algn="l">
              <a:spcAft>
                <a:spcPts val="700"/>
              </a:spcAft>
            </a:pPr>
            <a:r>
              <a:rPr sz="1800" b="1" i="0">
                <a:solidFill>
                  <a:srgbClr val="25578F"/>
                </a:solidFill>
                <a:latin typeface="Calibri"/>
              </a:rPr>
              <a:t>1.  </a:t>
            </a:r>
            <a:r>
              <a:rPr sz="1800" b="0" i="0">
                <a:solidFill>
                  <a:srgbClr val="26323F"/>
                </a:solidFill>
                <a:latin typeface="Calibri"/>
              </a:rPr>
              <a:t>Abstract</a:t>
            </a:r>
          </a:p>
          <a:p>
            <a:pPr algn="l">
              <a:spcAft>
                <a:spcPts val="700"/>
              </a:spcAft>
            </a:pPr>
            <a:r>
              <a:rPr sz="1800" b="1" i="0">
                <a:solidFill>
                  <a:srgbClr val="25578F"/>
                </a:solidFill>
                <a:latin typeface="Calibri"/>
              </a:rPr>
              <a:t>2.  </a:t>
            </a:r>
            <a:r>
              <a:rPr sz="1800" b="0" i="0">
                <a:solidFill>
                  <a:srgbClr val="26323F"/>
                </a:solidFill>
                <a:latin typeface="Calibri"/>
              </a:rPr>
              <a:t>Project Objectives and Requirement Specification</a:t>
            </a:r>
          </a:p>
          <a:p>
            <a:pPr algn="l">
              <a:spcAft>
                <a:spcPts val="700"/>
              </a:spcAft>
            </a:pPr>
            <a:r>
              <a:rPr sz="1800" b="1" i="0">
                <a:solidFill>
                  <a:srgbClr val="25578F"/>
                </a:solidFill>
                <a:latin typeface="Calibri"/>
              </a:rPr>
              <a:t>3.  </a:t>
            </a:r>
            <a:r>
              <a:rPr sz="1800" b="0" i="0">
                <a:solidFill>
                  <a:srgbClr val="26323F"/>
                </a:solidFill>
                <a:latin typeface="Calibri"/>
              </a:rPr>
              <a:t>Innovation &amp; Potential Impact</a:t>
            </a:r>
          </a:p>
          <a:p>
            <a:pPr algn="l">
              <a:spcAft>
                <a:spcPts val="700"/>
              </a:spcAft>
            </a:pPr>
            <a:r>
              <a:rPr sz="1800" b="1" i="0">
                <a:solidFill>
                  <a:srgbClr val="25578F"/>
                </a:solidFill>
                <a:latin typeface="Calibri"/>
              </a:rPr>
              <a:t>4.  </a:t>
            </a:r>
            <a:r>
              <a:rPr sz="1800" b="0" i="0">
                <a:solidFill>
                  <a:srgbClr val="26323F"/>
                </a:solidFill>
                <a:latin typeface="Calibri"/>
              </a:rPr>
              <a:t>Literature Survey and Research Gap</a:t>
            </a:r>
          </a:p>
          <a:p>
            <a:pPr algn="l">
              <a:spcAft>
                <a:spcPts val="700"/>
              </a:spcAft>
            </a:pPr>
            <a:r>
              <a:rPr sz="1800" b="1" i="0">
                <a:solidFill>
                  <a:srgbClr val="25578F"/>
                </a:solidFill>
                <a:latin typeface="Calibri"/>
              </a:rPr>
              <a:t>5.  </a:t>
            </a:r>
            <a:r>
              <a:rPr sz="1800" b="0" i="0">
                <a:solidFill>
                  <a:srgbClr val="26323F"/>
                </a:solidFill>
                <a:latin typeface="Calibri"/>
              </a:rPr>
              <a:t>High-Level Design and Methodology (sound, vibration, fusion)</a:t>
            </a:r>
          </a:p>
          <a:p>
            <a:pPr algn="l">
              <a:spcAft>
                <a:spcPts val="700"/>
              </a:spcAft>
            </a:pPr>
            <a:r>
              <a:rPr sz="1800" b="1" i="0">
                <a:solidFill>
                  <a:srgbClr val="25578F"/>
                </a:solidFill>
                <a:latin typeface="Calibri"/>
              </a:rPr>
              <a:t>6.  </a:t>
            </a:r>
            <a:r>
              <a:rPr sz="1800" b="0" i="0">
                <a:solidFill>
                  <a:srgbClr val="26323F"/>
                </a:solidFill>
                <a:latin typeface="Calibri"/>
              </a:rPr>
              <a:t>Implementation Progress</a:t>
            </a:r>
          </a:p>
          <a:p>
            <a:pPr algn="l">
              <a:spcAft>
                <a:spcPts val="700"/>
              </a:spcAft>
            </a:pPr>
            <a:r>
              <a:rPr sz="1800" b="1" i="0">
                <a:solidFill>
                  <a:srgbClr val="25578F"/>
                </a:solidFill>
                <a:latin typeface="Calibri"/>
              </a:rPr>
              <a:t>7.  </a:t>
            </a:r>
            <a:r>
              <a:rPr sz="1800" b="0" i="0">
                <a:solidFill>
                  <a:srgbClr val="26323F"/>
                </a:solidFill>
                <a:latin typeface="Calibri"/>
              </a:rPr>
              <a:t>Results and Implementation Screenshots</a:t>
            </a:r>
          </a:p>
          <a:p>
            <a:pPr algn="l">
              <a:spcAft>
                <a:spcPts val="700"/>
              </a:spcAft>
            </a:pPr>
            <a:r>
              <a:rPr sz="1800" b="1" i="0">
                <a:solidFill>
                  <a:srgbClr val="25578F"/>
                </a:solidFill>
                <a:latin typeface="Calibri"/>
              </a:rPr>
              <a:t>8.  </a:t>
            </a:r>
            <a:r>
              <a:rPr sz="1800" b="0" i="0">
                <a:solidFill>
                  <a:srgbClr val="26323F"/>
                </a:solidFill>
                <a:latin typeface="Calibri"/>
              </a:rPr>
              <a:t>Challenges, Mitigation and Future Plan</a:t>
            </a:r>
          </a:p>
          <a:p>
            <a:pPr algn="l">
              <a:spcAft>
                <a:spcPts val="700"/>
              </a:spcAft>
            </a:pPr>
            <a:r>
              <a:rPr sz="1800" b="1" i="0">
                <a:solidFill>
                  <a:srgbClr val="25578F"/>
                </a:solidFill>
                <a:latin typeface="Calibri"/>
              </a:rPr>
              <a:t>9.  </a:t>
            </a:r>
            <a:r>
              <a:rPr sz="1800" b="0" i="0">
                <a:solidFill>
                  <a:srgbClr val="26323F"/>
                </a:solidFill>
                <a:latin typeface="Calibri"/>
              </a:rPr>
              <a:t>Team Contribution and Deliverables</a:t>
            </a:r>
          </a:p>
          <a:p>
            <a:pPr algn="l">
              <a:spcAft>
                <a:spcPts val="700"/>
              </a:spcAft>
            </a:pPr>
            <a:r>
              <a:rPr sz="1800" b="1" i="0">
                <a:solidFill>
                  <a:srgbClr val="25578F"/>
                </a:solidFill>
                <a:latin typeface="Calibri"/>
              </a:rPr>
              <a:t>10.  </a:t>
            </a:r>
            <a:r>
              <a:rPr sz="1800" b="0" i="0">
                <a:solidFill>
                  <a:srgbClr val="26323F"/>
                </a:solidFill>
                <a:latin typeface="Calibri"/>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a:xfrm>
            <a:off x="1234440" y="475488"/>
            <a:ext cx="6492240" cy="777240"/>
          </a:xfrm>
          <a:ln/>
        </p:spPr>
        <p:txBody>
          <a:bodyPr vert="horz" wrap="square" lIns="91440" tIns="45720" rIns="91440" bIns="45720" anchor="ctr" anchorCtr="0">
            <a:noAutofit/>
          </a:bodyPr>
          <a:p>
            <a:pPr eaLnBrk="1" hangingPunct="1" algn="ctr"/>
            <a:r>
              <a:rPr sz="3000">
                <a:latin typeface="Calibri"/>
              </a:rPr>
              <a:t>Abstract</a:t>
            </a:r>
            <a:endParaRPr lang="en-IN" altLang="en-US" b="1" dirty="0">
              <a:latin typeface="Calibri" panose="020F0502020204030204" pitchFamily="34" charset="0"/>
              <a:ea typeface="Calibri" panose="020F0502020204030204" pitchFamily="34" charset="0"/>
            </a:endParaRP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0485" name="TextBox 20484"/>
          <p:cNvSpPr txBox="1"/>
          <p:nvPr/>
        </p:nvSpPr>
        <p:spPr>
          <a:xfrm>
            <a:off x="1097280" y="1371600"/>
            <a:ext cx="7680960" cy="4572000"/>
          </a:xfrm>
          <a:prstGeom prst="rect">
            <a:avLst/>
          </a:prstGeom>
          <a:noFill/>
        </p:spPr>
        <p:txBody>
          <a:bodyPr wrap="square" lIns="54864" rIns="54864" tIns="27432" bIns="27432" anchor="t">
            <a:noAutofit/>
          </a:bodyPr>
          <a:lstStyle/>
          <a:p>
            <a:pPr algn="l">
              <a:spcAft>
                <a:spcPts val="900"/>
              </a:spcAft>
            </a:pPr>
            <a:r>
              <a:rPr sz="1350" b="0" i="0">
                <a:solidFill>
                  <a:srgbClr val="26323F"/>
                </a:solidFill>
                <a:latin typeface="Calibri"/>
              </a:rPr>
              <a:t>Small and medium enterprises (SMEs) run fans, pumps and slide rails until they break, because faults usually go unnoticed until the machine fails or stops. A sudden failure can injure workers, halt production for days, waste broken products, and waste energy and resources, which harms the environment. Existing monitoring systems are costly and need cloud connectivity. We are therefore building a low-cost edge AI device (ESP32-S3 microcontroller, digital microphone and vibration sensor) around a small unsupervised autoencoder that learns what a machine sounds like when it is healthy and raises an alert when the sound changes. However, factories use many types and brands of fans, so training one model for all of them is inefficient. At installation, 60 healthy clips (about 10 minutes) calibrate the device to its own machine: they set the feature levels and the alert level, with no retraining and no fault examples.</a:t>
            </a:r>
          </a:p>
          <a:p>
            <a:pPr algn="l">
              <a:spcAft>
                <a:spcPts val="900"/>
              </a:spcAft>
            </a:pPr>
            <a:r>
              <a:rPr sz="1350" b="0" i="0">
                <a:solidFill>
                  <a:srgbClr val="26323F"/>
                </a:solidFill>
                <a:latin typeface="Calibri"/>
              </a:rPr>
              <a:t>On the public MIMII dataset, tested on machines the model had never heard, calibration lifts AUC from near chance (fans, pumps) to 0.92-0.96 for fans, pumps and sliders at 6 dB, and models of 2.4k-6.9k parameters match a 50k-parameter baseline. Valves and heavy noise are not solved yet. Separate vibration experiments found that a CNN performs better than an autoencoder for the motor alone; the motor-health output is planned to support the sound decision and reduce false alarms. Hardware, sound-vibration fusion and the energy and noise estimate are the next phase.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34440" y="475488"/>
            <a:ext cx="6492240" cy="777240"/>
          </a:xfrm>
        </p:spPr>
        <p:txBody>
          <a:bodyPr vert="horz" wrap="square" lIns="91440" tIns="45720" rIns="91440" bIns="45720" numCol="1" rtlCol="0" anchor="ctr" anchorCtr="0" compatLnSpc="1">
            <a:noAutofit/>
          </a:bodyPr>
          <a:lstStyle/>
          <a:p>
            <a:pPr marL="0" marR="0" lvl="0" indent="0" algn="ctr" defTabSz="457200" rtl="0" eaLnBrk="1" fontAlgn="auto" latinLnBrk="0" hangingPunct="1">
              <a:lnSpc>
                <a:spcPct val="100000"/>
              </a:lnSpc>
              <a:spcBef>
                <a:spcPct val="0"/>
              </a:spcBef>
              <a:spcAft>
                <a:spcPts val="0"/>
              </a:spcAft>
              <a:buClrTx/>
              <a:buSzTx/>
              <a:buFontTx/>
              <a:buNone/>
              <a:defRPr/>
            </a:pPr>
            <a:r>
              <a:rPr sz="3000">
                <a:latin typeface="Calibri"/>
              </a:rPr>
              <a:t>Project Objectives</a:t>
            </a:r>
            <a:endParaRPr kumimoji="0" lang="en-IN" sz="3600" b="1" i="0" u="none" strike="noStrike" kern="1200" cap="none" spc="0" normalizeH="0" baseline="0" noProof="0" dirty="0">
              <a:ln>
                <a:noFill/>
              </a:ln>
              <a:solidFill>
                <a:schemeClr val="accent2">
                  <a:lumMod val="75000"/>
                </a:schemeClr>
              </a:solidFill>
              <a:effectLst/>
              <a:uLnTx/>
              <a:uFillTx/>
              <a:latin typeface="Calibri" panose="020F0502020204030204" pitchFamily="34" charset="0"/>
              <a:ea typeface="+mj-ea"/>
              <a:cs typeface="Calibri" panose="020F0502020204030204" pitchFamily="34" charset="0"/>
            </a:endParaRPr>
          </a:p>
        </p:txBody>
      </p:sp>
      <p:sp>
        <p:nvSpPr>
          <p:cNvPr id="21507" name="Slide Number Placeholder 2"/>
          <p:cNvSpPr txBox="1">
            <a:spLocks noGrp="1"/>
          </p:cNvSpPr>
          <p:nvPr>
            <p:ph type="sldNum" sz="quarter" idx="4"/>
          </p:nvPr>
        </p:nvSpPr>
        <p:spPr>
          <a:xfrm>
            <a:off x="8243888" y="6156325"/>
            <a:ext cx="5857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5FB05B1B-9762-4603-A45F-B5AA1F1781ED}"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257800"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1508" name="Rectangle 21507"/>
          <p:cNvSpPr/>
          <p:nvPr/>
        </p:nvSpPr>
        <p:spPr>
          <a:xfrm>
            <a:off x="1143000" y="1371600"/>
            <a:ext cx="1828800" cy="1042415"/>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500" b="1">
                <a:solidFill>
                  <a:srgbClr val="FFFFFF"/>
                </a:solidFill>
                <a:latin typeface="Calibri"/>
              </a:rPr>
              <a:t>Purpose and Objectives</a:t>
            </a:r>
          </a:p>
        </p:txBody>
      </p:sp>
      <p:sp>
        <p:nvSpPr>
          <p:cNvPr id="21509" name="Rectangle 21508"/>
          <p:cNvSpPr/>
          <p:nvPr/>
        </p:nvSpPr>
        <p:spPr>
          <a:xfrm>
            <a:off x="2971800" y="1371600"/>
            <a:ext cx="5760720" cy="1042415"/>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1510" name="TextBox 21509"/>
          <p:cNvSpPr txBox="1"/>
          <p:nvPr/>
        </p:nvSpPr>
        <p:spPr>
          <a:xfrm>
            <a:off x="3017520" y="1371600"/>
            <a:ext cx="5669280" cy="1042415"/>
          </a:xfrm>
          <a:prstGeom prst="rect">
            <a:avLst/>
          </a:prstGeom>
          <a:noFill/>
        </p:spPr>
        <p:txBody>
          <a:bodyPr wrap="square" lIns="54864" rIns="54864" tIns="27432" bIns="27432" anchor="ctr">
            <a:noAutofit/>
          </a:bodyPr>
          <a:lstStyle/>
          <a:p>
            <a:pPr algn="l">
              <a:spcAft>
                <a:spcPts val="0"/>
              </a:spcAft>
            </a:pPr>
            <a:r>
              <a:rPr sz="1250" b="1" i="0">
                <a:solidFill>
                  <a:srgbClr val="25578F"/>
                </a:solidFill>
                <a:latin typeface="Calibri"/>
              </a:rPr>
              <a:t>Purpose: </a:t>
            </a:r>
            <a:r>
              <a:rPr sz="1250" b="0" i="0">
                <a:solidFill>
                  <a:srgbClr val="26323F"/>
                </a:solidFill>
                <a:latin typeface="Calibri"/>
              </a:rPr>
              <a:t>detect faulty industrial machines early, on the device itself, at low cost.</a:t>
            </a:r>
          </a:p>
          <a:p>
            <a:pPr algn="l">
              <a:spcAft>
                <a:spcPts val="0"/>
              </a:spcAft>
            </a:pPr>
            <a:r>
              <a:rPr sz="1250" b="1" i="0">
                <a:solidFill>
                  <a:srgbClr val="25578F"/>
                </a:solidFill>
                <a:latin typeface="Calibri"/>
              </a:rPr>
              <a:t>Objectives: </a:t>
            </a:r>
            <a:r>
              <a:rPr sz="1250" b="0" i="0">
                <a:solidFill>
                  <a:srgbClr val="26323F"/>
                </a:solidFill>
                <a:latin typeface="Calibri"/>
              </a:rPr>
              <a:t>(1) learn each machine's healthy behaviour from sound and vibration; (2) adapt to a new machine with a short calibration, without retraining; (3) reach ROC-AUC above 0.90 with a low false-alarm rate; (4) run offline on an ESP32-S3; (5) estimate the extra energy and noise a fault causes.</a:t>
            </a:r>
          </a:p>
        </p:txBody>
      </p:sp>
      <p:sp>
        <p:nvSpPr>
          <p:cNvPr id="21511" name="Rectangle 21510"/>
          <p:cNvSpPr/>
          <p:nvPr/>
        </p:nvSpPr>
        <p:spPr>
          <a:xfrm>
            <a:off x="1143000" y="2505456"/>
            <a:ext cx="1828800" cy="1042415"/>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500" b="1">
                <a:solidFill>
                  <a:srgbClr val="FFFFFF"/>
                </a:solidFill>
                <a:latin typeface="Calibri"/>
              </a:rPr>
              <a:t>Problem and relevance</a:t>
            </a:r>
          </a:p>
        </p:txBody>
      </p:sp>
      <p:sp>
        <p:nvSpPr>
          <p:cNvPr id="21512" name="Rectangle 21511"/>
          <p:cNvSpPr/>
          <p:nvPr/>
        </p:nvSpPr>
        <p:spPr>
          <a:xfrm>
            <a:off x="2971800" y="2505456"/>
            <a:ext cx="5760720" cy="1042415"/>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1513" name="TextBox 21512"/>
          <p:cNvSpPr txBox="1"/>
          <p:nvPr/>
        </p:nvSpPr>
        <p:spPr>
          <a:xfrm>
            <a:off x="3017520" y="2505456"/>
            <a:ext cx="5669280" cy="1042415"/>
          </a:xfrm>
          <a:prstGeom prst="rect">
            <a:avLst/>
          </a:prstGeom>
          <a:noFill/>
        </p:spPr>
        <p:txBody>
          <a:bodyPr wrap="square" lIns="54864" rIns="54864" tIns="27432" bIns="27432" anchor="ctr">
            <a:noAutofit/>
          </a:bodyPr>
          <a:lstStyle/>
          <a:p>
            <a:pPr algn="l">
              <a:spcAft>
                <a:spcPts val="0"/>
              </a:spcAft>
            </a:pPr>
            <a:r>
              <a:rPr sz="1250" b="0" i="0">
                <a:solidFill>
                  <a:srgbClr val="26323F"/>
                </a:solidFill>
                <a:latin typeface="Calibri"/>
              </a:rPr>
              <a:t>Small and medium factories run machines until they fail, so faults are found late and cause downtime, injury risk, scrap and wasted energy. Commercial monitors are costly and need cloud connectivity, which is unreliable inside factories. The work fits the SIH theme Smart Industrial Automation and SDGs 7, 9 and 12.</a:t>
            </a:r>
          </a:p>
        </p:txBody>
      </p:sp>
      <p:sp>
        <p:nvSpPr>
          <p:cNvPr id="21514" name="Rectangle 21513"/>
          <p:cNvSpPr/>
          <p:nvPr/>
        </p:nvSpPr>
        <p:spPr>
          <a:xfrm>
            <a:off x="1143000" y="3639312"/>
            <a:ext cx="1828800" cy="1042415"/>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500" b="1">
                <a:solidFill>
                  <a:srgbClr val="FFFFFF"/>
                </a:solidFill>
                <a:latin typeface="Calibri"/>
              </a:rPr>
              <a:t>Scope boundaries</a:t>
            </a:r>
          </a:p>
        </p:txBody>
      </p:sp>
      <p:sp>
        <p:nvSpPr>
          <p:cNvPr id="21515" name="Rectangle 21514"/>
          <p:cNvSpPr/>
          <p:nvPr/>
        </p:nvSpPr>
        <p:spPr>
          <a:xfrm>
            <a:off x="2971800" y="3639312"/>
            <a:ext cx="5760720" cy="1042415"/>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1516" name="TextBox 21515"/>
          <p:cNvSpPr txBox="1"/>
          <p:nvPr/>
        </p:nvSpPr>
        <p:spPr>
          <a:xfrm>
            <a:off x="3017520" y="3639312"/>
            <a:ext cx="5669280" cy="1042415"/>
          </a:xfrm>
          <a:prstGeom prst="rect">
            <a:avLst/>
          </a:prstGeom>
          <a:noFill/>
        </p:spPr>
        <p:txBody>
          <a:bodyPr wrap="square" lIns="54864" rIns="54864" tIns="27432" bIns="27432" anchor="ctr">
            <a:noAutofit/>
          </a:bodyPr>
          <a:lstStyle/>
          <a:p>
            <a:pPr algn="l">
              <a:spcAft>
                <a:spcPts val="0"/>
              </a:spcAft>
            </a:pPr>
            <a:r>
              <a:rPr sz="1250" b="0" i="0">
                <a:solidFill>
                  <a:srgbClr val="26323F"/>
                </a:solidFill>
                <a:latin typeface="Calibri"/>
              </a:rPr>
              <a:t>In scope: sound-based anomaly detection with calibration (built and tested on a laptop with public data), vibration-based motor health, and their combination on our own rig. Not in scope for now: identifying the type of fault, thermal sensing, and a formal environmental impact assessment.</a:t>
            </a:r>
          </a:p>
        </p:txBody>
      </p:sp>
      <p:sp>
        <p:nvSpPr>
          <p:cNvPr id="21517" name="Rectangle 21516"/>
          <p:cNvSpPr/>
          <p:nvPr/>
        </p:nvSpPr>
        <p:spPr>
          <a:xfrm>
            <a:off x="1143000" y="4773168"/>
            <a:ext cx="1828800" cy="1042415"/>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500" b="1">
                <a:solidFill>
                  <a:srgbClr val="FFFFFF"/>
                </a:solidFill>
                <a:latin typeface="Calibri"/>
              </a:rPr>
              <a:t>Key Deliverables</a:t>
            </a:r>
          </a:p>
        </p:txBody>
      </p:sp>
      <p:sp>
        <p:nvSpPr>
          <p:cNvPr id="21518" name="Rectangle 21517"/>
          <p:cNvSpPr/>
          <p:nvPr/>
        </p:nvSpPr>
        <p:spPr>
          <a:xfrm>
            <a:off x="2971800" y="4773168"/>
            <a:ext cx="5760720" cy="1042415"/>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1519" name="TextBox 21518"/>
          <p:cNvSpPr txBox="1"/>
          <p:nvPr/>
        </p:nvSpPr>
        <p:spPr>
          <a:xfrm>
            <a:off x="3017520" y="4773168"/>
            <a:ext cx="5669280" cy="1042415"/>
          </a:xfrm>
          <a:prstGeom prst="rect">
            <a:avLst/>
          </a:prstGeom>
          <a:noFill/>
        </p:spPr>
        <p:txBody>
          <a:bodyPr wrap="square" lIns="54864" rIns="54864" tIns="27432" bIns="27432" anchor="ctr">
            <a:noAutofit/>
          </a:bodyPr>
          <a:lstStyle/>
          <a:p>
            <a:pPr algn="l">
              <a:spcAft>
                <a:spcPts val="0"/>
              </a:spcAft>
            </a:pPr>
            <a:r>
              <a:rPr sz="1250" b="0" i="0">
                <a:solidFill>
                  <a:srgbClr val="26323F"/>
                </a:solidFill>
                <a:latin typeface="Calibri"/>
              </a:rPr>
              <a:t>Calibrated sound detector with evaluation suite and dashboard (done); vibration health model; fusion logic; ESP32-S3 prototype with LED output; test-rig results; energy and noise estimate; research paper and patent filing.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a:xfrm>
            <a:off x="1234440" y="475488"/>
            <a:ext cx="6492240" cy="777240"/>
          </a:xfrm>
          <a:ln/>
        </p:spPr>
        <p:txBody>
          <a:bodyPr vert="horz" wrap="square" lIns="91440" tIns="45720" rIns="91440" bIns="45720" anchor="ctr" anchorCtr="0">
            <a:noAutofit/>
          </a:bodyPr>
          <a:p>
            <a:pPr algn="ctr" eaLnBrk="1" hangingPunct="1"/>
            <a:r>
              <a:rPr sz="2800">
                <a:latin typeface="Calibri"/>
              </a:rPr>
              <a:t>Requirement Specification &amp; Validation</a:t>
            </a:r>
            <a:endParaRPr lang="en-IN" altLang="en-US" dirty="0">
              <a:latin typeface="Calibri" panose="020F0502020204030204" pitchFamily="34" charset="0"/>
              <a:ea typeface="Calibri" panose="020F0502020204030204" pitchFamily="34" charset="0"/>
            </a:endParaRPr>
          </a:p>
        </p:txBody>
      </p:sp>
      <p:sp>
        <p:nvSpPr>
          <p:cNvPr id="22532"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BCA46945-D6FD-4D2B-A870-C7080251F0A1}"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2533" name="Rectangle 22532"/>
          <p:cNvSpPr/>
          <p:nvPr/>
        </p:nvSpPr>
        <p:spPr>
          <a:xfrm>
            <a:off x="1143000" y="1371600"/>
            <a:ext cx="2011680" cy="84124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FFFFFF"/>
                </a:solidFill>
                <a:latin typeface="Calibri"/>
              </a:rPr>
              <a:t>Target users</a:t>
            </a:r>
          </a:p>
        </p:txBody>
      </p:sp>
      <p:sp>
        <p:nvSpPr>
          <p:cNvPr id="22534" name="Rectangle 22533"/>
          <p:cNvSpPr/>
          <p:nvPr/>
        </p:nvSpPr>
        <p:spPr>
          <a:xfrm>
            <a:off x="3154680" y="1371600"/>
            <a:ext cx="5577840" cy="841248"/>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2535" name="TextBox 22534"/>
          <p:cNvSpPr txBox="1"/>
          <p:nvPr/>
        </p:nvSpPr>
        <p:spPr>
          <a:xfrm>
            <a:off x="3200400" y="1371600"/>
            <a:ext cx="5486400" cy="841248"/>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Small and medium factories running fans, pumps, motors and slide rails, and their maintenance staff, who need a simple green/red indication without data-science skills or cloud services.</a:t>
            </a:r>
          </a:p>
        </p:txBody>
      </p:sp>
      <p:sp>
        <p:nvSpPr>
          <p:cNvPr id="22536" name="Rectangle 22535"/>
          <p:cNvSpPr/>
          <p:nvPr/>
        </p:nvSpPr>
        <p:spPr>
          <a:xfrm>
            <a:off x="1143000" y="2276856"/>
            <a:ext cx="2011680" cy="84124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FFFFFF"/>
                </a:solidFill>
                <a:latin typeface="Calibri"/>
              </a:rPr>
              <a:t>Expected outcomes and goals</a:t>
            </a:r>
          </a:p>
        </p:txBody>
      </p:sp>
      <p:sp>
        <p:nvSpPr>
          <p:cNvPr id="22537" name="Rectangle 22536"/>
          <p:cNvSpPr/>
          <p:nvPr/>
        </p:nvSpPr>
        <p:spPr>
          <a:xfrm>
            <a:off x="3154680" y="2276856"/>
            <a:ext cx="5577840" cy="841248"/>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2538" name="TextBox 22537"/>
          <p:cNvSpPr txBox="1"/>
          <p:nvPr/>
        </p:nvSpPr>
        <p:spPr>
          <a:xfrm>
            <a:off x="3200400" y="2276856"/>
            <a:ext cx="5486400" cy="841248"/>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A standalone, low-cost device that alerts offline; setup on a new machine after about 10 minutes of healthy sound; ROC-AUC above 0.90 with a low false-alarm rate; a measured estimate of the extra energy and noise a fault causes.</a:t>
            </a:r>
          </a:p>
        </p:txBody>
      </p:sp>
      <p:sp>
        <p:nvSpPr>
          <p:cNvPr id="22539" name="Rectangle 22538"/>
          <p:cNvSpPr/>
          <p:nvPr/>
        </p:nvSpPr>
        <p:spPr>
          <a:xfrm>
            <a:off x="1143000" y="3182112"/>
            <a:ext cx="2011680" cy="84124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FFFFFF"/>
                </a:solidFill>
                <a:latin typeface="Calibri"/>
              </a:rPr>
              <a:t>Tech / tools</a:t>
            </a:r>
          </a:p>
        </p:txBody>
      </p:sp>
      <p:sp>
        <p:nvSpPr>
          <p:cNvPr id="22540" name="Rectangle 22539"/>
          <p:cNvSpPr/>
          <p:nvPr/>
        </p:nvSpPr>
        <p:spPr>
          <a:xfrm>
            <a:off x="3154680" y="3182112"/>
            <a:ext cx="5577840" cy="841248"/>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2541" name="TextBox 22540"/>
          <p:cNvSpPr txBox="1"/>
          <p:nvPr/>
        </p:nvSpPr>
        <p:spPr>
          <a:xfrm>
            <a:off x="3200400" y="3182112"/>
            <a:ext cx="5486400" cy="841248"/>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Python, PyTorch, librosa and scikit-learn for modelling; MIMII (sound) and CWRU (vibration) datasets. Planned: ESP32-S3, INMP441 microphone, MPU6050 vibration sensor, INA219 power sensor, C++ firmware with TFLite Micro.</a:t>
            </a:r>
          </a:p>
        </p:txBody>
      </p:sp>
      <p:sp>
        <p:nvSpPr>
          <p:cNvPr id="22542" name="Rectangle 22541"/>
          <p:cNvSpPr/>
          <p:nvPr/>
        </p:nvSpPr>
        <p:spPr>
          <a:xfrm>
            <a:off x="1143000" y="4087368"/>
            <a:ext cx="2011680" cy="84124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FFFFFF"/>
                </a:solidFill>
                <a:latin typeface="Calibri"/>
              </a:rPr>
              <a:t>Assumptions &amp; constraints</a:t>
            </a:r>
          </a:p>
        </p:txBody>
      </p:sp>
      <p:sp>
        <p:nvSpPr>
          <p:cNvPr id="22543" name="Rectangle 22542"/>
          <p:cNvSpPr/>
          <p:nvPr/>
        </p:nvSpPr>
        <p:spPr>
          <a:xfrm>
            <a:off x="3154680" y="4087368"/>
            <a:ext cx="5577840" cy="841248"/>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2544" name="TextBox 22543"/>
          <p:cNvSpPr txBox="1"/>
          <p:nvPr/>
        </p:nvSpPr>
        <p:spPr>
          <a:xfrm>
            <a:off x="3200400" y="4087368"/>
            <a:ext cx="5486400" cy="841248"/>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The machine is healthy while calibrating, and calibration is done in the noise it normally runs in. One microphone is used. No hardware is in hand yet, so all results so far come from laptop simulations with recorded data.</a:t>
            </a:r>
          </a:p>
        </p:txBody>
      </p:sp>
      <p:sp>
        <p:nvSpPr>
          <p:cNvPr id="22545" name="Rectangle 22544"/>
          <p:cNvSpPr/>
          <p:nvPr/>
        </p:nvSpPr>
        <p:spPr>
          <a:xfrm>
            <a:off x="1143000" y="4992624"/>
            <a:ext cx="2011680" cy="841248"/>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400" b="1">
                <a:solidFill>
                  <a:srgbClr val="FFFFFF"/>
                </a:solidFill>
                <a:latin typeface="Calibri"/>
              </a:rPr>
              <a:t>Validation</a:t>
            </a:r>
          </a:p>
        </p:txBody>
      </p:sp>
      <p:sp>
        <p:nvSpPr>
          <p:cNvPr id="22546" name="Rectangle 22545"/>
          <p:cNvSpPr/>
          <p:nvPr/>
        </p:nvSpPr>
        <p:spPr>
          <a:xfrm>
            <a:off x="3154680" y="4992624"/>
            <a:ext cx="5577840" cy="841248"/>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2547" name="TextBox 22546"/>
          <p:cNvSpPr txBox="1"/>
          <p:nvPr/>
        </p:nvSpPr>
        <p:spPr>
          <a:xfrm>
            <a:off x="3200400" y="4992624"/>
            <a:ext cx="5486400" cy="841248"/>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Leave-one-machine-out testing (the model never sees the test machine), one machine sealed from all design choices, 3 random seeds, and AUC, precision, recall, F1 and false-alarm rate reported. A test on our own fan with a phone microphone.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itle 1"/>
          <p:cNvSpPr>
            <a:spLocks noGrp="1"/>
          </p:cNvSpPr>
          <p:nvPr>
            <p:ph type="title"/>
          </p:nvPr>
        </p:nvSpPr>
        <p:spPr>
          <a:xfrm>
            <a:off x="1234440" y="475488"/>
            <a:ext cx="6492240" cy="777240"/>
          </a:xfrm>
          <a:ln/>
        </p:spPr>
        <p:txBody>
          <a:bodyPr vert="horz" wrap="square" lIns="91440" tIns="45720" rIns="91440" bIns="45720" anchor="ctr" anchorCtr="0">
            <a:noAutofit/>
          </a:bodyPr>
          <a:p>
            <a:pPr eaLnBrk="1" hangingPunct="1" algn="ctr"/>
            <a:r>
              <a:rPr sz="3000">
                <a:latin typeface="Calibri"/>
              </a:rPr>
              <a:t>Innovation &amp; Potential Impact</a:t>
            </a:r>
            <a:endParaRPr lang="en-IN" altLang="en-US" dirty="0">
              <a:latin typeface="Calibri" panose="020F0502020204030204" pitchFamily="34" charset="0"/>
              <a:ea typeface="Calibri" panose="020F0502020204030204" pitchFamily="34" charset="0"/>
            </a:endParaRPr>
          </a:p>
        </p:txBody>
      </p:sp>
      <p:sp>
        <p:nvSpPr>
          <p:cNvPr id="23556"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266F013C-0AF5-409F-B760-D3BF1868ADB5}"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3557" name="Rectangle 23556"/>
          <p:cNvSpPr/>
          <p:nvPr/>
        </p:nvSpPr>
        <p:spPr>
          <a:xfrm>
            <a:off x="1143000" y="1325880"/>
            <a:ext cx="2286000" cy="54864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FFFFFF"/>
                </a:solidFill>
                <a:latin typeface="Calibri"/>
              </a:rPr>
              <a:t>Innovation aspects</a:t>
            </a:r>
          </a:p>
        </p:txBody>
      </p:sp>
      <p:sp>
        <p:nvSpPr>
          <p:cNvPr id="23558" name="Rectangle 23557"/>
          <p:cNvSpPr/>
          <p:nvPr/>
        </p:nvSpPr>
        <p:spPr>
          <a:xfrm>
            <a:off x="3429000" y="1325880"/>
            <a:ext cx="5303520" cy="54864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3559" name="TextBox 23558"/>
          <p:cNvSpPr txBox="1"/>
          <p:nvPr/>
        </p:nvSpPr>
        <p:spPr>
          <a:xfrm>
            <a:off x="3474720" y="1325880"/>
            <a:ext cx="5212080" cy="548640"/>
          </a:xfrm>
          <a:prstGeom prst="rect">
            <a:avLst/>
          </a:prstGeom>
          <a:noFill/>
        </p:spPr>
        <p:txBody>
          <a:bodyPr wrap="square" lIns="54864" rIns="54864" tIns="27432" bIns="27432" anchor="ctr">
            <a:noAutofit/>
          </a:bodyPr>
          <a:lstStyle/>
          <a:p>
            <a:pPr algn="l">
              <a:spcAft>
                <a:spcPts val="0"/>
              </a:spcAft>
            </a:pPr>
            <a:r>
              <a:rPr sz="1150" b="0" i="0">
                <a:solidFill>
                  <a:srgbClr val="26323F"/>
                </a:solidFill>
                <a:latin typeface="Calibri"/>
              </a:rPr>
              <a:t>A multi-modal node: a sound autoencoder that calibrates to each machine in about 10 minutes, supported by vibration-based motor health to reduce false alarms.</a:t>
            </a:r>
          </a:p>
        </p:txBody>
      </p:sp>
      <p:sp>
        <p:nvSpPr>
          <p:cNvPr id="23560" name="Rectangle 23559"/>
          <p:cNvSpPr/>
          <p:nvPr/>
        </p:nvSpPr>
        <p:spPr>
          <a:xfrm>
            <a:off x="1143000" y="1901952"/>
            <a:ext cx="2286000" cy="54864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FFFFFF"/>
                </a:solidFill>
                <a:latin typeface="Calibri"/>
              </a:rPr>
              <a:t>Differentiators</a:t>
            </a:r>
          </a:p>
        </p:txBody>
      </p:sp>
      <p:sp>
        <p:nvSpPr>
          <p:cNvPr id="23561" name="Rectangle 23560"/>
          <p:cNvSpPr/>
          <p:nvPr/>
        </p:nvSpPr>
        <p:spPr>
          <a:xfrm>
            <a:off x="3429000" y="1901952"/>
            <a:ext cx="5303520" cy="54864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3562" name="TextBox 23561"/>
          <p:cNvSpPr txBox="1"/>
          <p:nvPr/>
        </p:nvSpPr>
        <p:spPr>
          <a:xfrm>
            <a:off x="3474720" y="1901952"/>
            <a:ext cx="5212080" cy="548640"/>
          </a:xfrm>
          <a:prstGeom prst="rect">
            <a:avLst/>
          </a:prstGeom>
          <a:noFill/>
        </p:spPr>
        <p:txBody>
          <a:bodyPr wrap="square" lIns="54864" rIns="54864" tIns="27432" bIns="27432" anchor="ctr">
            <a:noAutofit/>
          </a:bodyPr>
          <a:lstStyle/>
          <a:p>
            <a:pPr algn="l">
              <a:spcAft>
                <a:spcPts val="0"/>
              </a:spcAft>
            </a:pPr>
            <a:r>
              <a:rPr sz="1150" b="0" i="0">
                <a:solidFill>
                  <a:srgbClr val="26323F"/>
                </a:solidFill>
                <a:latin typeface="Calibri"/>
              </a:rPr>
              <a:t>Tiny models (2.4k-6.9k parameters) and no retraining or fault examples for sound; tested on machines unseen in training, with failures reported.</a:t>
            </a:r>
          </a:p>
        </p:txBody>
      </p:sp>
      <p:sp>
        <p:nvSpPr>
          <p:cNvPr id="23563" name="Rectangle 23562"/>
          <p:cNvSpPr/>
          <p:nvPr/>
        </p:nvSpPr>
        <p:spPr>
          <a:xfrm>
            <a:off x="1143000" y="2478024"/>
            <a:ext cx="2286000" cy="54864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FFFFFF"/>
                </a:solidFill>
                <a:latin typeface="Calibri"/>
              </a:rPr>
              <a:t>Creative problem solving</a:t>
            </a:r>
          </a:p>
        </p:txBody>
      </p:sp>
      <p:sp>
        <p:nvSpPr>
          <p:cNvPr id="23564" name="Rectangle 23563"/>
          <p:cNvSpPr/>
          <p:nvPr/>
        </p:nvSpPr>
        <p:spPr>
          <a:xfrm>
            <a:off x="3429000" y="2478024"/>
            <a:ext cx="5303520" cy="54864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3565" name="TextBox 23564"/>
          <p:cNvSpPr txBox="1"/>
          <p:nvPr/>
        </p:nvSpPr>
        <p:spPr>
          <a:xfrm>
            <a:off x="3474720" y="2478024"/>
            <a:ext cx="5212080" cy="548640"/>
          </a:xfrm>
          <a:prstGeom prst="rect">
            <a:avLst/>
          </a:prstGeom>
          <a:noFill/>
        </p:spPr>
        <p:txBody>
          <a:bodyPr wrap="square" lIns="54864" rIns="54864" tIns="27432" bIns="27432" anchor="ctr">
            <a:noAutofit/>
          </a:bodyPr>
          <a:lstStyle/>
          <a:p>
            <a:pPr algn="l">
              <a:spcAft>
                <a:spcPts val="0"/>
              </a:spcAft>
            </a:pPr>
            <a:r>
              <a:rPr sz="1150" b="0" i="0">
                <a:solidFill>
                  <a:srgbClr val="26323F"/>
                </a:solidFill>
                <a:latin typeface="Calibri"/>
              </a:rPr>
              <a:t>Per-machine standardisation plus a per-machine alert level (both needed, shown by ablation); a revised alert-level rule; other models may be combined with the autoencoder.</a:t>
            </a:r>
          </a:p>
        </p:txBody>
      </p:sp>
      <p:sp>
        <p:nvSpPr>
          <p:cNvPr id="23566" name="Rectangle 23565"/>
          <p:cNvSpPr/>
          <p:nvPr/>
        </p:nvSpPr>
        <p:spPr>
          <a:xfrm>
            <a:off x="1143000" y="3054096"/>
            <a:ext cx="2286000" cy="54864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FFFFFF"/>
                </a:solidFill>
                <a:latin typeface="Calibri"/>
              </a:rPr>
              <a:t>Potential impact</a:t>
            </a:r>
          </a:p>
        </p:txBody>
      </p:sp>
      <p:sp>
        <p:nvSpPr>
          <p:cNvPr id="23567" name="Rectangle 23566"/>
          <p:cNvSpPr/>
          <p:nvPr/>
        </p:nvSpPr>
        <p:spPr>
          <a:xfrm>
            <a:off x="3429000" y="3054096"/>
            <a:ext cx="5303520" cy="54864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3568" name="TextBox 23567"/>
          <p:cNvSpPr txBox="1"/>
          <p:nvPr/>
        </p:nvSpPr>
        <p:spPr>
          <a:xfrm>
            <a:off x="3474720" y="3054096"/>
            <a:ext cx="5212080" cy="548640"/>
          </a:xfrm>
          <a:prstGeom prst="rect">
            <a:avLst/>
          </a:prstGeom>
          <a:noFill/>
        </p:spPr>
        <p:txBody>
          <a:bodyPr wrap="square" lIns="54864" rIns="54864" tIns="27432" bIns="27432" anchor="ctr">
            <a:noAutofit/>
          </a:bodyPr>
          <a:lstStyle/>
          <a:p>
            <a:pPr algn="l">
              <a:spcAft>
                <a:spcPts val="0"/>
              </a:spcAft>
            </a:pPr>
            <a:r>
              <a:rPr sz="1150" b="0" i="0">
                <a:solidFill>
                  <a:srgbClr val="26323F"/>
                </a:solidFill>
                <a:latin typeface="Calibri"/>
              </a:rPr>
              <a:t>Earlier fault detection in small factories: less downtime, scrap, injury risk and wasted energy.</a:t>
            </a:r>
          </a:p>
        </p:txBody>
      </p:sp>
      <p:sp>
        <p:nvSpPr>
          <p:cNvPr id="23569" name="Rectangle 23568"/>
          <p:cNvSpPr/>
          <p:nvPr/>
        </p:nvSpPr>
        <p:spPr>
          <a:xfrm>
            <a:off x="1143000" y="3630168"/>
            <a:ext cx="2286000" cy="54864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FFFFFF"/>
                </a:solidFill>
                <a:latin typeface="Calibri"/>
              </a:rPr>
              <a:t>SDG alignment</a:t>
            </a:r>
          </a:p>
        </p:txBody>
      </p:sp>
      <p:sp>
        <p:nvSpPr>
          <p:cNvPr id="23570" name="Rectangle 23569"/>
          <p:cNvSpPr/>
          <p:nvPr/>
        </p:nvSpPr>
        <p:spPr>
          <a:xfrm>
            <a:off x="3429000" y="3630168"/>
            <a:ext cx="5303520" cy="54864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3571" name="TextBox 23570"/>
          <p:cNvSpPr txBox="1"/>
          <p:nvPr/>
        </p:nvSpPr>
        <p:spPr>
          <a:xfrm>
            <a:off x="3474720" y="3630168"/>
            <a:ext cx="5212080" cy="548640"/>
          </a:xfrm>
          <a:prstGeom prst="rect">
            <a:avLst/>
          </a:prstGeom>
          <a:noFill/>
        </p:spPr>
        <p:txBody>
          <a:bodyPr wrap="square" lIns="54864" rIns="54864" tIns="27432" bIns="27432" anchor="ctr">
            <a:noAutofit/>
          </a:bodyPr>
          <a:lstStyle/>
          <a:p>
            <a:pPr algn="l">
              <a:spcAft>
                <a:spcPts val="0"/>
              </a:spcAft>
            </a:pPr>
            <a:r>
              <a:rPr sz="1150" b="0" i="0">
                <a:solidFill>
                  <a:srgbClr val="26323F"/>
                </a:solidFill>
                <a:latin typeface="Calibri"/>
              </a:rPr>
              <a:t>SDG 7 (affordable and clean energy), SDG 9 (industry, innovation and infrastructure), SDG 12 (responsible consumption and production).</a:t>
            </a:r>
          </a:p>
        </p:txBody>
      </p:sp>
      <p:sp>
        <p:nvSpPr>
          <p:cNvPr id="23572" name="Rectangle 23571"/>
          <p:cNvSpPr/>
          <p:nvPr/>
        </p:nvSpPr>
        <p:spPr>
          <a:xfrm>
            <a:off x="1143000" y="4206240"/>
            <a:ext cx="2286000" cy="54864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FFFFFF"/>
                </a:solidFill>
                <a:latin typeface="Calibri"/>
              </a:rPr>
              <a:t>Scalability and future scope</a:t>
            </a:r>
          </a:p>
        </p:txBody>
      </p:sp>
      <p:sp>
        <p:nvSpPr>
          <p:cNvPr id="23573" name="Rectangle 23572"/>
          <p:cNvSpPr/>
          <p:nvPr/>
        </p:nvSpPr>
        <p:spPr>
          <a:xfrm>
            <a:off x="3429000" y="4206240"/>
            <a:ext cx="5303520" cy="54864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3574" name="TextBox 23573"/>
          <p:cNvSpPr txBox="1"/>
          <p:nvPr/>
        </p:nvSpPr>
        <p:spPr>
          <a:xfrm>
            <a:off x="3474720" y="4206240"/>
            <a:ext cx="5212080" cy="548640"/>
          </a:xfrm>
          <a:prstGeom prst="rect">
            <a:avLst/>
          </a:prstGeom>
          <a:noFill/>
        </p:spPr>
        <p:txBody>
          <a:bodyPr wrap="square" lIns="54864" rIns="54864" tIns="27432" bIns="27432" anchor="ctr">
            <a:noAutofit/>
          </a:bodyPr>
          <a:lstStyle/>
          <a:p>
            <a:pPr algn="l">
              <a:spcAft>
                <a:spcPts val="0"/>
              </a:spcAft>
            </a:pPr>
            <a:r>
              <a:rPr sz="1150" b="0" i="0">
                <a:solidFill>
                  <a:srgbClr val="26323F"/>
                </a:solidFill>
                <a:latin typeface="Calibri"/>
              </a:rPr>
              <a:t>Same pipeline for other machine types; more sensors such as temperature; many low-cost nodes working locally.</a:t>
            </a:r>
          </a:p>
        </p:txBody>
      </p:sp>
      <p:sp>
        <p:nvSpPr>
          <p:cNvPr id="23575" name="Rectangle 23574"/>
          <p:cNvSpPr/>
          <p:nvPr/>
        </p:nvSpPr>
        <p:spPr>
          <a:xfrm>
            <a:off x="1143000" y="4782312"/>
            <a:ext cx="2286000" cy="54864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FFFFFF"/>
                </a:solidFill>
                <a:latin typeface="Calibri"/>
              </a:rPr>
              <a:t>Commercialization / deployment</a:t>
            </a:r>
          </a:p>
        </p:txBody>
      </p:sp>
      <p:sp>
        <p:nvSpPr>
          <p:cNvPr id="23576" name="Rectangle 23575"/>
          <p:cNvSpPr/>
          <p:nvPr/>
        </p:nvSpPr>
        <p:spPr>
          <a:xfrm>
            <a:off x="3429000" y="4782312"/>
            <a:ext cx="5303520" cy="54864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3577" name="TextBox 23576"/>
          <p:cNvSpPr txBox="1"/>
          <p:nvPr/>
        </p:nvSpPr>
        <p:spPr>
          <a:xfrm>
            <a:off x="3474720" y="4782312"/>
            <a:ext cx="5212080" cy="548640"/>
          </a:xfrm>
          <a:prstGeom prst="rect">
            <a:avLst/>
          </a:prstGeom>
          <a:noFill/>
        </p:spPr>
        <p:txBody>
          <a:bodyPr wrap="square" lIns="54864" rIns="54864" tIns="27432" bIns="27432" anchor="ctr">
            <a:noAutofit/>
          </a:bodyPr>
          <a:lstStyle/>
          <a:p>
            <a:pPr algn="l">
              <a:spcAft>
                <a:spcPts val="0"/>
              </a:spcAft>
            </a:pPr>
            <a:r>
              <a:rPr sz="1150" b="0" i="0">
                <a:solidFill>
                  <a:srgbClr val="26323F"/>
                </a:solidFill>
                <a:latin typeface="Calibri"/>
              </a:rPr>
              <a:t>Target about Rs 1,500 hardware per node (proposal estimate); patent filing planned for the hardware-tied method.</a:t>
            </a:r>
          </a:p>
        </p:txBody>
      </p:sp>
      <p:sp>
        <p:nvSpPr>
          <p:cNvPr id="23578" name="Rectangle 23577"/>
          <p:cNvSpPr/>
          <p:nvPr/>
        </p:nvSpPr>
        <p:spPr>
          <a:xfrm>
            <a:off x="1143000" y="5358383"/>
            <a:ext cx="2286000" cy="54864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1">
                <a:solidFill>
                  <a:srgbClr val="FFFFFF"/>
                </a:solidFill>
                <a:latin typeface="Calibri"/>
              </a:rPr>
              <a:t>Academic &amp; research contribution</a:t>
            </a:r>
          </a:p>
        </p:txBody>
      </p:sp>
      <p:sp>
        <p:nvSpPr>
          <p:cNvPr id="23579" name="Rectangle 23578"/>
          <p:cNvSpPr/>
          <p:nvPr/>
        </p:nvSpPr>
        <p:spPr>
          <a:xfrm>
            <a:off x="3429000" y="5358383"/>
            <a:ext cx="5303520" cy="54864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3580" name="TextBox 23579"/>
          <p:cNvSpPr txBox="1"/>
          <p:nvPr/>
        </p:nvSpPr>
        <p:spPr>
          <a:xfrm>
            <a:off x="3474720" y="5358383"/>
            <a:ext cx="5212080" cy="548640"/>
          </a:xfrm>
          <a:prstGeom prst="rect">
            <a:avLst/>
          </a:prstGeom>
          <a:noFill/>
        </p:spPr>
        <p:txBody>
          <a:bodyPr wrap="square" lIns="54864" rIns="54864" tIns="27432" bIns="27432" anchor="ctr">
            <a:noAutofit/>
          </a:bodyPr>
          <a:lstStyle/>
          <a:p>
            <a:pPr algn="l">
              <a:spcAft>
                <a:spcPts val="0"/>
              </a:spcAft>
            </a:pPr>
            <a:r>
              <a:rPr sz="1150" b="0" i="0">
                <a:solidFill>
                  <a:srgbClr val="26323F"/>
                </a:solidFill>
                <a:latin typeface="Calibri"/>
              </a:rPr>
              <a:t>Leave-one-machine-out calibration study on MIMII, a sound-versus-vibration model comparison, open scripts and results; paper planned.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p:cNvSpPr>
          <p:nvPr>
            <p:ph type="title"/>
          </p:nvPr>
        </p:nvSpPr>
        <p:spPr>
          <a:xfrm>
            <a:off x="1234440" y="475488"/>
            <a:ext cx="6492240" cy="777240"/>
          </a:xfrm>
          <a:ln/>
        </p:spPr>
        <p:txBody>
          <a:bodyPr vert="horz" wrap="square" lIns="91440" tIns="45720" rIns="91440" bIns="45720" anchor="ctr" anchorCtr="0">
            <a:noAutofit/>
          </a:bodyPr>
          <a:p>
            <a:pPr algn="ctr" eaLnBrk="1" hangingPunct="1"/>
            <a:r>
              <a:rPr sz="3000">
                <a:latin typeface="Calibri"/>
              </a:rPr>
              <a:t>Literature Survey (1 of 2)</a:t>
            </a:r>
            <a:endParaRPr lang="en-IN" altLang="en-US" b="1"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1657350" y="6091238"/>
            <a:ext cx="1066800" cy="365125"/>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6EE6738C-772C-4E73-838E-B24548ECEE9B}"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graphicFrame>
        <p:nvGraphicFramePr>
          <p:cNvPr id="2" name="Literature table"/>
          <p:cNvGraphicFramePr>
            <a:graphicFrameLocks noGrp="1"/>
          </p:cNvGraphicFramePr>
          <p:nvPr/>
        </p:nvGraphicFramePr>
        <p:xfrm>
          <a:off x="822960" y="1325880"/>
          <a:ext cx="8077200" cy="4526280"/>
        </p:xfrm>
        <a:graphic>
          <a:graphicData uri="http://schemas.openxmlformats.org/drawingml/2006/table">
            <a:tbl>
              <a:tblPr firstRow="1" bandRow="1">
                <a:tableStyleId>{F5AB1C69-6EDB-4FF4-983F-18BD219EF322}</a:tableStyleId>
              </a:tblPr>
              <a:tblGrid>
                <a:gridCol w="1615440"/>
                <a:gridCol w="1615440"/>
                <a:gridCol w="1615440"/>
                <a:gridCol w="1615440"/>
                <a:gridCol w="1615440"/>
              </a:tblGrid>
              <a:tr h="685800">
                <a:tc>
                  <a:txBody>
                    <a:bodyPr/>
                    <a:lstStyle/>
                    <a:p>
                      <a:r>
                        <a:rPr lang="en-IN" sz="1300" dirty="0">
                          <a:latin typeface="Calibri"/>
                        </a:rPr>
                        <a:t>Author’s Name/ Paper Title </a:t>
                      </a:r>
                      <a:endParaRPr lang="en-IN" sz="1800" dirty="0"/>
                    </a:p>
                  </a:txBody>
                  <a:tcPr marT="45722" marB="45722"/>
                </a:tc>
                <a:tc>
                  <a:txBody>
                    <a:bodyPr/>
                    <a:lstStyle/>
                    <a:p>
                      <a:r>
                        <a:rPr lang="en-IN" sz="1300" dirty="0">
                          <a:latin typeface="Calibri"/>
                        </a:rPr>
                        <a:t>Conference/Journal Name and year</a:t>
                      </a:r>
                      <a:endParaRPr lang="en-IN" sz="1800" dirty="0"/>
                    </a:p>
                  </a:txBody>
                  <a:tcPr marT="45722" marB="45722"/>
                </a:tc>
                <a:tc>
                  <a:txBody>
                    <a:bodyPr/>
                    <a:lstStyle/>
                    <a:p>
                      <a:r>
                        <a:rPr lang="en-IN" sz="1300" dirty="0">
                          <a:latin typeface="Calibri"/>
                        </a:rPr>
                        <a:t>Technology/ Design</a:t>
                      </a:r>
                      <a:endParaRPr lang="en-IN" sz="1800" dirty="0"/>
                    </a:p>
                  </a:txBody>
                  <a:tcPr marT="45722" marB="45722"/>
                </a:tc>
                <a:tc>
                  <a:txBody>
                    <a:bodyPr/>
                    <a:lstStyle/>
                    <a:p>
                      <a:r>
                        <a:rPr lang="en-IN" sz="1300" dirty="0">
                          <a:latin typeface="Calibri"/>
                        </a:rPr>
                        <a:t>Results shared by author</a:t>
                      </a:r>
                      <a:endParaRPr lang="en-IN" sz="1800" dirty="0"/>
                    </a:p>
                  </a:txBody>
                  <a:tcPr marT="45722" marB="45722"/>
                </a:tc>
                <a:tc>
                  <a:txBody>
                    <a:bodyPr/>
                    <a:lstStyle/>
                    <a:p>
                      <a:r>
                        <a:rPr lang="en-IN" sz="1300" dirty="0">
                          <a:latin typeface="Calibri"/>
                        </a:rPr>
                        <a:t>What you infer</a:t>
                      </a:r>
                      <a:endParaRPr lang="en-IN" sz="1800" dirty="0"/>
                    </a:p>
                  </a:txBody>
                  <a:tcPr marT="45722" marB="45722"/>
                </a:tc>
              </a:tr>
              <a:tr h="1280160">
                <a:tc>
                  <a:txBody>
                    <a:bodyPr/>
                    <a:lstStyle/>
                    <a:p>
                      <a:endParaRPr lang="en-IN" sz="1200" dirty="0"/>
                    </a:p>
                  </a:txBody>
                  <a:tcPr marT="45722" marB="45722"/>
                </a:tc>
                <a:tc>
                  <a:txBody>
                    <a:bodyPr/>
                    <a:lstStyle/>
                    <a:p>
                      <a:endParaRPr lang="en-IN" sz="1200" dirty="0"/>
                    </a:p>
                  </a:txBody>
                  <a:tcPr marT="45722" marB="45722"/>
                </a:tc>
                <a:tc>
                  <a:txBody>
                    <a:bodyPr/>
                    <a:lstStyle/>
                    <a:p>
                      <a:endParaRPr lang="en-IN" sz="1100" dirty="0"/>
                    </a:p>
                  </a:txBody>
                  <a:tcPr marT="45722" marB="45722"/>
                </a:tc>
                <a:tc>
                  <a:txBody>
                    <a:bodyPr/>
                    <a:lstStyle/>
                    <a:p>
                      <a:endParaRPr lang="en-IN" sz="1100" dirty="0"/>
                    </a:p>
                  </a:txBody>
                  <a:tcPr marT="45722" marB="45722"/>
                </a:tc>
                <a:tc>
                  <a:txBody>
                    <a:bodyPr/>
                    <a:lstStyle/>
                    <a:p>
                      <a:endParaRPr lang="en-IN" sz="1100" dirty="0"/>
                    </a:p>
                  </a:txBody>
                  <a:tcPr marT="45722" marB="45722"/>
                </a:tc>
              </a:tr>
              <a:tr h="1280160">
                <a:tc>
                  <a:txBody>
                    <a:bodyPr/>
                    <a:lstStyle/>
                    <a:p>
                      <a:endParaRPr lang="en-IN" sz="1200" b="0" dirty="0"/>
                    </a:p>
                  </a:txBody>
                  <a:tcPr marT="45722" marB="45722"/>
                </a:tc>
                <a:tc>
                  <a:txBody>
                    <a:bodyPr/>
                    <a:lstStyle/>
                    <a:p>
                      <a:endParaRPr lang="en-IN" sz="1200" dirty="0"/>
                    </a:p>
                  </a:txBody>
                  <a:tcPr marT="45722" marB="45722"/>
                </a:tc>
                <a:tc>
                  <a:txBody>
                    <a:bodyPr/>
                    <a:lstStyle/>
                    <a:p>
                      <a:endParaRPr lang="en-IN" sz="1100" dirty="0"/>
                    </a:p>
                  </a:txBody>
                  <a:tcPr marT="45722" marB="45722"/>
                </a:tc>
                <a:tc>
                  <a:txBody>
                    <a:bodyPr/>
                    <a:lstStyle/>
                    <a:p>
                      <a:endParaRPr lang="en-IN" sz="1000" b="0" dirty="0"/>
                    </a:p>
                  </a:txBody>
                  <a:tcPr marT="45722" marB="45722"/>
                </a:tc>
                <a:tc>
                  <a:txBody>
                    <a:bodyPr/>
                    <a:lstStyle/>
                    <a:p>
                      <a:endParaRPr lang="en-IN" sz="900" dirty="0"/>
                    </a:p>
                  </a:txBody>
                  <a:tcPr marT="45722" marB="45722"/>
                </a:tc>
              </a:tr>
              <a:tr h="1280160">
                <a:tc>
                  <a:txBody>
                    <a:bodyPr/>
                    <a:lstStyle/>
                    <a:p>
                      <a:endParaRPr lang="en-IN" sz="1200" b="0" dirty="0"/>
                    </a:p>
                  </a:txBody>
                  <a:tcPr marT="45722" marB="45722"/>
                </a:tc>
                <a:tc>
                  <a:txBody>
                    <a:bodyPr/>
                    <a:lstStyle/>
                    <a:p>
                      <a:endParaRPr lang="en-IN" sz="1200" dirty="0"/>
                    </a:p>
                  </a:txBody>
                  <a:tcPr marT="45722" marB="45722"/>
                </a:tc>
                <a:tc>
                  <a:txBody>
                    <a:bodyPr/>
                    <a:lstStyle/>
                    <a:p>
                      <a:endParaRPr lang="en-IN" sz="1100" dirty="0"/>
                    </a:p>
                  </a:txBody>
                  <a:tcPr marT="45722" marB="45722"/>
                </a:tc>
                <a:tc>
                  <a:txBody>
                    <a:bodyPr/>
                    <a:lstStyle/>
                    <a:p>
                      <a:endParaRPr lang="en-IN" sz="1000" b="0" dirty="0"/>
                    </a:p>
                  </a:txBody>
                  <a:tcPr marT="45722" marB="45722"/>
                </a:tc>
                <a:tc>
                  <a:txBody>
                    <a:bodyPr/>
                    <a:lstStyle/>
                    <a:p>
                      <a:endParaRPr lang="en-IN" sz="900" dirty="0"/>
                    </a:p>
                  </a:txBody>
                  <a:tcPr marT="45722" marB="45722"/>
                </a:tc>
              </a:tr>
            </a:tbl>
          </a:graphicData>
        </a:graphic>
      </p:graphicFrame>
      <p:sp>
        <p:nvSpPr>
          <p:cNvPr id="24607" name="Slide Number Placeholder 2"/>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itle 1"/>
          <p:cNvSpPr>
            <a:spLocks noGrp="1"/>
          </p:cNvSpPr>
          <p:nvPr>
            <p:ph type="title"/>
          </p:nvPr>
        </p:nvSpPr>
        <p:spPr>
          <a:xfrm>
            <a:off x="1234440" y="475488"/>
            <a:ext cx="6492240" cy="777240"/>
          </a:xfrm>
          <a:ln/>
        </p:spPr>
        <p:txBody>
          <a:bodyPr vert="horz" wrap="square" lIns="91440" tIns="45720" rIns="91440" bIns="45720" anchor="ctr" anchorCtr="0">
            <a:noAutofit/>
          </a:bodyPr>
          <a:p>
            <a:pPr algn="ctr" eaLnBrk="1" hangingPunct="1"/>
            <a:r>
              <a:rPr sz="3000">
                <a:latin typeface="Calibri"/>
              </a:rPr>
              <a:t>High-Level Design</a:t>
            </a:r>
            <a:endParaRPr lang="en-IN" altLang="en-US"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1371600" y="6099175"/>
            <a:ext cx="1066800" cy="369888"/>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3139FD1F-834A-4638-B533-B13C9FA93A13}"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5605"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25606" name="Diagram space"/>
          <p:cNvSpPr/>
          <p:nvPr/>
        </p:nvSpPr>
        <p:spPr>
          <a:xfrm>
            <a:off x="1143000" y="1371600"/>
            <a:ext cx="7589520" cy="4114800"/>
          </a:xfrm>
          <a:prstGeom prst="roundRect">
            <a:avLst/>
          </a:prstGeom>
          <a:noFill/>
          <a:ln w="15875">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5607" name="TextBox 25606"/>
          <p:cNvSpPr txBox="1"/>
          <p:nvPr/>
        </p:nvSpPr>
        <p:spPr>
          <a:xfrm>
            <a:off x="2743200" y="3200400"/>
            <a:ext cx="4389120" cy="457200"/>
          </a:xfrm>
          <a:prstGeom prst="rect">
            <a:avLst/>
          </a:prstGeom>
          <a:noFill/>
        </p:spPr>
        <p:txBody>
          <a:bodyPr wrap="square" lIns="54864" rIns="54864" tIns="27432" bIns="27432" anchor="t">
            <a:noAutofit/>
          </a:bodyPr>
          <a:lstStyle/>
          <a:p>
            <a:pPr algn="ctr">
              <a:spcAft>
                <a:spcPts val="400"/>
              </a:spcAft>
            </a:pPr>
            <a:r>
              <a:rPr sz="1400" b="0" i="1">
                <a:solidFill>
                  <a:srgbClr val="6B7580"/>
                </a:solidFill>
                <a:latin typeface="Calibri"/>
              </a:rPr>
              <a:t>Insert the architecture diagram here</a:t>
            </a:r>
          </a:p>
        </p:txBody>
      </p:sp>
      <p:sp>
        <p:nvSpPr>
          <p:cNvPr id="25608" name="TextBox 25607"/>
          <p:cNvSpPr txBox="1"/>
          <p:nvPr/>
        </p:nvSpPr>
        <p:spPr>
          <a:xfrm>
            <a:off x="1143000" y="5532120"/>
            <a:ext cx="7589520" cy="457200"/>
          </a:xfrm>
          <a:prstGeom prst="rect">
            <a:avLst/>
          </a:prstGeom>
          <a:noFill/>
        </p:spPr>
        <p:txBody>
          <a:bodyPr wrap="square" lIns="54864" rIns="54864" tIns="27432" bIns="27432" anchor="t">
            <a:noAutofit/>
          </a:bodyPr>
          <a:lstStyle/>
          <a:p>
            <a:pPr algn="l">
              <a:spcAft>
                <a:spcPts val="400"/>
              </a:spcAft>
            </a:pPr>
            <a:r>
              <a:rPr sz="1200" b="0" i="1">
                <a:solidFill>
                  <a:srgbClr val="6B7580"/>
                </a:solidFill>
                <a:latin typeface="Calibri"/>
              </a:rPr>
              <a:t>Solid = built and tested on a laptop with recorded clips. Dashed = planned, needs hardware.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a:xfrm>
            <a:off x="1447800" y="366713"/>
            <a:ext cx="6589713" cy="747712"/>
          </a:xfrm>
          <a:ln/>
        </p:spPr>
        <p:txBody>
          <a:bodyPr vert="horz" wrap="square" lIns="91440" tIns="45720" rIns="91440" bIns="45720" anchor="t" anchorCtr="0"/>
          <a:p>
            <a:pPr algn="ctr" eaLnBrk="1" hangingPunct="1"/>
            <a:r>
              <a:rPr lang="en-IN" altLang="en-US" dirty="0">
                <a:latin typeface="Calibri" panose="020F0502020204030204" pitchFamily="34" charset="0"/>
                <a:cs typeface="Calibri" panose="020F0502020204030204" pitchFamily="34" charset="0"/>
              </a:rPr>
              <a:t>High-Level Design for the final system (proposed)</a:t>
            </a:r>
            <a:endParaRPr lang="en-IN" altLang="en-US"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1371600" y="6099175"/>
            <a:ext cx="1066800" cy="369888"/>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3139FD1F-834A-4638-B533-B13C9FA93A13}"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6629"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12</a:t>
            </a:r>
            <a:endParaRPr lang="en-US" altLang="en-US" sz="900" dirty="0">
              <a:solidFill>
                <a:srgbClr val="898989"/>
              </a:solidFill>
            </a:endParaRPr>
          </a:p>
        </p:txBody>
      </p:sp>
      <p:sp>
        <p:nvSpPr>
          <p:cNvPr id="26630" name="Content Placeholder 1"/>
          <p:cNvSpPr>
            <a:spLocks noGrp="1"/>
          </p:cNvSpPr>
          <p:nvPr>
            <p:ph idx="1"/>
          </p:nvPr>
        </p:nvSpPr>
        <p:spPr>
          <a:xfrm>
            <a:off x="1943100" y="2133600"/>
            <a:ext cx="6591300" cy="3778250"/>
          </a:xfrm>
          <a:ln/>
        </p:spPr>
        <p:txBody>
          <a:bodyPr vert="horz" wrap="square" lIns="91440" tIns="45720" rIns="91440" bIns="45720" anchor="t" anchorCtr="0"/>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1"/>
          <p:cNvSpPr>
            <a:spLocks noGrp="1"/>
          </p:cNvSpPr>
          <p:nvPr>
            <p:ph type="title"/>
          </p:nvPr>
        </p:nvSpPr>
        <p:spPr>
          <a:xfrm>
            <a:off x="1234440" y="475488"/>
            <a:ext cx="6492240" cy="777240"/>
          </a:xfrm>
          <a:ln/>
        </p:spPr>
        <p:txBody>
          <a:bodyPr vert="horz" wrap="square" lIns="91440" tIns="45720" rIns="91440" bIns="45720" anchor="ctr" anchorCtr="0">
            <a:noAutofit/>
          </a:bodyPr>
          <a:p>
            <a:pPr eaLnBrk="1" hangingPunct="1" algn="ctr"/>
            <a:r>
              <a:rPr sz="3000">
                <a:latin typeface="Calibri"/>
              </a:rPr>
              <a:t>List of Deliverables</a:t>
            </a:r>
            <a:endParaRPr lang="en-IN" altLang="en-US"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xfrm>
            <a:off x="1920875" y="6103938"/>
            <a:ext cx="1071563" cy="369888"/>
          </a:xfrm>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A6582B55-4E66-4BE5-85A4-28B9CA8A1ACB}"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7653"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graphicFrame>
        <p:nvGraphicFramePr>
          <p:cNvPr id="27654" name="Table 27653"/>
          <p:cNvGraphicFramePr>
            <a:graphicFrameLocks noGrp="1"/>
          </p:cNvGraphicFramePr>
          <p:nvPr/>
        </p:nvGraphicFramePr>
        <p:xfrm>
          <a:off x="1097280" y="1371600"/>
          <a:ext cx="7635240" cy="4315968"/>
        </p:xfrm>
        <a:graphic>
          <a:graphicData uri="http://schemas.openxmlformats.org/drawingml/2006/table">
            <a:tbl>
              <a:tblPr firstRow="0" bandRow="0">
                <a:tableStyleId>{2D5ABB26-0587-4C30-8999-92F81FD0307C}</a:tableStyleId>
              </a:tblPr>
              <a:tblGrid>
                <a:gridCol w="6309360"/>
                <a:gridCol w="1325880"/>
              </a:tblGrid>
              <a:tr h="384048">
                <a:tc>
                  <a:txBody>
                    <a:bodyPr wrap="square"/>
                    <a:lstStyle/>
                    <a:p>
                      <a:r>
                        <a:rPr sz="1200" b="1">
                          <a:solidFill>
                            <a:srgbClr val="FFFFFF"/>
                          </a:solidFill>
                          <a:latin typeface="Calibri"/>
                        </a:rPr>
                        <a:t>Deliverable</a:t>
                      </a:r>
                    </a:p>
                  </a:txBody>
                  <a:tcPr marL="54864" marR="54864" marT="27432" marB="27432" anchor="ctr">
                    <a:solidFill>
                      <a:srgbClr val="25578F"/>
                    </a:solidFill>
                  </a:tcPr>
                </a:tc>
                <a:tc>
                  <a:txBody>
                    <a:bodyPr wrap="square"/>
                    <a:lstStyle/>
                    <a:p>
                      <a:r>
                        <a:rPr sz="1200" b="1">
                          <a:solidFill>
                            <a:srgbClr val="FFFFFF"/>
                          </a:solidFill>
                          <a:latin typeface="Calibri"/>
                        </a:rPr>
                        <a:t>Status</a:t>
                      </a:r>
                    </a:p>
                  </a:txBody>
                  <a:tcPr marL="54864" marR="54864" marT="27432" marB="27432" anchor="ctr">
                    <a:solidFill>
                      <a:srgbClr val="25578F"/>
                    </a:solidFill>
                  </a:tcPr>
                </a:tc>
              </a:tr>
              <a:tr h="393192">
                <a:tc>
                  <a:txBody>
                    <a:bodyPr wrap="square"/>
                    <a:lstStyle/>
                    <a:p>
                      <a:r>
                        <a:rPr sz="1200" b="0">
                          <a:solidFill>
                            <a:srgbClr val="26323F"/>
                          </a:solidFill>
                          <a:latin typeface="Calibri"/>
                        </a:rPr>
                        <a:t>Calibrated sound detector (Python) with results files for every experiment</a:t>
                      </a:r>
                    </a:p>
                  </a:txBody>
                  <a:tcPr marL="54864" marR="54864" marT="27432" marB="27432" anchor="ctr">
                    <a:solidFill>
                      <a:srgbClr val="E6EEF7"/>
                    </a:solidFill>
                  </a:tcPr>
                </a:tc>
                <a:tc>
                  <a:txBody>
                    <a:bodyPr wrap="square"/>
                    <a:lstStyle/>
                    <a:p>
                      <a:r>
                        <a:rPr sz="1200" b="1">
                          <a:solidFill>
                            <a:srgbClr val="1E7B4B"/>
                          </a:solidFill>
                          <a:latin typeface="Calibri"/>
                        </a:rPr>
                        <a:t>Done</a:t>
                      </a:r>
                    </a:p>
                  </a:txBody>
                  <a:tcPr marL="54864" marR="54864" marT="27432" marB="27432" anchor="ctr">
                    <a:solidFill>
                      <a:srgbClr val="E6EEF7"/>
                    </a:solidFill>
                  </a:tcPr>
                </a:tc>
              </a:tr>
              <a:tr h="393192">
                <a:tc>
                  <a:txBody>
                    <a:bodyPr wrap="square"/>
                    <a:lstStyle/>
                    <a:p>
                      <a:r>
                        <a:rPr sz="1200" b="0">
                          <a:solidFill>
                            <a:srgbClr val="26323F"/>
                          </a:solidFill>
                          <a:latin typeface="Calibri"/>
                        </a:rPr>
                        <a:t>Evaluation suite and 5-tab dashboard (live clip, evaluate, results, model card, own recordings)</a:t>
                      </a:r>
                    </a:p>
                  </a:txBody>
                  <a:tcPr marL="54864" marR="54864" marT="27432" marB="27432" anchor="ctr">
                    <a:solidFill>
                      <a:srgbClr val="F6F9FC"/>
                    </a:solidFill>
                  </a:tcPr>
                </a:tc>
                <a:tc>
                  <a:txBody>
                    <a:bodyPr wrap="square"/>
                    <a:lstStyle/>
                    <a:p>
                      <a:r>
                        <a:rPr sz="1200" b="1">
                          <a:solidFill>
                            <a:srgbClr val="1E7B4B"/>
                          </a:solidFill>
                          <a:latin typeface="Calibri"/>
                        </a:rPr>
                        <a:t>Done</a:t>
                      </a:r>
                    </a:p>
                  </a:txBody>
                  <a:tcPr marL="54864" marR="54864" marT="27432" marB="27432" anchor="ctr">
                    <a:solidFill>
                      <a:srgbClr val="F6F9FC"/>
                    </a:solidFill>
                  </a:tcPr>
                </a:tc>
              </a:tr>
              <a:tr h="393192">
                <a:tc>
                  <a:txBody>
                    <a:bodyPr wrap="square"/>
                    <a:lstStyle/>
                    <a:p>
                      <a:r>
                        <a:rPr sz="1200" b="0">
                          <a:solidFill>
                            <a:srgbClr val="26323F"/>
                          </a:solidFill>
                          <a:latin typeface="Calibri"/>
                        </a:rPr>
                        <a:t>Own-recording test tool (phone or any microphone)</a:t>
                      </a:r>
                    </a:p>
                  </a:txBody>
                  <a:tcPr marL="54864" marR="54864" marT="27432" marB="27432" anchor="ctr">
                    <a:solidFill>
                      <a:srgbClr val="E6EEF7"/>
                    </a:solidFill>
                  </a:tcPr>
                </a:tc>
                <a:tc>
                  <a:txBody>
                    <a:bodyPr wrap="square"/>
                    <a:lstStyle/>
                    <a:p>
                      <a:r>
                        <a:rPr sz="1200" b="1">
                          <a:solidFill>
                            <a:srgbClr val="1E7B4B"/>
                          </a:solidFill>
                          <a:latin typeface="Calibri"/>
                        </a:rPr>
                        <a:t>Done (first test)</a:t>
                      </a:r>
                    </a:p>
                  </a:txBody>
                  <a:tcPr marL="54864" marR="54864" marT="27432" marB="27432" anchor="ctr">
                    <a:solidFill>
                      <a:srgbClr val="E6EEF7"/>
                    </a:solidFill>
                  </a:tcPr>
                </a:tc>
              </a:tr>
              <a:tr h="393192">
                <a:tc>
                  <a:txBody>
                    <a:bodyPr wrap="square"/>
                    <a:lstStyle/>
                    <a:p>
                      <a:r>
                        <a:rPr sz="1200" b="0">
                          <a:solidFill>
                            <a:srgbClr val="26323F"/>
                          </a:solidFill>
                          <a:latin typeface="Calibri"/>
                        </a:rPr>
                        <a:t>Vibration pipeline and model comparison</a:t>
                      </a:r>
                    </a:p>
                  </a:txBody>
                  <a:tcPr marL="54864" marR="54864" marT="27432" marB="27432" anchor="ctr">
                    <a:solidFill>
                      <a:srgbClr val="F6F9FC"/>
                    </a:solidFill>
                  </a:tcPr>
                </a:tc>
                <a:tc>
                  <a:txBody>
                    <a:bodyPr wrap="square"/>
                    <a:lstStyle/>
                    <a:p>
                      <a:r>
                        <a:rPr sz="1200" b="1">
                          <a:solidFill>
                            <a:srgbClr val="1E7B4B"/>
                          </a:solidFill>
                          <a:latin typeface="Calibri"/>
                        </a:rPr>
                        <a:t>Done</a:t>
                      </a:r>
                    </a:p>
                  </a:txBody>
                  <a:tcPr marL="54864" marR="54864" marT="27432" marB="27432" anchor="ctr">
                    <a:solidFill>
                      <a:srgbClr val="F6F9FC"/>
                    </a:solidFill>
                  </a:tcPr>
                </a:tc>
              </a:tr>
              <a:tr h="393192">
                <a:tc>
                  <a:txBody>
                    <a:bodyPr wrap="square"/>
                    <a:lstStyle/>
                    <a:p>
                      <a:r>
                        <a:rPr sz="1200" b="0">
                          <a:solidFill>
                            <a:srgbClr val="26323F"/>
                          </a:solidFill>
                          <a:latin typeface="Calibri"/>
                        </a:rPr>
                        <a:t>Literature survey and project guide</a:t>
                      </a:r>
                    </a:p>
                  </a:txBody>
                  <a:tcPr marL="54864" marR="54864" marT="27432" marB="27432" anchor="ctr">
                    <a:solidFill>
                      <a:srgbClr val="E6EEF7"/>
                    </a:solidFill>
                  </a:tcPr>
                </a:tc>
                <a:tc>
                  <a:txBody>
                    <a:bodyPr wrap="square"/>
                    <a:lstStyle/>
                    <a:p>
                      <a:r>
                        <a:rPr sz="1200" b="1">
                          <a:solidFill>
                            <a:srgbClr val="1E7B4B"/>
                          </a:solidFill>
                          <a:latin typeface="Calibri"/>
                        </a:rPr>
                        <a:t>Done</a:t>
                      </a:r>
                    </a:p>
                  </a:txBody>
                  <a:tcPr marL="54864" marR="54864" marT="27432" marB="27432" anchor="ctr">
                    <a:solidFill>
                      <a:srgbClr val="E6EEF7"/>
                    </a:solidFill>
                  </a:tcPr>
                </a:tc>
              </a:tr>
              <a:tr h="393192">
                <a:tc>
                  <a:txBody>
                    <a:bodyPr wrap="square"/>
                    <a:lstStyle/>
                    <a:p>
                      <a:r>
                        <a:rPr sz="1200" b="0">
                          <a:solidFill>
                            <a:srgbClr val="26323F"/>
                          </a:solidFill>
                          <a:latin typeface="Calibri"/>
                        </a:rPr>
                        <a:t>Revised alert-level rule and combined-model study</a:t>
                      </a:r>
                    </a:p>
                  </a:txBody>
                  <a:tcPr marL="54864" marR="54864" marT="27432" marB="27432" anchor="ctr">
                    <a:solidFill>
                      <a:srgbClr val="F6F9FC"/>
                    </a:solidFill>
                  </a:tcPr>
                </a:tc>
                <a:tc>
                  <a:txBody>
                    <a:bodyPr wrap="square"/>
                    <a:lstStyle/>
                    <a:p>
                      <a:r>
                        <a:rPr sz="1200" b="1">
                          <a:solidFill>
                            <a:srgbClr val="A86A00"/>
                          </a:solidFill>
                          <a:latin typeface="Calibri"/>
                        </a:rPr>
                        <a:t>Planned</a:t>
                      </a:r>
                    </a:p>
                  </a:txBody>
                  <a:tcPr marL="54864" marR="54864" marT="27432" marB="27432" anchor="ctr">
                    <a:solidFill>
                      <a:srgbClr val="F6F9FC"/>
                    </a:solidFill>
                  </a:tcPr>
                </a:tc>
              </a:tr>
              <a:tr h="393192">
                <a:tc>
                  <a:txBody>
                    <a:bodyPr wrap="square"/>
                    <a:lstStyle/>
                    <a:p>
                      <a:r>
                        <a:rPr sz="1200" b="0">
                          <a:solidFill>
                            <a:srgbClr val="26323F"/>
                          </a:solidFill>
                          <a:latin typeface="Calibri"/>
                        </a:rPr>
                        <a:t>Fusion logic (motor health helping the sound decision)</a:t>
                      </a:r>
                    </a:p>
                  </a:txBody>
                  <a:tcPr marL="54864" marR="54864" marT="27432" marB="27432" anchor="ctr">
                    <a:solidFill>
                      <a:srgbClr val="E6EEF7"/>
                    </a:solidFill>
                  </a:tcPr>
                </a:tc>
                <a:tc>
                  <a:txBody>
                    <a:bodyPr wrap="square"/>
                    <a:lstStyle/>
                    <a:p>
                      <a:r>
                        <a:rPr sz="1200" b="1">
                          <a:solidFill>
                            <a:srgbClr val="A86A00"/>
                          </a:solidFill>
                          <a:latin typeface="Calibri"/>
                        </a:rPr>
                        <a:t>Planned</a:t>
                      </a:r>
                    </a:p>
                  </a:txBody>
                  <a:tcPr marL="54864" marR="54864" marT="27432" marB="27432" anchor="ctr">
                    <a:solidFill>
                      <a:srgbClr val="E6EEF7"/>
                    </a:solidFill>
                  </a:tcPr>
                </a:tc>
              </a:tr>
              <a:tr h="393192">
                <a:tc>
                  <a:txBody>
                    <a:bodyPr wrap="square"/>
                    <a:lstStyle/>
                    <a:p>
                      <a:r>
                        <a:rPr sz="1200" b="0">
                          <a:solidFill>
                            <a:srgbClr val="26323F"/>
                          </a:solidFill>
                          <a:latin typeface="Calibri"/>
                        </a:rPr>
                        <a:t>INT8 model and feature extraction in C; ESP32-S3 prototype with LED output</a:t>
                      </a:r>
                    </a:p>
                  </a:txBody>
                  <a:tcPr marL="54864" marR="54864" marT="27432" marB="27432" anchor="ctr">
                    <a:solidFill>
                      <a:srgbClr val="F6F9FC"/>
                    </a:solidFill>
                  </a:tcPr>
                </a:tc>
                <a:tc>
                  <a:txBody>
                    <a:bodyPr wrap="square"/>
                    <a:lstStyle/>
                    <a:p>
                      <a:r>
                        <a:rPr sz="1200" b="1">
                          <a:solidFill>
                            <a:srgbClr val="A86A00"/>
                          </a:solidFill>
                          <a:latin typeface="Calibri"/>
                        </a:rPr>
                        <a:t>Planned</a:t>
                      </a:r>
                    </a:p>
                  </a:txBody>
                  <a:tcPr marL="54864" marR="54864" marT="27432" marB="27432" anchor="ctr">
                    <a:solidFill>
                      <a:srgbClr val="F6F9FC"/>
                    </a:solidFill>
                  </a:tcPr>
                </a:tc>
              </a:tr>
              <a:tr h="393192">
                <a:tc>
                  <a:txBody>
                    <a:bodyPr wrap="square"/>
                    <a:lstStyle/>
                    <a:p>
                      <a:r>
                        <a:rPr sz="1200" b="0">
                          <a:solidFill>
                            <a:srgbClr val="26323F"/>
                          </a:solidFill>
                          <a:latin typeface="Calibri"/>
                        </a:rPr>
                        <a:t>Test-rig results with sound, vibration and temperature; energy and noise estimate</a:t>
                      </a:r>
                    </a:p>
                  </a:txBody>
                  <a:tcPr marL="54864" marR="54864" marT="27432" marB="27432" anchor="ctr">
                    <a:solidFill>
                      <a:srgbClr val="E6EEF7"/>
                    </a:solidFill>
                  </a:tcPr>
                </a:tc>
                <a:tc>
                  <a:txBody>
                    <a:bodyPr wrap="square"/>
                    <a:lstStyle/>
                    <a:p>
                      <a:r>
                        <a:rPr sz="1200" b="1">
                          <a:solidFill>
                            <a:srgbClr val="A86A00"/>
                          </a:solidFill>
                          <a:latin typeface="Calibri"/>
                        </a:rPr>
                        <a:t>Planned</a:t>
                      </a:r>
                    </a:p>
                  </a:txBody>
                  <a:tcPr marL="54864" marR="54864" marT="27432" marB="27432" anchor="ctr">
                    <a:solidFill>
                      <a:srgbClr val="E6EEF7"/>
                    </a:solidFill>
                  </a:tcPr>
                </a:tc>
              </a:tr>
              <a:tr h="393192">
                <a:tc>
                  <a:txBody>
                    <a:bodyPr wrap="square"/>
                    <a:lstStyle/>
                    <a:p>
                      <a:r>
                        <a:rPr sz="1200" b="0">
                          <a:solidFill>
                            <a:srgbClr val="26323F"/>
                          </a:solidFill>
                          <a:latin typeface="Calibri"/>
                        </a:rPr>
                        <a:t>Research paper and patent filing</a:t>
                      </a:r>
                    </a:p>
                  </a:txBody>
                  <a:tcPr marL="54864" marR="54864" marT="27432" marB="27432" anchor="ctr">
                    <a:solidFill>
                      <a:srgbClr val="F6F9FC"/>
                    </a:solidFill>
                  </a:tcPr>
                </a:tc>
                <a:tc>
                  <a:txBody>
                    <a:bodyPr wrap="square"/>
                    <a:lstStyle/>
                    <a:p>
                      <a:r>
                        <a:rPr sz="1200" b="1">
                          <a:solidFill>
                            <a:srgbClr val="A86A00"/>
                          </a:solidFill>
                          <a:latin typeface="Calibri"/>
                        </a:rPr>
                        <a:t>Planned</a:t>
                      </a:r>
                    </a:p>
                  </a:txBody>
                  <a:tcPr marL="54864" marR="54864" marT="27432" marB="27432" anchor="ctr">
                    <a:solidFill>
                      <a:srgbClr val="F6F9F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a:xfrm>
            <a:off x="1234440" y="475488"/>
            <a:ext cx="6492240" cy="777240"/>
          </a:xfrm>
          <a:ln/>
        </p:spPr>
        <p:txBody>
          <a:bodyPr vert="horz" wrap="square" lIns="91440" tIns="45720" rIns="91440" bIns="45720" anchor="ctr" anchorCtr="0">
            <a:noAutofit/>
          </a:bodyPr>
          <a:p>
            <a:pPr eaLnBrk="1" hangingPunct="1" algn="ctr"/>
            <a:r>
              <a:rPr sz="3000">
                <a:latin typeface="Calibri"/>
              </a:rPr>
              <a:t>References</a:t>
            </a:r>
            <a:endParaRPr lang="en-IN" altLang="en-US" b="1" dirty="0">
              <a:latin typeface="Calibri" panose="020F0502020204030204" pitchFamily="34" charset="0"/>
              <a:ea typeface="Calibri" panose="020F0502020204030204" pitchFamily="34" charset="0"/>
            </a:endParaRPr>
          </a:p>
        </p:txBody>
      </p:sp>
      <p:sp>
        <p:nvSpPr>
          <p:cNvPr id="4" name="Date Placeholder 3"/>
          <p:cNvSpPr txBox="1">
            <a:spLocks noGrp="1"/>
          </p:cNvSpPr>
          <p:nvPr>
            <p:ph type="dt" sz="half" idx="2"/>
          </p:nvPr>
        </p:nvSpPr>
        <p:spPr>
          <a:noFill/>
        </p:spPr>
        <p:txBody>
          <a:bodyPr lIns="91440" tIns="45720" rIns="91440" bIns="45720" rtlCol="0" anchor="ctr"/>
          <a:lstStyle/>
          <a:p>
            <a:pPr marL="0" marR="0" lvl="0" indent="0" algn="r" defTabSz="457200" rtl="0" eaLnBrk="1" fontAlgn="auto" latinLnBrk="0" hangingPunct="1">
              <a:lnSpc>
                <a:spcPct val="100000"/>
              </a:lnSpc>
              <a:spcBef>
                <a:spcPts val="0"/>
              </a:spcBef>
              <a:spcAft>
                <a:spcPts val="0"/>
              </a:spcAft>
              <a:buClrTx/>
              <a:buSzTx/>
              <a:buFontTx/>
              <a:buNone/>
              <a:defRPr/>
            </a:pPr>
            <a:fld id="{CEBED0AC-B1C5-4D9E-B8BC-A200B7C1B7E1}" type="datetime1">
              <a:rPr kumimoji="0" lang="en-US" sz="9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txBox="1">
            <a:spLocks noGrp="1"/>
          </p:cNvSpPr>
          <p:nvPr>
            <p:ph type="ftr" sz="quarter" idx="3"/>
          </p:nvPr>
        </p:nvSpPr>
        <p:spPr>
          <a:noFill/>
        </p:spPr>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8678"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28679" name="TextBox 28678"/>
          <p:cNvSpPr txBox="1"/>
          <p:nvPr/>
        </p:nvSpPr>
        <p:spPr>
          <a:xfrm>
            <a:off x="1097280" y="1371600"/>
            <a:ext cx="7680960" cy="4572000"/>
          </a:xfrm>
          <a:prstGeom prst="rect">
            <a:avLst/>
          </a:prstGeom>
          <a:noFill/>
        </p:spPr>
        <p:txBody>
          <a:bodyPr wrap="square" lIns="54864" rIns="54864" tIns="27432" bIns="27432" anchor="t">
            <a:noAutofit/>
          </a:bodyPr>
          <a:lstStyle/>
          <a:p>
            <a:pPr algn="l">
              <a:spcAft>
                <a:spcPts val="800"/>
              </a:spcAft>
            </a:pPr>
            <a:r>
              <a:rPr sz="1200" b="0" i="0">
                <a:solidFill>
                  <a:srgbClr val="26323F"/>
                </a:solidFill>
                <a:latin typeface="Calibri"/>
              </a:rPr>
              <a:t>[1] H. Purohit et al., "MIMII Dataset: Sound Dataset for Malfunctioning Industrial Machine Investigation and Inspection," DCASE Workshop, 2019. arXiv:1909.09347.</a:t>
            </a:r>
          </a:p>
          <a:p>
            <a:pPr algn="l">
              <a:spcAft>
                <a:spcPts val="800"/>
              </a:spcAft>
            </a:pPr>
            <a:r>
              <a:rPr sz="1200" b="0" i="0">
                <a:solidFill>
                  <a:srgbClr val="26323F"/>
                </a:solidFill>
                <a:latin typeface="Calibri"/>
              </a:rPr>
              <a:t>[2] M. Yamaguchi, Y. Koizumi, N. Harada, "AdaFlow: Domain-Adaptive Density Estimator with Application to Anomaly Detection and Unpaired Cross-Domain Translation," ICASSP, 2019. arXiv:1812.05796.</a:t>
            </a:r>
          </a:p>
          <a:p>
            <a:pPr algn="l">
              <a:spcAft>
                <a:spcPts val="800"/>
              </a:spcAft>
            </a:pPr>
            <a:r>
              <a:rPr sz="1200" b="0" i="0">
                <a:solidFill>
                  <a:srgbClr val="26323F"/>
                </a:solidFill>
                <a:latin typeface="Calibri"/>
              </a:rPr>
              <a:t>[3] W. A. Smith, R. B. Randall, "Rolling element bearing diagnostics using the Case Western Reserve University data: A benchmark study," Mech. Syst. Signal Process., vol. 64-65, pp. 100-131, 2015.</a:t>
            </a:r>
          </a:p>
          <a:p>
            <a:pPr algn="l">
              <a:spcAft>
                <a:spcPts val="800"/>
              </a:spcAft>
            </a:pPr>
            <a:r>
              <a:rPr sz="1200" b="0" i="0">
                <a:solidFill>
                  <a:srgbClr val="26323F"/>
                </a:solidFill>
                <a:latin typeface="Calibri"/>
              </a:rPr>
              <a:t>[4] W. Jung et al., "Vibration, acoustic, temperature, and motor current dataset of rotating machine under varying operating conditions for fault diagnosis," Data in Brief, vol. 48, 109049, 2023.</a:t>
            </a:r>
          </a:p>
          <a:p>
            <a:pPr algn="l">
              <a:spcAft>
                <a:spcPts val="800"/>
              </a:spcAft>
            </a:pPr>
            <a:r>
              <a:rPr sz="1200" b="0" i="0">
                <a:solidFill>
                  <a:srgbClr val="26323F"/>
                </a:solidFill>
                <a:latin typeface="Calibri"/>
              </a:rPr>
              <a:t>[5] Add the papers from the literature tables here.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Literature Survey (2 of 2)</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graphicFrame>
        <p:nvGraphicFramePr>
          <p:cNvPr id="2" name="Literature table"/>
          <p:cNvGraphicFramePr>
            <a:graphicFrameLocks noGrp="1"/>
          </p:cNvGraphicFramePr>
          <p:nvPr/>
        </p:nvGraphicFramePr>
        <p:xfrm>
          <a:off x="822960" y="1325880"/>
          <a:ext cx="8077200" cy="4526280"/>
        </p:xfrm>
        <a:graphic>
          <a:graphicData uri="http://schemas.openxmlformats.org/drawingml/2006/table">
            <a:tbl>
              <a:tblPr firstRow="1" bandRow="1">
                <a:tableStyleId>{F5AB1C69-6EDB-4FF4-983F-18BD219EF322}</a:tableStyleId>
              </a:tblPr>
              <a:tblGrid>
                <a:gridCol w="1615440"/>
                <a:gridCol w="1615440"/>
                <a:gridCol w="1615440"/>
                <a:gridCol w="1615440"/>
                <a:gridCol w="1615440"/>
              </a:tblGrid>
              <a:tr h="685800">
                <a:tc>
                  <a:txBody>
                    <a:bodyPr/>
                    <a:lstStyle/>
                    <a:p>
                      <a:r>
                        <a:rPr lang="en-IN" sz="1300" dirty="0">
                          <a:latin typeface="Calibri"/>
                        </a:rPr>
                        <a:t>Author’s Name/ Paper Title </a:t>
                      </a:r>
                      <a:endParaRPr lang="en-IN" sz="1800" dirty="0"/>
                    </a:p>
                  </a:txBody>
                  <a:tcPr marT="45722" marB="45722"/>
                </a:tc>
                <a:tc>
                  <a:txBody>
                    <a:bodyPr/>
                    <a:lstStyle/>
                    <a:p>
                      <a:r>
                        <a:rPr lang="en-IN" sz="1300" dirty="0">
                          <a:latin typeface="Calibri"/>
                        </a:rPr>
                        <a:t>Conference/Journal Name and year</a:t>
                      </a:r>
                      <a:endParaRPr lang="en-IN" sz="1800" dirty="0"/>
                    </a:p>
                  </a:txBody>
                  <a:tcPr marT="45722" marB="45722"/>
                </a:tc>
                <a:tc>
                  <a:txBody>
                    <a:bodyPr/>
                    <a:lstStyle/>
                    <a:p>
                      <a:r>
                        <a:rPr lang="en-IN" sz="1300" dirty="0">
                          <a:latin typeface="Calibri"/>
                        </a:rPr>
                        <a:t>Technology/ Design</a:t>
                      </a:r>
                      <a:endParaRPr lang="en-IN" sz="1800" dirty="0"/>
                    </a:p>
                  </a:txBody>
                  <a:tcPr marT="45722" marB="45722"/>
                </a:tc>
                <a:tc>
                  <a:txBody>
                    <a:bodyPr/>
                    <a:lstStyle/>
                    <a:p>
                      <a:r>
                        <a:rPr lang="en-IN" sz="1300" dirty="0">
                          <a:latin typeface="Calibri"/>
                        </a:rPr>
                        <a:t>Results shared by author</a:t>
                      </a:r>
                      <a:endParaRPr lang="en-IN" sz="1800" dirty="0"/>
                    </a:p>
                  </a:txBody>
                  <a:tcPr marT="45722" marB="45722"/>
                </a:tc>
                <a:tc>
                  <a:txBody>
                    <a:bodyPr/>
                    <a:lstStyle/>
                    <a:p>
                      <a:r>
                        <a:rPr lang="en-IN" sz="1300" dirty="0">
                          <a:latin typeface="Calibri"/>
                        </a:rPr>
                        <a:t>What you infer</a:t>
                      </a:r>
                      <a:endParaRPr lang="en-IN" sz="1800" dirty="0"/>
                    </a:p>
                  </a:txBody>
                  <a:tcPr marT="45722" marB="45722"/>
                </a:tc>
              </a:tr>
              <a:tr h="1280160">
                <a:tc>
                  <a:txBody>
                    <a:bodyPr/>
                    <a:lstStyle/>
                    <a:p>
                      <a:endParaRPr lang="en-IN" sz="1200" dirty="0"/>
                    </a:p>
                  </a:txBody>
                  <a:tcPr marT="45722" marB="45722"/>
                </a:tc>
                <a:tc>
                  <a:txBody>
                    <a:bodyPr/>
                    <a:lstStyle/>
                    <a:p>
                      <a:endParaRPr lang="en-IN" sz="1200" dirty="0"/>
                    </a:p>
                  </a:txBody>
                  <a:tcPr marT="45722" marB="45722"/>
                </a:tc>
                <a:tc>
                  <a:txBody>
                    <a:bodyPr/>
                    <a:lstStyle/>
                    <a:p>
                      <a:endParaRPr lang="en-IN" sz="1100" dirty="0"/>
                    </a:p>
                  </a:txBody>
                  <a:tcPr marT="45722" marB="45722"/>
                </a:tc>
                <a:tc>
                  <a:txBody>
                    <a:bodyPr/>
                    <a:lstStyle/>
                    <a:p>
                      <a:endParaRPr lang="en-IN" sz="1100" dirty="0"/>
                    </a:p>
                  </a:txBody>
                  <a:tcPr marT="45722" marB="45722"/>
                </a:tc>
                <a:tc>
                  <a:txBody>
                    <a:bodyPr/>
                    <a:lstStyle/>
                    <a:p>
                      <a:endParaRPr lang="en-IN" sz="1100" dirty="0"/>
                    </a:p>
                  </a:txBody>
                  <a:tcPr marT="45722" marB="45722"/>
                </a:tc>
              </a:tr>
              <a:tr h="1280160">
                <a:tc>
                  <a:txBody>
                    <a:bodyPr/>
                    <a:lstStyle/>
                    <a:p>
                      <a:endParaRPr lang="en-IN" sz="1200" b="0" dirty="0"/>
                    </a:p>
                  </a:txBody>
                  <a:tcPr marT="45722" marB="45722"/>
                </a:tc>
                <a:tc>
                  <a:txBody>
                    <a:bodyPr/>
                    <a:lstStyle/>
                    <a:p>
                      <a:endParaRPr lang="en-IN" sz="1200" dirty="0"/>
                    </a:p>
                  </a:txBody>
                  <a:tcPr marT="45722" marB="45722"/>
                </a:tc>
                <a:tc>
                  <a:txBody>
                    <a:bodyPr/>
                    <a:lstStyle/>
                    <a:p>
                      <a:endParaRPr lang="en-IN" sz="1100" dirty="0"/>
                    </a:p>
                  </a:txBody>
                  <a:tcPr marT="45722" marB="45722"/>
                </a:tc>
                <a:tc>
                  <a:txBody>
                    <a:bodyPr/>
                    <a:lstStyle/>
                    <a:p>
                      <a:endParaRPr lang="en-IN" sz="1000" b="0" dirty="0"/>
                    </a:p>
                  </a:txBody>
                  <a:tcPr marT="45722" marB="45722"/>
                </a:tc>
                <a:tc>
                  <a:txBody>
                    <a:bodyPr/>
                    <a:lstStyle/>
                    <a:p>
                      <a:endParaRPr lang="en-IN" sz="900" dirty="0"/>
                    </a:p>
                  </a:txBody>
                  <a:tcPr marT="45722" marB="45722"/>
                </a:tc>
              </a:tr>
              <a:tr h="1280160">
                <a:tc>
                  <a:txBody>
                    <a:bodyPr/>
                    <a:lstStyle/>
                    <a:p>
                      <a:endParaRPr lang="en-IN" sz="1200" b="0" dirty="0"/>
                    </a:p>
                  </a:txBody>
                  <a:tcPr marT="45722" marB="45722"/>
                </a:tc>
                <a:tc>
                  <a:txBody>
                    <a:bodyPr/>
                    <a:lstStyle/>
                    <a:p>
                      <a:endParaRPr lang="en-IN" sz="1200" dirty="0"/>
                    </a:p>
                  </a:txBody>
                  <a:tcPr marT="45722" marB="45722"/>
                </a:tc>
                <a:tc>
                  <a:txBody>
                    <a:bodyPr/>
                    <a:lstStyle/>
                    <a:p>
                      <a:endParaRPr lang="en-IN" sz="1100" dirty="0"/>
                    </a:p>
                  </a:txBody>
                  <a:tcPr marT="45722" marB="45722"/>
                </a:tc>
                <a:tc>
                  <a:txBody>
                    <a:bodyPr/>
                    <a:lstStyle/>
                    <a:p>
                      <a:endParaRPr lang="en-IN" sz="1000" b="0" dirty="0"/>
                    </a:p>
                  </a:txBody>
                  <a:tcPr marT="45722" marB="45722"/>
                </a:tc>
                <a:tc>
                  <a:txBody>
                    <a:bodyPr/>
                    <a:lstStyle/>
                    <a:p>
                      <a:endParaRPr lang="en-IN" sz="900" dirty="0"/>
                    </a:p>
                  </a:txBody>
                  <a:tcPr marT="45722" marB="45722"/>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Research Gap</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0485" name="Rectangle 20484"/>
          <p:cNvSpPr/>
          <p:nvPr/>
        </p:nvSpPr>
        <p:spPr>
          <a:xfrm>
            <a:off x="1143000" y="1325880"/>
            <a:ext cx="3657600" cy="36576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50" b="1">
                <a:solidFill>
                  <a:srgbClr val="FFFFFF"/>
                </a:solidFill>
                <a:latin typeface="Calibri"/>
              </a:rPr>
              <a:t>What exists (papers reviewed so far)</a:t>
            </a:r>
          </a:p>
        </p:txBody>
      </p:sp>
      <p:sp>
        <p:nvSpPr>
          <p:cNvPr id="20486" name="TextBox 20485"/>
          <p:cNvSpPr txBox="1"/>
          <p:nvPr/>
        </p:nvSpPr>
        <p:spPr>
          <a:xfrm>
            <a:off x="1143000" y="1755648"/>
            <a:ext cx="3657600" cy="3200400"/>
          </a:xfrm>
          <a:prstGeom prst="rect">
            <a:avLst/>
          </a:prstGeom>
          <a:noFill/>
        </p:spPr>
        <p:txBody>
          <a:bodyPr wrap="square" lIns="54864" rIns="54864" tIns="27432" bIns="27432" anchor="t">
            <a:noAutofit/>
          </a:bodyPr>
          <a:lstStyle/>
          <a:p>
            <a:pPr algn="l" marL="182880" indent="-182880">
              <a:spcAft>
                <a:spcPts val="600"/>
              </a:spcAft>
              <a:buFont typeface="Arial"/>
              <a:buChar char="•"/>
            </a:pPr>
            <a:r>
              <a:rPr sz="1250" b="0" i="0">
                <a:solidFill>
                  <a:srgbClr val="26323F"/>
                </a:solidFill>
                <a:latin typeface="Calibri"/>
              </a:rPr>
              <a:t>Sound benchmarks (MIMII, DCASE) mostly train one model per machine, or use large models.</a:t>
            </a:r>
          </a:p>
          <a:p>
            <a:pPr algn="l" marL="182880" indent="-182880">
              <a:spcAft>
                <a:spcPts val="600"/>
              </a:spcAft>
              <a:buFont typeface="Arial"/>
              <a:buChar char="•"/>
            </a:pPr>
            <a:r>
              <a:rPr sz="1250" b="0" i="0">
                <a:solidFill>
                  <a:srgbClr val="26323F"/>
                </a:solidFill>
                <a:latin typeface="Calibri"/>
              </a:rPr>
              <a:t>Tiny autoencoders exist, but without adapting to a new machine.</a:t>
            </a:r>
          </a:p>
          <a:p>
            <a:pPr algn="l" marL="182880" indent="-182880">
              <a:spcAft>
                <a:spcPts val="600"/>
              </a:spcAft>
              <a:buFont typeface="Arial"/>
              <a:buChar char="•"/>
            </a:pPr>
            <a:r>
              <a:rPr sz="1250" b="0" i="0">
                <a:solidFill>
                  <a:srgbClr val="26323F"/>
                </a:solidFill>
                <a:latin typeface="Calibri"/>
              </a:rPr>
              <a:t>Low-cost ESP32 monitors we found rely on a single sensor, usually vibration.</a:t>
            </a:r>
          </a:p>
          <a:p>
            <a:pPr algn="l" marL="182880" indent="-182880">
              <a:spcAft>
                <a:spcPts val="600"/>
              </a:spcAft>
              <a:buFont typeface="Arial"/>
              <a:buChar char="•"/>
            </a:pPr>
            <a:r>
              <a:rPr sz="1250" b="0" i="0">
                <a:solidFill>
                  <a:srgbClr val="26323F"/>
                </a:solidFill>
                <a:latin typeface="Calibri"/>
              </a:rPr>
              <a:t>Adaptation methods (AdaFlow, few-shot) are heavier, and the abstracts we read do not show them on a low-cost chip.</a:t>
            </a:r>
          </a:p>
        </p:txBody>
      </p:sp>
      <p:sp>
        <p:nvSpPr>
          <p:cNvPr id="20487" name="Rectangle 20486"/>
          <p:cNvSpPr/>
          <p:nvPr/>
        </p:nvSpPr>
        <p:spPr>
          <a:xfrm>
            <a:off x="5029200" y="1325880"/>
            <a:ext cx="3703320" cy="365760"/>
          </a:xfrm>
          <a:prstGeom prst="rect">
            <a:avLst/>
          </a:prstGeom>
          <a:solidFill>
            <a:srgbClr val="1581A8"/>
          </a:solidFill>
          <a:ln w="19050">
            <a:solidFill>
              <a:srgbClr val="1581A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50" b="1">
                <a:solidFill>
                  <a:srgbClr val="FFFFFF"/>
                </a:solidFill>
                <a:latin typeface="Calibri"/>
              </a:rPr>
              <a:t>Gap we address</a:t>
            </a:r>
          </a:p>
        </p:txBody>
      </p:sp>
      <p:sp>
        <p:nvSpPr>
          <p:cNvPr id="20488" name="TextBox 20487"/>
          <p:cNvSpPr txBox="1"/>
          <p:nvPr/>
        </p:nvSpPr>
        <p:spPr>
          <a:xfrm>
            <a:off x="5029200" y="1755648"/>
            <a:ext cx="3703320" cy="3200400"/>
          </a:xfrm>
          <a:prstGeom prst="rect">
            <a:avLst/>
          </a:prstGeom>
          <a:noFill/>
        </p:spPr>
        <p:txBody>
          <a:bodyPr wrap="square" lIns="54864" rIns="54864" tIns="27432" bIns="27432" anchor="t">
            <a:noAutofit/>
          </a:bodyPr>
          <a:lstStyle/>
          <a:p>
            <a:pPr algn="l" marL="182880" indent="-182880">
              <a:spcAft>
                <a:spcPts val="600"/>
              </a:spcAft>
              <a:buFont typeface="Arial"/>
              <a:buChar char="•"/>
            </a:pPr>
            <a:r>
              <a:rPr sz="1250" b="1" i="0">
                <a:solidFill>
                  <a:srgbClr val="25578F"/>
                </a:solidFill>
                <a:latin typeface="Calibri"/>
              </a:rPr>
              <a:t>New-machine gap: </a:t>
            </a:r>
            <a:r>
              <a:rPr sz="1250" b="0" i="0">
                <a:solidFill>
                  <a:srgbClr val="26323F"/>
                </a:solidFill>
                <a:latin typeface="Calibri"/>
              </a:rPr>
              <a:t>without calibration, AUC is near 0.5 for fans and pumps on a healthy new machine.</a:t>
            </a:r>
          </a:p>
          <a:p>
            <a:pPr algn="l" marL="182880" indent="-182880">
              <a:spcAft>
                <a:spcPts val="600"/>
              </a:spcAft>
              <a:buFont typeface="Arial"/>
              <a:buChar char="•"/>
            </a:pPr>
            <a:r>
              <a:rPr sz="1250" b="1" i="0">
                <a:solidFill>
                  <a:srgbClr val="25578F"/>
                </a:solidFill>
                <a:latin typeface="Calibri"/>
              </a:rPr>
              <a:t>Cost gap: </a:t>
            </a:r>
            <a:r>
              <a:rPr sz="1250" b="0" i="0">
                <a:solidFill>
                  <a:srgbClr val="26323F"/>
                </a:solidFill>
                <a:latin typeface="Calibri"/>
              </a:rPr>
              <a:t>a tiny model, about 10 minutes of healthy sound, no fault examples and no retraining.</a:t>
            </a:r>
          </a:p>
          <a:p>
            <a:pPr algn="l" marL="182880" indent="-182880">
              <a:spcAft>
                <a:spcPts val="600"/>
              </a:spcAft>
              <a:buFont typeface="Arial"/>
              <a:buChar char="•"/>
            </a:pPr>
            <a:r>
              <a:rPr sz="1250" b="1" i="0">
                <a:solidFill>
                  <a:srgbClr val="25578F"/>
                </a:solidFill>
                <a:latin typeface="Calibri"/>
              </a:rPr>
              <a:t>Multi-modal gap: </a:t>
            </a:r>
            <a:r>
              <a:rPr sz="1250" b="0" i="0">
                <a:solidFill>
                  <a:srgbClr val="26323F"/>
                </a:solidFill>
                <a:latin typeface="Calibri"/>
              </a:rPr>
              <a:t>sound and vibration are rarely combined on one low-cost node. Vibration is not affected by airborne noise, so it can support the sound decision when sound alone is weak.</a:t>
            </a:r>
          </a:p>
          <a:p>
            <a:pPr algn="l" marL="182880" indent="-182880">
              <a:spcAft>
                <a:spcPts val="600"/>
              </a:spcAft>
              <a:buFont typeface="Arial"/>
              <a:buChar char="•"/>
            </a:pPr>
            <a:r>
              <a:rPr sz="1250" b="1" i="0">
                <a:solidFill>
                  <a:srgbClr val="25578F"/>
                </a:solidFill>
                <a:latin typeface="Calibri"/>
              </a:rPr>
              <a:t>Evidence gap: </a:t>
            </a:r>
            <a:r>
              <a:rPr sz="1250" b="0" i="0">
                <a:solidFill>
                  <a:srgbClr val="26323F"/>
                </a:solidFill>
                <a:latin typeface="Calibri"/>
              </a:rPr>
              <a:t>leave-one-machine-out tests with the failures reported (valves, heavy noise).</a:t>
            </a:r>
          </a:p>
          <a:p>
            <a:pPr algn="l" marL="182880" indent="-182880">
              <a:spcAft>
                <a:spcPts val="600"/>
              </a:spcAft>
              <a:buFont typeface="Arial"/>
              <a:buChar char="•"/>
            </a:pPr>
            <a:r>
              <a:rPr sz="1250" b="1" i="0">
                <a:solidFill>
                  <a:srgbClr val="25578F"/>
                </a:solidFill>
                <a:latin typeface="Calibri"/>
              </a:rPr>
              <a:t>Open in our search: </a:t>
            </a:r>
            <a:r>
              <a:rPr sz="1250" b="0" i="0">
                <a:solidFill>
                  <a:srgbClr val="26323F"/>
                </a:solidFill>
                <a:latin typeface="Calibri"/>
              </a:rPr>
              <a:t>the extra energy and noise caused by a fault, estimated on a low-cost node (search was narrow).</a:t>
            </a:r>
          </a:p>
        </p:txBody>
      </p:sp>
      <p:sp>
        <p:nvSpPr>
          <p:cNvPr id="20489" name="Rectangle 20488"/>
          <p:cNvSpPr/>
          <p:nvPr/>
        </p:nvSpPr>
        <p:spPr>
          <a:xfrm>
            <a:off x="1143000" y="5074920"/>
            <a:ext cx="7589520" cy="73152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We do not claim a new method. The closest idea is AdaFlow (ICASSP 2019), which adapts a model with adaptive normalisation. Our contribution is a low-cost, tiny-model, multi-modal version with a leave-one-machine-out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System Workflow Explained</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0485" name="Rectangle 20484"/>
          <p:cNvSpPr/>
          <p:nvPr/>
        </p:nvSpPr>
        <p:spPr>
          <a:xfrm>
            <a:off x="1143000" y="1325880"/>
            <a:ext cx="1554480" cy="64008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a:solidFill>
                  <a:srgbClr val="FFFFFF"/>
                </a:solidFill>
                <a:latin typeface="Calibri"/>
              </a:rPr>
              <a:t>1  Capture</a:t>
            </a:r>
          </a:p>
        </p:txBody>
      </p:sp>
      <p:sp>
        <p:nvSpPr>
          <p:cNvPr id="20486" name="Rectangle 20485"/>
          <p:cNvSpPr/>
          <p:nvPr/>
        </p:nvSpPr>
        <p:spPr>
          <a:xfrm>
            <a:off x="2697480" y="1325880"/>
            <a:ext cx="6035040" cy="64008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0487" name="TextBox 20486"/>
          <p:cNvSpPr txBox="1"/>
          <p:nvPr/>
        </p:nvSpPr>
        <p:spPr>
          <a:xfrm>
            <a:off x="2743200" y="1325880"/>
            <a:ext cx="5943600" cy="640080"/>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The INMP441 microphone samples sound at 16,000 times per second; the MPU6050 measures vibration of the machine.</a:t>
            </a:r>
          </a:p>
        </p:txBody>
      </p:sp>
      <p:sp>
        <p:nvSpPr>
          <p:cNvPr id="20488" name="Rectangle 20487"/>
          <p:cNvSpPr/>
          <p:nvPr/>
        </p:nvSpPr>
        <p:spPr>
          <a:xfrm>
            <a:off x="1143000" y="2039112"/>
            <a:ext cx="1554480" cy="64008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a:solidFill>
                  <a:srgbClr val="FFFFFF"/>
                </a:solidFill>
                <a:latin typeface="Calibri"/>
              </a:rPr>
              <a:t>2  Features</a:t>
            </a:r>
          </a:p>
        </p:txBody>
      </p:sp>
      <p:sp>
        <p:nvSpPr>
          <p:cNvPr id="20489" name="Rectangle 20488"/>
          <p:cNvSpPr/>
          <p:nvPr/>
        </p:nvSpPr>
        <p:spPr>
          <a:xfrm>
            <a:off x="2697480" y="2039112"/>
            <a:ext cx="6035040" cy="64008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0490" name="TextBox 20489"/>
          <p:cNvSpPr txBox="1"/>
          <p:nvPr/>
        </p:nvSpPr>
        <p:spPr>
          <a:xfrm>
            <a:off x="2743200" y="2039112"/>
            <a:ext cx="5943600" cy="640080"/>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Sound is cut into 64 ms windows every 32 ms and turned into 64 log-mel numbers (energy in 64 pitch bands). Vibration is turned into strength features (RMS) over 32 ms frames.</a:t>
            </a:r>
          </a:p>
        </p:txBody>
      </p:sp>
      <p:sp>
        <p:nvSpPr>
          <p:cNvPr id="20491" name="Rectangle 20490"/>
          <p:cNvSpPr/>
          <p:nvPr/>
        </p:nvSpPr>
        <p:spPr>
          <a:xfrm>
            <a:off x="1143000" y="2752344"/>
            <a:ext cx="1554480" cy="64008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a:solidFill>
                  <a:srgbClr val="FFFFFF"/>
                </a:solidFill>
                <a:latin typeface="Calibri"/>
              </a:rPr>
              <a:t>3  Calibration</a:t>
            </a:r>
          </a:p>
        </p:txBody>
      </p:sp>
      <p:sp>
        <p:nvSpPr>
          <p:cNvPr id="20492" name="Rectangle 20491"/>
          <p:cNvSpPr/>
          <p:nvPr/>
        </p:nvSpPr>
        <p:spPr>
          <a:xfrm>
            <a:off x="2697480" y="2752344"/>
            <a:ext cx="6035040" cy="64008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0493" name="TextBox 20492"/>
          <p:cNvSpPr txBox="1"/>
          <p:nvPr/>
        </p:nvSpPr>
        <p:spPr>
          <a:xfrm>
            <a:off x="2743200" y="2752344"/>
            <a:ext cx="5943600" cy="640080"/>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At installation the device listens to 60 healthy clips (about 10 minutes): the first 30 give each feature's usual level and spread, the next 30 set the alert level.</a:t>
            </a:r>
          </a:p>
        </p:txBody>
      </p:sp>
      <p:sp>
        <p:nvSpPr>
          <p:cNvPr id="20494" name="Rectangle 20493"/>
          <p:cNvSpPr/>
          <p:nvPr/>
        </p:nvSpPr>
        <p:spPr>
          <a:xfrm>
            <a:off x="1143000" y="3465575"/>
            <a:ext cx="1554480" cy="64008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a:solidFill>
                  <a:srgbClr val="FFFFFF"/>
                </a:solidFill>
                <a:latin typeface="Calibri"/>
              </a:rPr>
              <a:t>4  Models</a:t>
            </a:r>
          </a:p>
        </p:txBody>
      </p:sp>
      <p:sp>
        <p:nvSpPr>
          <p:cNvPr id="20495" name="Rectangle 20494"/>
          <p:cNvSpPr/>
          <p:nvPr/>
        </p:nvSpPr>
        <p:spPr>
          <a:xfrm>
            <a:off x="2697480" y="3465575"/>
            <a:ext cx="6035040" cy="64008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0496" name="TextBox 20495"/>
          <p:cNvSpPr txBox="1"/>
          <p:nvPr/>
        </p:nvSpPr>
        <p:spPr>
          <a:xfrm>
            <a:off x="2743200" y="3465575"/>
            <a:ext cx="5943600" cy="640080"/>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A small autoencoder trained on healthy sound gives a score (rebuilding error). A vibration model gives the motor's health. Other models may be added alongside the autoencoder if they improve results.</a:t>
            </a:r>
          </a:p>
        </p:txBody>
      </p:sp>
      <p:sp>
        <p:nvSpPr>
          <p:cNvPr id="20497" name="Rectangle 20496"/>
          <p:cNvSpPr/>
          <p:nvPr/>
        </p:nvSpPr>
        <p:spPr>
          <a:xfrm>
            <a:off x="1143000" y="4178807"/>
            <a:ext cx="1554480" cy="64008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a:solidFill>
                  <a:srgbClr val="FFFFFF"/>
                </a:solidFill>
                <a:latin typeface="Calibri"/>
              </a:rPr>
              <a:t>5  Decision</a:t>
            </a:r>
          </a:p>
        </p:txBody>
      </p:sp>
      <p:sp>
        <p:nvSpPr>
          <p:cNvPr id="20498" name="Rectangle 20497"/>
          <p:cNvSpPr/>
          <p:nvPr/>
        </p:nvSpPr>
        <p:spPr>
          <a:xfrm>
            <a:off x="2697480" y="4178807"/>
            <a:ext cx="6035040" cy="64008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0499" name="TextBox 20498"/>
          <p:cNvSpPr txBox="1"/>
          <p:nvPr/>
        </p:nvSpPr>
        <p:spPr>
          <a:xfrm>
            <a:off x="2743200" y="4178807"/>
            <a:ext cx="5943600" cy="640080"/>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The sound score is compared with the alert level. The motor-health output is planned to support this decision and cut false alarms (fusion; to be tested).</a:t>
            </a:r>
          </a:p>
        </p:txBody>
      </p:sp>
      <p:sp>
        <p:nvSpPr>
          <p:cNvPr id="20500" name="Rectangle 20499"/>
          <p:cNvSpPr/>
          <p:nvPr/>
        </p:nvSpPr>
        <p:spPr>
          <a:xfrm>
            <a:off x="1143000" y="4892040"/>
            <a:ext cx="1554480" cy="640080"/>
          </a:xfrm>
          <a:prstGeom prst="rect">
            <a:avLst/>
          </a:prstGeom>
          <a:solidFill>
            <a:srgbClr val="25578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a:solidFill>
                  <a:srgbClr val="FFFFFF"/>
                </a:solidFill>
                <a:latin typeface="Calibri"/>
              </a:rPr>
              <a:t>6  Output</a:t>
            </a:r>
          </a:p>
        </p:txBody>
      </p:sp>
      <p:sp>
        <p:nvSpPr>
          <p:cNvPr id="20501" name="Rectangle 20500"/>
          <p:cNvSpPr/>
          <p:nvPr/>
        </p:nvSpPr>
        <p:spPr>
          <a:xfrm>
            <a:off x="2697480" y="4892040"/>
            <a:ext cx="6035040" cy="640080"/>
          </a:xfrm>
          <a:prstGeom prst="rect">
            <a:avLst/>
          </a:prstGeom>
          <a:solidFill>
            <a:srgbClr val="F6F9FC"/>
          </a:solidFill>
          <a:ln w="12700">
            <a:solidFill>
              <a:srgbClr val="B9C9D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200" b="0">
                <a:solidFill>
                  <a:srgbClr val="26323F"/>
                </a:solidFill>
                <a:latin typeface="Calibri"/>
              </a:rPr>
              <a:t/>
            </a:r>
          </a:p>
        </p:txBody>
      </p:sp>
      <p:sp>
        <p:nvSpPr>
          <p:cNvPr id="20502" name="TextBox 20501"/>
          <p:cNvSpPr txBox="1"/>
          <p:nvPr/>
        </p:nvSpPr>
        <p:spPr>
          <a:xfrm>
            <a:off x="2743200" y="4892040"/>
            <a:ext cx="5943600" cy="640080"/>
          </a:xfrm>
          <a:prstGeom prst="rect">
            <a:avLst/>
          </a:prstGeom>
          <a:noFill/>
        </p:spPr>
        <p:txBody>
          <a:bodyPr wrap="square" lIns="54864" rIns="54864" tIns="27432" bIns="27432" anchor="ctr">
            <a:noAutofit/>
          </a:bodyPr>
          <a:lstStyle/>
          <a:p>
            <a:pPr algn="l">
              <a:spcAft>
                <a:spcPts val="0"/>
              </a:spcAft>
            </a:pPr>
            <a:r>
              <a:rPr sz="1200" b="0" i="0">
                <a:solidFill>
                  <a:srgbClr val="26323F"/>
                </a:solidFill>
                <a:latin typeface="Calibri"/>
              </a:rPr>
              <a:t>A green or red LED shows the result. Power and noise readings are logged for the extra energy and noise estimate.</a:t>
            </a:r>
          </a:p>
        </p:txBody>
      </p:sp>
      <p:sp>
        <p:nvSpPr>
          <p:cNvPr id="20503" name="TextBox 20502"/>
          <p:cNvSpPr txBox="1"/>
          <p:nvPr/>
        </p:nvSpPr>
        <p:spPr>
          <a:xfrm>
            <a:off x="1143000" y="5650992"/>
            <a:ext cx="7589520" cy="365760"/>
          </a:xfrm>
          <a:prstGeom prst="rect">
            <a:avLst/>
          </a:prstGeom>
          <a:noFill/>
        </p:spPr>
        <p:txBody>
          <a:bodyPr wrap="square" lIns="54864" rIns="54864" tIns="27432" bIns="27432" anchor="t">
            <a:noAutofit/>
          </a:bodyPr>
          <a:lstStyle/>
          <a:p>
            <a:pPr algn="l">
              <a:spcAft>
                <a:spcPts val="400"/>
              </a:spcAft>
            </a:pPr>
            <a:r>
              <a:rPr sz="1100" b="0" i="1">
                <a:solidFill>
                  <a:srgbClr val="6B7580"/>
                </a:solidFill>
                <a:latin typeface="Calibri"/>
              </a:rPr>
              <a:t>Built and tested on a laptop: steps 2, 3 and the sound part of 4 and 5. Planned: the vibration model in the device, fusion, hardware and step 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Methodology: Sound Features</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0485" name="TextBox 20484"/>
          <p:cNvSpPr txBox="1"/>
          <p:nvPr/>
        </p:nvSpPr>
        <p:spPr>
          <a:xfrm>
            <a:off x="1143000" y="1325880"/>
            <a:ext cx="4846320" cy="4572000"/>
          </a:xfrm>
          <a:prstGeom prst="rect">
            <a:avLst/>
          </a:prstGeom>
          <a:noFill/>
        </p:spPr>
        <p:txBody>
          <a:bodyPr wrap="square" lIns="54864" rIns="54864" tIns="27432" bIns="27432" anchor="t">
            <a:noAutofit/>
          </a:bodyPr>
          <a:lstStyle/>
          <a:p>
            <a:pPr algn="l">
              <a:spcAft>
                <a:spcPts val="800"/>
              </a:spcAft>
            </a:pPr>
            <a:r>
              <a:rPr sz="1300" b="1" i="0">
                <a:solidFill>
                  <a:srgbClr val="25578F"/>
                </a:solidFill>
                <a:latin typeface="Calibri"/>
              </a:rPr>
              <a:t>Data. </a:t>
            </a:r>
            <a:r>
              <a:rPr sz="1300" b="0" i="0">
                <a:solidFill>
                  <a:srgbClr val="26323F"/>
                </a:solidFill>
                <a:latin typeface="Calibri"/>
              </a:rPr>
              <a:t>MIMII sound dataset: fans, pumps, slide rails and valves, four machines of each, healthy and faulty clips, at three noise levels (6, 0 and -6 dB). Only microphone 1 of the 8-microphone array is used, because our device has one microphone.</a:t>
            </a:r>
          </a:p>
          <a:p>
            <a:pPr algn="l">
              <a:spcAft>
                <a:spcPts val="800"/>
              </a:spcAft>
            </a:pPr>
            <a:r>
              <a:rPr sz="1300" b="1" i="0">
                <a:solidFill>
                  <a:srgbClr val="25578F"/>
                </a:solidFill>
                <a:latin typeface="Calibri"/>
              </a:rPr>
              <a:t>Windows. </a:t>
            </a:r>
            <a:r>
              <a:rPr sz="1300" b="0" i="0">
                <a:solidFill>
                  <a:srgbClr val="26323F"/>
                </a:solidFill>
                <a:latin typeface="Calibri"/>
              </a:rPr>
              <a:t>The sound is cut into windows of 1024 samples (64 ms) that move forward 512 samples (32 ms). The overlap means no short event is cut at a window edge.</a:t>
            </a:r>
          </a:p>
          <a:p>
            <a:pPr algn="l">
              <a:spcAft>
                <a:spcPts val="800"/>
              </a:spcAft>
            </a:pPr>
            <a:r>
              <a:rPr sz="1300" b="1" i="0">
                <a:solidFill>
                  <a:srgbClr val="25578F"/>
                </a:solidFill>
                <a:latin typeface="Calibri"/>
              </a:rPr>
              <a:t>Spectrum. </a:t>
            </a:r>
            <a:r>
              <a:rPr sz="1300" b="0" i="0">
                <a:solidFill>
                  <a:srgbClr val="26323F"/>
                </a:solidFill>
                <a:latin typeface="Calibri"/>
              </a:rPr>
              <a:t>An FFT turns each window into 513 pitch values; squaring gives the energy at each pitch.</a:t>
            </a:r>
          </a:p>
          <a:p>
            <a:pPr algn="l">
              <a:spcAft>
                <a:spcPts val="800"/>
              </a:spcAft>
            </a:pPr>
            <a:r>
              <a:rPr sz="1300" b="1" i="0">
                <a:solidFill>
                  <a:srgbClr val="25578F"/>
                </a:solidFill>
                <a:latin typeface="Calibri"/>
              </a:rPr>
              <a:t>Mel bands. </a:t>
            </a:r>
            <a:r>
              <a:rPr sz="1300" b="0" i="0">
                <a:solidFill>
                  <a:srgbClr val="26323F"/>
                </a:solidFill>
                <a:latin typeface="Calibri"/>
              </a:rPr>
              <a:t>The 513 values are grouped into 64 bands (32 for sliders), narrow at low pitch and wide at high pitch like human hearing, then a logarithm is taken (decibel-like).</a:t>
            </a:r>
          </a:p>
          <a:p>
            <a:pPr algn="l">
              <a:spcAft>
                <a:spcPts val="800"/>
              </a:spcAft>
            </a:pPr>
            <a:r>
              <a:rPr sz="1300" b="1" i="0">
                <a:solidFill>
                  <a:srgbClr val="25578F"/>
                </a:solidFill>
                <a:latin typeface="Calibri"/>
              </a:rPr>
              <a:t>Result. </a:t>
            </a:r>
            <a:r>
              <a:rPr sz="1300" b="0" i="0">
                <a:solidFill>
                  <a:srgbClr val="26323F"/>
                </a:solidFill>
                <a:latin typeface="Calibri"/>
              </a:rPr>
              <a:t>64 numbers every 32 ms. A 10-second clip is a table of 64 bands by 313 time steps. The Hitachi baseline joins 5 time steps (320 numbers); our final models use 1.</a:t>
            </a:r>
          </a:p>
        </p:txBody>
      </p:sp>
      <p:sp>
        <p:nvSpPr>
          <p:cNvPr id="20486" name="TextBox 20485"/>
          <p:cNvSpPr txBox="1"/>
          <p:nvPr/>
        </p:nvSpPr>
        <p:spPr>
          <a:xfrm>
            <a:off x="6172200" y="1325880"/>
            <a:ext cx="2560320" cy="320040"/>
          </a:xfrm>
          <a:prstGeom prst="rect">
            <a:avLst/>
          </a:prstGeom>
          <a:noFill/>
        </p:spPr>
        <p:txBody>
          <a:bodyPr wrap="square" lIns="54864" rIns="54864" tIns="27432" bIns="27432" anchor="t">
            <a:noAutofit/>
          </a:bodyPr>
          <a:lstStyle/>
          <a:p>
            <a:pPr algn="l">
              <a:spcAft>
                <a:spcPts val="400"/>
              </a:spcAft>
            </a:pPr>
            <a:r>
              <a:rPr sz="1300" b="1" i="0">
                <a:solidFill>
                  <a:srgbClr val="25578F"/>
                </a:solidFill>
                <a:latin typeface="Calibri"/>
              </a:rPr>
              <a:t>Settings and why</a:t>
            </a:r>
          </a:p>
        </p:txBody>
      </p:sp>
      <p:graphicFrame>
        <p:nvGraphicFramePr>
          <p:cNvPr id="20487" name="Table 20486"/>
          <p:cNvGraphicFramePr>
            <a:graphicFrameLocks noGrp="1"/>
          </p:cNvGraphicFramePr>
          <p:nvPr/>
        </p:nvGraphicFramePr>
        <p:xfrm>
          <a:off x="6172200" y="1691640"/>
          <a:ext cx="2560320" cy="1975104"/>
        </p:xfrm>
        <a:graphic>
          <a:graphicData uri="http://schemas.openxmlformats.org/drawingml/2006/table">
            <a:tbl>
              <a:tblPr firstRow="0" bandRow="0">
                <a:tableStyleId>{2D5ABB26-0587-4C30-8999-92F81FD0307C}</a:tableStyleId>
              </a:tblPr>
              <a:tblGrid>
                <a:gridCol w="1188720"/>
                <a:gridCol w="1371600"/>
              </a:tblGrid>
              <a:tr h="329184">
                <a:tc>
                  <a:txBody>
                    <a:bodyPr wrap="square"/>
                    <a:lstStyle/>
                    <a:p>
                      <a:r>
                        <a:rPr sz="1100" b="1">
                          <a:solidFill>
                            <a:srgbClr val="FFFFFF"/>
                          </a:solidFill>
                          <a:latin typeface="Calibri"/>
                        </a:rPr>
                        <a:t>Setting</a:t>
                      </a:r>
                    </a:p>
                  </a:txBody>
                  <a:tcPr marL="54864" marR="54864" marT="27432" marB="27432" anchor="ctr">
                    <a:solidFill>
                      <a:srgbClr val="25578F"/>
                    </a:solidFill>
                  </a:tcPr>
                </a:tc>
                <a:tc>
                  <a:txBody>
                    <a:bodyPr wrap="square"/>
                    <a:lstStyle/>
                    <a:p>
                      <a:r>
                        <a:rPr sz="1100" b="1">
                          <a:solidFill>
                            <a:srgbClr val="FFFFFF"/>
                          </a:solidFill>
                          <a:latin typeface="Calibri"/>
                        </a:rPr>
                        <a:t>Value</a:t>
                      </a:r>
                    </a:p>
                  </a:txBody>
                  <a:tcPr marL="54864" marR="54864" marT="27432" marB="27432" anchor="ctr">
                    <a:solidFill>
                      <a:srgbClr val="25578F"/>
                    </a:solidFill>
                  </a:tcPr>
                </a:tc>
              </a:tr>
              <a:tr h="329184">
                <a:tc>
                  <a:txBody>
                    <a:bodyPr wrap="square"/>
                    <a:lstStyle/>
                    <a:p>
                      <a:r>
                        <a:rPr sz="1100" b="0">
                          <a:solidFill>
                            <a:srgbClr val="26323F"/>
                          </a:solidFill>
                          <a:latin typeface="Calibri"/>
                        </a:rPr>
                        <a:t>Window</a:t>
                      </a:r>
                    </a:p>
                  </a:txBody>
                  <a:tcPr marL="54864" marR="54864" marT="27432" marB="27432" anchor="ctr">
                    <a:solidFill>
                      <a:srgbClr val="E6EEF7"/>
                    </a:solidFill>
                  </a:tcPr>
                </a:tc>
                <a:tc>
                  <a:txBody>
                    <a:bodyPr wrap="square"/>
                    <a:lstStyle/>
                    <a:p>
                      <a:r>
                        <a:rPr sz="1100" b="0">
                          <a:solidFill>
                            <a:srgbClr val="26323F"/>
                          </a:solidFill>
                          <a:latin typeface="Calibri"/>
                        </a:rPr>
                        <a:t>1024 (64 ms)</a:t>
                      </a:r>
                    </a:p>
                  </a:txBody>
                  <a:tcPr marL="54864" marR="54864" marT="27432" marB="27432" anchor="ctr">
                    <a:solidFill>
                      <a:srgbClr val="E6EEF7"/>
                    </a:solidFill>
                  </a:tcPr>
                </a:tc>
              </a:tr>
              <a:tr h="329184">
                <a:tc>
                  <a:txBody>
                    <a:bodyPr wrap="square"/>
                    <a:lstStyle/>
                    <a:p>
                      <a:r>
                        <a:rPr sz="1100" b="0">
                          <a:solidFill>
                            <a:srgbClr val="26323F"/>
                          </a:solidFill>
                          <a:latin typeface="Calibri"/>
                        </a:rPr>
                        <a:t>Step</a:t>
                      </a:r>
                    </a:p>
                  </a:txBody>
                  <a:tcPr marL="54864" marR="54864" marT="27432" marB="27432" anchor="ctr">
                    <a:solidFill>
                      <a:srgbClr val="F6F9FC"/>
                    </a:solidFill>
                  </a:tcPr>
                </a:tc>
                <a:tc>
                  <a:txBody>
                    <a:bodyPr wrap="square"/>
                    <a:lstStyle/>
                    <a:p>
                      <a:r>
                        <a:rPr sz="1100" b="0">
                          <a:solidFill>
                            <a:srgbClr val="26323F"/>
                          </a:solidFill>
                          <a:latin typeface="Calibri"/>
                        </a:rPr>
                        <a:t>512 (32 ms)</a:t>
                      </a:r>
                    </a:p>
                  </a:txBody>
                  <a:tcPr marL="54864" marR="54864" marT="27432" marB="27432" anchor="ctr">
                    <a:solidFill>
                      <a:srgbClr val="F6F9FC"/>
                    </a:solidFill>
                  </a:tcPr>
                </a:tc>
              </a:tr>
              <a:tr h="329184">
                <a:tc>
                  <a:txBody>
                    <a:bodyPr wrap="square"/>
                    <a:lstStyle/>
                    <a:p>
                      <a:r>
                        <a:rPr sz="1100" b="0">
                          <a:solidFill>
                            <a:srgbClr val="26323F"/>
                          </a:solidFill>
                          <a:latin typeface="Calibri"/>
                        </a:rPr>
                        <a:t>Power</a:t>
                      </a:r>
                    </a:p>
                  </a:txBody>
                  <a:tcPr marL="54864" marR="54864" marT="27432" marB="27432" anchor="ctr">
                    <a:solidFill>
                      <a:srgbClr val="E6EEF7"/>
                    </a:solidFill>
                  </a:tcPr>
                </a:tc>
                <a:tc>
                  <a:txBody>
                    <a:bodyPr wrap="square"/>
                    <a:lstStyle/>
                    <a:p>
                      <a:r>
                        <a:rPr sz="1100" b="0">
                          <a:solidFill>
                            <a:srgbClr val="26323F"/>
                          </a:solidFill>
                          <a:latin typeface="Calibri"/>
                        </a:rPr>
                        <a:t>2 (energy)</a:t>
                      </a:r>
                    </a:p>
                  </a:txBody>
                  <a:tcPr marL="54864" marR="54864" marT="27432" marB="27432" anchor="ctr">
                    <a:solidFill>
                      <a:srgbClr val="E6EEF7"/>
                    </a:solidFill>
                  </a:tcPr>
                </a:tc>
              </a:tr>
              <a:tr h="329184">
                <a:tc>
                  <a:txBody>
                    <a:bodyPr wrap="square"/>
                    <a:lstStyle/>
                    <a:p>
                      <a:r>
                        <a:rPr sz="1100" b="0">
                          <a:solidFill>
                            <a:srgbClr val="26323F"/>
                          </a:solidFill>
                          <a:latin typeface="Calibri"/>
                        </a:rPr>
                        <a:t>Bands</a:t>
                      </a:r>
                    </a:p>
                  </a:txBody>
                  <a:tcPr marL="54864" marR="54864" marT="27432" marB="27432" anchor="ctr">
                    <a:solidFill>
                      <a:srgbClr val="F6F9FC"/>
                    </a:solidFill>
                  </a:tcPr>
                </a:tc>
                <a:tc>
                  <a:txBody>
                    <a:bodyPr wrap="square"/>
                    <a:lstStyle/>
                    <a:p>
                      <a:r>
                        <a:rPr sz="1100" b="0">
                          <a:solidFill>
                            <a:srgbClr val="26323F"/>
                          </a:solidFill>
                          <a:latin typeface="Calibri"/>
                        </a:rPr>
                        <a:t>64 (slider 32)</a:t>
                      </a:r>
                    </a:p>
                  </a:txBody>
                  <a:tcPr marL="54864" marR="54864" marT="27432" marB="27432" anchor="ctr">
                    <a:solidFill>
                      <a:srgbClr val="F6F9FC"/>
                    </a:solidFill>
                  </a:tcPr>
                </a:tc>
              </a:tr>
              <a:tr h="329184">
                <a:tc>
                  <a:txBody>
                    <a:bodyPr wrap="square"/>
                    <a:lstStyle/>
                    <a:p>
                      <a:r>
                        <a:rPr sz="1100" b="0">
                          <a:solidFill>
                            <a:srgbClr val="26323F"/>
                          </a:solidFill>
                          <a:latin typeface="Calibri"/>
                        </a:rPr>
                        <a:t>Frames</a:t>
                      </a:r>
                    </a:p>
                  </a:txBody>
                  <a:tcPr marL="54864" marR="54864" marT="27432" marB="27432" anchor="ctr">
                    <a:solidFill>
                      <a:srgbClr val="E6EEF7"/>
                    </a:solidFill>
                  </a:tcPr>
                </a:tc>
                <a:tc>
                  <a:txBody>
                    <a:bodyPr wrap="square"/>
                    <a:lstStyle/>
                    <a:p>
                      <a:r>
                        <a:rPr sz="1100" b="0">
                          <a:solidFill>
                            <a:srgbClr val="26323F"/>
                          </a:solidFill>
                          <a:latin typeface="Calibri"/>
                        </a:rPr>
                        <a:t>1 (baseline 5)</a:t>
                      </a:r>
                    </a:p>
                  </a:txBody>
                  <a:tcPr marL="54864" marR="54864" marT="27432" marB="27432" anchor="ctr">
                    <a:solidFill>
                      <a:srgbClr val="E6EEF7"/>
                    </a:solidFill>
                  </a:tcPr>
                </a:tc>
              </a:tr>
            </a:tbl>
          </a:graphicData>
        </a:graphic>
      </p:graphicFrame>
      <p:sp>
        <p:nvSpPr>
          <p:cNvPr id="20488" name="TextBox 20487"/>
          <p:cNvSpPr txBox="1"/>
          <p:nvPr/>
        </p:nvSpPr>
        <p:spPr>
          <a:xfrm>
            <a:off x="6172200" y="3794760"/>
            <a:ext cx="2560320" cy="2103120"/>
          </a:xfrm>
          <a:prstGeom prst="rect">
            <a:avLst/>
          </a:prstGeom>
          <a:noFill/>
        </p:spPr>
        <p:txBody>
          <a:bodyPr wrap="square" lIns="54864" rIns="54864" tIns="27432" bIns="27432" anchor="t">
            <a:noAutofit/>
          </a:bodyPr>
          <a:lstStyle/>
          <a:p>
            <a:pPr algn="l">
              <a:spcAft>
                <a:spcPts val="0"/>
              </a:spcAft>
            </a:pPr>
            <a:r>
              <a:rPr sz="1100" b="0" i="0">
                <a:solidFill>
                  <a:srgbClr val="6B7580"/>
                </a:solidFill>
                <a:latin typeface="Calibri"/>
              </a:rPr>
              <a:t>Window, step and power are copied from Hitachi's baseline so our results can be compared with theirs. We tested bands and stacked frames ourselves: more bands help slightly, and stacking frames did not help.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2600">
                <a:latin typeface="Calibri"/>
              </a:rPr>
              <a:t>Methodology: Model, Calibration, Alert Level</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0485" name="TextBox 20484"/>
          <p:cNvSpPr txBox="1"/>
          <p:nvPr/>
        </p:nvSpPr>
        <p:spPr>
          <a:xfrm>
            <a:off x="1143000" y="1325880"/>
            <a:ext cx="4206240" cy="4572000"/>
          </a:xfrm>
          <a:prstGeom prst="rect">
            <a:avLst/>
          </a:prstGeom>
          <a:noFill/>
        </p:spPr>
        <p:txBody>
          <a:bodyPr wrap="square" lIns="54864" rIns="54864" tIns="27432" bIns="27432" anchor="t">
            <a:noAutofit/>
          </a:bodyPr>
          <a:lstStyle/>
          <a:p>
            <a:pPr algn="l">
              <a:spcAft>
                <a:spcPts val="900"/>
              </a:spcAft>
            </a:pPr>
            <a:r>
              <a:rPr sz="1300" b="1" i="0">
                <a:solidFill>
                  <a:srgbClr val="25578F"/>
                </a:solidFill>
                <a:latin typeface="Calibri"/>
              </a:rPr>
              <a:t>Autoencoder. </a:t>
            </a:r>
            <a:r>
              <a:rPr sz="1300" b="0" i="0">
                <a:solidFill>
                  <a:srgbClr val="26323F"/>
                </a:solidFill>
                <a:latin typeface="Calibri"/>
              </a:rPr>
              <a:t>A small network squeezes its input to a few numbers and tries to rebuild it. It is trained on healthy sound only, so healthy sound is rebuilt well and a fault is rebuilt badly. The rebuilding error of a clip is its score.</a:t>
            </a:r>
          </a:p>
          <a:p>
            <a:pPr algn="l">
              <a:spcAft>
                <a:spcPts val="900"/>
              </a:spcAft>
            </a:pPr>
            <a:r>
              <a:rPr sz="1300" b="1" i="0">
                <a:solidFill>
                  <a:srgbClr val="25578F"/>
                </a:solidFill>
                <a:latin typeface="Calibri"/>
              </a:rPr>
              <a:t>Calibration (two jobs). </a:t>
            </a:r>
            <a:r>
              <a:rPr sz="1300" b="0" i="0">
                <a:solidFill>
                  <a:srgbClr val="26323F"/>
                </a:solidFill>
                <a:latin typeface="Calibri"/>
              </a:rPr>
              <a:t>On the new machine, 30 healthy clips give each feature's average and spread, used to standardise the sound; 30 more clips are scored and set the alert level.</a:t>
            </a:r>
          </a:p>
          <a:p>
            <a:pPr algn="l">
              <a:spcAft>
                <a:spcPts val="900"/>
              </a:spcAft>
            </a:pPr>
            <a:r>
              <a:rPr sz="1300" b="1" i="0">
                <a:solidFill>
                  <a:srgbClr val="25578F"/>
                </a:solidFill>
                <a:latin typeface="Calibri"/>
              </a:rPr>
              <a:t>Alert level. </a:t>
            </a:r>
            <a:r>
              <a:rPr sz="1300" b="0" i="0">
                <a:solidFill>
                  <a:srgbClr val="26323F"/>
                </a:solidFill>
                <a:latin typeface="Calibri"/>
              </a:rPr>
              <a:t>Average + 3 x spread of those 30 scores; a clip above it is RED. This is a rule of thumb that we have not tuned.</a:t>
            </a:r>
          </a:p>
          <a:p>
            <a:pPr algn="l">
              <a:spcAft>
                <a:spcPts val="900"/>
              </a:spcAft>
            </a:pPr>
            <a:r>
              <a:rPr sz="1300" b="1" i="0">
                <a:solidFill>
                  <a:srgbClr val="25578F"/>
                </a:solidFill>
                <a:latin typeface="Calibri"/>
              </a:rPr>
              <a:t>Known weakness. </a:t>
            </a:r>
            <a:r>
              <a:rPr sz="1300" b="0" i="0">
                <a:solidFill>
                  <a:srgbClr val="26323F"/>
                </a:solidFill>
                <a:latin typeface="Calibri"/>
              </a:rPr>
              <a:t>The rule is too strict for pumps (35% false alarms) and too lenient for fans and sliders (recall 66% and 73%). We plan to revise it (see future plan).</a:t>
            </a:r>
          </a:p>
        </p:txBody>
      </p:sp>
      <p:sp>
        <p:nvSpPr>
          <p:cNvPr id="20486" name="TextBox 20485"/>
          <p:cNvSpPr txBox="1"/>
          <p:nvPr/>
        </p:nvSpPr>
        <p:spPr>
          <a:xfrm>
            <a:off x="5486400" y="1325880"/>
            <a:ext cx="3291840" cy="320040"/>
          </a:xfrm>
          <a:prstGeom prst="rect">
            <a:avLst/>
          </a:prstGeom>
          <a:noFill/>
        </p:spPr>
        <p:txBody>
          <a:bodyPr wrap="square" lIns="54864" rIns="54864" tIns="27432" bIns="27432" anchor="t">
            <a:noAutofit/>
          </a:bodyPr>
          <a:lstStyle/>
          <a:p>
            <a:pPr algn="l">
              <a:spcAft>
                <a:spcPts val="400"/>
              </a:spcAft>
            </a:pPr>
            <a:r>
              <a:rPr sz="1300" b="1" i="0">
                <a:solidFill>
                  <a:srgbClr val="25578F"/>
                </a:solidFill>
                <a:latin typeface="Calibri"/>
              </a:rPr>
              <a:t>Model per machine type</a:t>
            </a:r>
          </a:p>
        </p:txBody>
      </p:sp>
      <p:graphicFrame>
        <p:nvGraphicFramePr>
          <p:cNvPr id="20487" name="Table 20486"/>
          <p:cNvGraphicFramePr>
            <a:graphicFrameLocks noGrp="1"/>
          </p:cNvGraphicFramePr>
          <p:nvPr/>
        </p:nvGraphicFramePr>
        <p:xfrm>
          <a:off x="5486400" y="1691640"/>
          <a:ext cx="3291840" cy="2194560"/>
        </p:xfrm>
        <a:graphic>
          <a:graphicData uri="http://schemas.openxmlformats.org/drawingml/2006/table">
            <a:tbl>
              <a:tblPr firstRow="0" bandRow="0">
                <a:tableStyleId>{2D5ABB26-0587-4C30-8999-92F81FD0307C}</a:tableStyleId>
              </a:tblPr>
              <a:tblGrid>
                <a:gridCol w="731520"/>
                <a:gridCol w="1737360"/>
                <a:gridCol w="822960"/>
              </a:tblGrid>
              <a:tr h="365760">
                <a:tc>
                  <a:txBody>
                    <a:bodyPr wrap="square"/>
                    <a:lstStyle/>
                    <a:p>
                      <a:r>
                        <a:rPr sz="1050" b="1">
                          <a:solidFill>
                            <a:srgbClr val="FFFFFF"/>
                          </a:solidFill>
                          <a:latin typeface="Calibri"/>
                        </a:rPr>
                        <a:t>Type</a:t>
                      </a:r>
                    </a:p>
                  </a:txBody>
                  <a:tcPr marL="54864" marR="54864" marT="27432" marB="27432" anchor="ctr">
                    <a:solidFill>
                      <a:srgbClr val="25578F"/>
                    </a:solidFill>
                  </a:tcPr>
                </a:tc>
                <a:tc>
                  <a:txBody>
                    <a:bodyPr wrap="square"/>
                    <a:lstStyle/>
                    <a:p>
                      <a:r>
                        <a:rPr sz="1050" b="1">
                          <a:solidFill>
                            <a:srgbClr val="FFFFFF"/>
                          </a:solidFill>
                          <a:latin typeface="Calibri"/>
                        </a:rPr>
                        <a:t>Layers</a:t>
                      </a:r>
                    </a:p>
                  </a:txBody>
                  <a:tcPr marL="54864" marR="54864" marT="27432" marB="27432" anchor="ctr">
                    <a:solidFill>
                      <a:srgbClr val="25578F"/>
                    </a:solidFill>
                  </a:tcPr>
                </a:tc>
                <a:tc>
                  <a:txBody>
                    <a:bodyPr wrap="square"/>
                    <a:lstStyle/>
                    <a:p>
                      <a:r>
                        <a:rPr sz="1050" b="1">
                          <a:solidFill>
                            <a:srgbClr val="FFFFFF"/>
                          </a:solidFill>
                          <a:latin typeface="Calibri"/>
                        </a:rPr>
                        <a:t>Params</a:t>
                      </a:r>
                    </a:p>
                  </a:txBody>
                  <a:tcPr marL="54864" marR="54864" marT="27432" marB="27432" anchor="ctr">
                    <a:solidFill>
                      <a:srgbClr val="25578F"/>
                    </a:solidFill>
                  </a:tcPr>
                </a:tc>
              </a:tr>
              <a:tr h="365760">
                <a:tc>
                  <a:txBody>
                    <a:bodyPr wrap="square"/>
                    <a:lstStyle/>
                    <a:p>
                      <a:r>
                        <a:rPr sz="1050" b="0">
                          <a:solidFill>
                            <a:srgbClr val="26323F"/>
                          </a:solidFill>
                          <a:latin typeface="Calibri"/>
                        </a:rPr>
                        <a:t>Fan</a:t>
                      </a:r>
                    </a:p>
                  </a:txBody>
                  <a:tcPr marL="54864" marR="54864" marT="27432" marB="27432" anchor="ctr">
                    <a:solidFill>
                      <a:srgbClr val="E6EEF7"/>
                    </a:solidFill>
                  </a:tcPr>
                </a:tc>
                <a:tc>
                  <a:txBody>
                    <a:bodyPr wrap="square"/>
                    <a:lstStyle/>
                    <a:p>
                      <a:r>
                        <a:rPr sz="1050" b="0">
                          <a:solidFill>
                            <a:srgbClr val="26323F"/>
                          </a:solidFill>
                          <a:latin typeface="Calibri"/>
                        </a:rPr>
                        <a:t>64-32-32-8-32-32-64</a:t>
                      </a:r>
                    </a:p>
                  </a:txBody>
                  <a:tcPr marL="54864" marR="54864" marT="27432" marB="27432" anchor="ctr">
                    <a:solidFill>
                      <a:srgbClr val="E6EEF7"/>
                    </a:solidFill>
                  </a:tcPr>
                </a:tc>
                <a:tc>
                  <a:txBody>
                    <a:bodyPr wrap="square"/>
                    <a:lstStyle/>
                    <a:p>
                      <a:r>
                        <a:rPr sz="1050" b="0">
                          <a:solidFill>
                            <a:srgbClr val="26323F"/>
                          </a:solidFill>
                          <a:latin typeface="Calibri"/>
                        </a:rPr>
                        <a:t>6,856</a:t>
                      </a:r>
                    </a:p>
                  </a:txBody>
                  <a:tcPr marL="54864" marR="54864" marT="27432" marB="27432" anchor="ctr">
                    <a:solidFill>
                      <a:srgbClr val="E6EEF7"/>
                    </a:solidFill>
                  </a:tcPr>
                </a:tc>
              </a:tr>
              <a:tr h="365760">
                <a:tc>
                  <a:txBody>
                    <a:bodyPr wrap="square"/>
                    <a:lstStyle/>
                    <a:p>
                      <a:r>
                        <a:rPr sz="1050" b="0">
                          <a:solidFill>
                            <a:srgbClr val="26323F"/>
                          </a:solidFill>
                          <a:latin typeface="Calibri"/>
                        </a:rPr>
                        <a:t>Pump</a:t>
                      </a:r>
                    </a:p>
                  </a:txBody>
                  <a:tcPr marL="54864" marR="54864" marT="27432" marB="27432" anchor="ctr">
                    <a:solidFill>
                      <a:srgbClr val="F6F9FC"/>
                    </a:solidFill>
                  </a:tcPr>
                </a:tc>
                <a:tc>
                  <a:txBody>
                    <a:bodyPr wrap="square"/>
                    <a:lstStyle/>
                    <a:p>
                      <a:r>
                        <a:rPr sz="1050" b="0">
                          <a:solidFill>
                            <a:srgbClr val="26323F"/>
                          </a:solidFill>
                          <a:latin typeface="Calibri"/>
                        </a:rPr>
                        <a:t>64-16-8-16-64</a:t>
                      </a:r>
                    </a:p>
                  </a:txBody>
                  <a:tcPr marL="54864" marR="54864" marT="27432" marB="27432" anchor="ctr">
                    <a:solidFill>
                      <a:srgbClr val="F6F9FC"/>
                    </a:solidFill>
                  </a:tcPr>
                </a:tc>
                <a:tc>
                  <a:txBody>
                    <a:bodyPr wrap="square"/>
                    <a:lstStyle/>
                    <a:p>
                      <a:r>
                        <a:rPr sz="1050" b="0">
                          <a:solidFill>
                            <a:srgbClr val="26323F"/>
                          </a:solidFill>
                          <a:latin typeface="Calibri"/>
                        </a:rPr>
                        <a:t>2,408</a:t>
                      </a:r>
                    </a:p>
                  </a:txBody>
                  <a:tcPr marL="54864" marR="54864" marT="27432" marB="27432" anchor="ctr">
                    <a:solidFill>
                      <a:srgbClr val="F6F9FC"/>
                    </a:solidFill>
                  </a:tcPr>
                </a:tc>
              </a:tr>
              <a:tr h="365760">
                <a:tc>
                  <a:txBody>
                    <a:bodyPr wrap="square"/>
                    <a:lstStyle/>
                    <a:p>
                      <a:r>
                        <a:rPr sz="1050" b="0">
                          <a:solidFill>
                            <a:srgbClr val="26323F"/>
                          </a:solidFill>
                          <a:latin typeface="Calibri"/>
                        </a:rPr>
                        <a:t>Slider</a:t>
                      </a:r>
                    </a:p>
                  </a:txBody>
                  <a:tcPr marL="54864" marR="54864" marT="27432" marB="27432" anchor="ctr">
                    <a:solidFill>
                      <a:srgbClr val="E6EEF7"/>
                    </a:solidFill>
                  </a:tcPr>
                </a:tc>
                <a:tc>
                  <a:txBody>
                    <a:bodyPr wrap="square"/>
                    <a:lstStyle/>
                    <a:p>
                      <a:r>
                        <a:rPr sz="1050" b="0">
                          <a:solidFill>
                            <a:srgbClr val="26323F"/>
                          </a:solidFill>
                          <a:latin typeface="Calibri"/>
                        </a:rPr>
                        <a:t>32-32-16-32-32</a:t>
                      </a:r>
                    </a:p>
                  </a:txBody>
                  <a:tcPr marL="54864" marR="54864" marT="27432" marB="27432" anchor="ctr">
                    <a:solidFill>
                      <a:srgbClr val="E6EEF7"/>
                    </a:solidFill>
                  </a:tcPr>
                </a:tc>
                <a:tc>
                  <a:txBody>
                    <a:bodyPr wrap="square"/>
                    <a:lstStyle/>
                    <a:p>
                      <a:r>
                        <a:rPr sz="1050" b="0">
                          <a:solidFill>
                            <a:srgbClr val="26323F"/>
                          </a:solidFill>
                          <a:latin typeface="Calibri"/>
                        </a:rPr>
                        <a:t>3,184</a:t>
                      </a:r>
                    </a:p>
                  </a:txBody>
                  <a:tcPr marL="54864" marR="54864" marT="27432" marB="27432" anchor="ctr">
                    <a:solidFill>
                      <a:srgbClr val="E6EEF7"/>
                    </a:solidFill>
                  </a:tcPr>
                </a:tc>
              </a:tr>
              <a:tr h="365760">
                <a:tc>
                  <a:txBody>
                    <a:bodyPr wrap="square"/>
                    <a:lstStyle/>
                    <a:p>
                      <a:r>
                        <a:rPr sz="1050" b="0">
                          <a:solidFill>
                            <a:srgbClr val="26323F"/>
                          </a:solidFill>
                          <a:latin typeface="Calibri"/>
                        </a:rPr>
                        <a:t>Valve</a:t>
                      </a:r>
                    </a:p>
                  </a:txBody>
                  <a:tcPr marL="54864" marR="54864" marT="27432" marB="27432" anchor="ctr">
                    <a:solidFill>
                      <a:srgbClr val="F6F9FC"/>
                    </a:solidFill>
                  </a:tcPr>
                </a:tc>
                <a:tc>
                  <a:txBody>
                    <a:bodyPr wrap="square"/>
                    <a:lstStyle/>
                    <a:p>
                      <a:r>
                        <a:rPr sz="1050" b="0">
                          <a:solidFill>
                            <a:srgbClr val="26323F"/>
                          </a:solidFill>
                          <a:latin typeface="Calibri"/>
                        </a:rPr>
                        <a:t>64-32-16-32-64</a:t>
                      </a:r>
                    </a:p>
                  </a:txBody>
                  <a:tcPr marL="54864" marR="54864" marT="27432" marB="27432" anchor="ctr">
                    <a:solidFill>
                      <a:srgbClr val="F6F9FC"/>
                    </a:solidFill>
                  </a:tcPr>
                </a:tc>
                <a:tc>
                  <a:txBody>
                    <a:bodyPr wrap="square"/>
                    <a:lstStyle/>
                    <a:p>
                      <a:r>
                        <a:rPr sz="1050" b="0">
                          <a:solidFill>
                            <a:srgbClr val="26323F"/>
                          </a:solidFill>
                          <a:latin typeface="Calibri"/>
                        </a:rPr>
                        <a:t>5,264</a:t>
                      </a:r>
                    </a:p>
                  </a:txBody>
                  <a:tcPr marL="54864" marR="54864" marT="27432" marB="27432" anchor="ctr">
                    <a:solidFill>
                      <a:srgbClr val="F6F9FC"/>
                    </a:solidFill>
                  </a:tcPr>
                </a:tc>
              </a:tr>
              <a:tr h="365760">
                <a:tc>
                  <a:txBody>
                    <a:bodyPr wrap="square"/>
                    <a:lstStyle/>
                    <a:p>
                      <a:r>
                        <a:rPr sz="1050" b="0">
                          <a:solidFill>
                            <a:srgbClr val="26323F"/>
                          </a:solidFill>
                          <a:latin typeface="Calibri"/>
                        </a:rPr>
                        <a:t>Baseline</a:t>
                      </a:r>
                    </a:p>
                  </a:txBody>
                  <a:tcPr marL="54864" marR="54864" marT="27432" marB="27432" anchor="ctr">
                    <a:solidFill>
                      <a:srgbClr val="E6EEF7"/>
                    </a:solidFill>
                  </a:tcPr>
                </a:tc>
                <a:tc>
                  <a:txBody>
                    <a:bodyPr wrap="square"/>
                    <a:lstStyle/>
                    <a:p>
                      <a:r>
                        <a:rPr sz="1050" b="0">
                          <a:solidFill>
                            <a:srgbClr val="26323F"/>
                          </a:solidFill>
                          <a:latin typeface="Calibri"/>
                        </a:rPr>
                        <a:t>320-64-64-8-64-64-320</a:t>
                      </a:r>
                    </a:p>
                  </a:txBody>
                  <a:tcPr marL="54864" marR="54864" marT="27432" marB="27432" anchor="ctr">
                    <a:solidFill>
                      <a:srgbClr val="E6EEF7"/>
                    </a:solidFill>
                  </a:tcPr>
                </a:tc>
                <a:tc>
                  <a:txBody>
                    <a:bodyPr wrap="square"/>
                    <a:lstStyle/>
                    <a:p>
                      <a:r>
                        <a:rPr sz="1050" b="0">
                          <a:solidFill>
                            <a:srgbClr val="26323F"/>
                          </a:solidFill>
                          <a:latin typeface="Calibri"/>
                        </a:rPr>
                        <a:t>50,760</a:t>
                      </a:r>
                    </a:p>
                  </a:txBody>
                  <a:tcPr marL="54864" marR="54864" marT="27432" marB="27432" anchor="ctr">
                    <a:solidFill>
                      <a:srgbClr val="E6EEF7"/>
                    </a:solidFill>
                  </a:tcPr>
                </a:tc>
              </a:tr>
            </a:tbl>
          </a:graphicData>
        </a:graphic>
      </p:graphicFrame>
      <p:sp>
        <p:nvSpPr>
          <p:cNvPr id="20488" name="TextBox 20487"/>
          <p:cNvSpPr txBox="1"/>
          <p:nvPr/>
        </p:nvSpPr>
        <p:spPr>
          <a:xfrm>
            <a:off x="5486400" y="3977639"/>
            <a:ext cx="3291840" cy="1920240"/>
          </a:xfrm>
          <a:prstGeom prst="rect">
            <a:avLst/>
          </a:prstGeom>
          <a:noFill/>
        </p:spPr>
        <p:txBody>
          <a:bodyPr wrap="square" lIns="54864" rIns="54864" tIns="27432" bIns="27432" anchor="t">
            <a:noAutofit/>
          </a:bodyPr>
          <a:lstStyle/>
          <a:p>
            <a:pPr algn="l">
              <a:spcAft>
                <a:spcPts val="500"/>
              </a:spcAft>
            </a:pPr>
            <a:r>
              <a:rPr sz="1100" b="0" i="0">
                <a:solidFill>
                  <a:srgbClr val="6B7580"/>
                </a:solidFill>
                <a:latin typeface="Calibri"/>
              </a:rPr>
              <a:t>Each design was chosen by a rule fixed in advance: the smallest model within 0.02 AUC of the best, tuned on machines 00, 02, 04, with machine 06 sealed.</a:t>
            </a:r>
          </a:p>
          <a:p>
            <a:pPr algn="l">
              <a:spcAft>
                <a:spcPts val="500"/>
              </a:spcAft>
            </a:pPr>
            <a:r>
              <a:rPr sz="1100" b="0" i="0">
                <a:solidFill>
                  <a:srgbClr val="6B7580"/>
                </a:solidFill>
                <a:latin typeface="Calibri"/>
              </a:rPr>
              <a:t>The baseline is our copy of Hitachi's model, used to check our pipeline (correlation 0.97 with their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Vibration Branch: Motor Health</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0485" name="TextBox 20484"/>
          <p:cNvSpPr txBox="1"/>
          <p:nvPr/>
        </p:nvSpPr>
        <p:spPr>
          <a:xfrm>
            <a:off x="1143000" y="1325880"/>
            <a:ext cx="4754880" cy="4572000"/>
          </a:xfrm>
          <a:prstGeom prst="rect">
            <a:avLst/>
          </a:prstGeom>
          <a:noFill/>
        </p:spPr>
        <p:txBody>
          <a:bodyPr wrap="square" lIns="54864" rIns="54864" tIns="27432" bIns="27432" anchor="t">
            <a:noAutofit/>
          </a:bodyPr>
          <a:lstStyle/>
          <a:p>
            <a:pPr algn="l">
              <a:spcAft>
                <a:spcPts val="700"/>
              </a:spcAft>
            </a:pPr>
            <a:r>
              <a:rPr sz="1250" b="1" i="0">
                <a:solidFill>
                  <a:srgbClr val="25578F"/>
                </a:solidFill>
                <a:latin typeface="Calibri"/>
              </a:rPr>
              <a:t>Data. </a:t>
            </a:r>
            <a:r>
              <a:rPr sz="1250" b="0" i="0">
                <a:solidFill>
                  <a:srgbClr val="26323F"/>
                </a:solidFill>
                <a:latin typeface="Calibri"/>
              </a:rPr>
              <a:t>CWRU bearing dataset: one healthy recording and three fault types (inner race, ball, outer race), drive-end and fan-end sensors sampled at 12 kHz.</a:t>
            </a:r>
          </a:p>
          <a:p>
            <a:pPr algn="l">
              <a:spcAft>
                <a:spcPts val="700"/>
              </a:spcAft>
            </a:pPr>
            <a:r>
              <a:rPr sz="1250" b="1" i="0">
                <a:solidFill>
                  <a:srgbClr val="25578F"/>
                </a:solidFill>
                <a:latin typeface="Calibri"/>
              </a:rPr>
              <a:t>Cleaning. </a:t>
            </a:r>
            <a:r>
              <a:rPr sz="1250" b="0" i="0">
                <a:solidFill>
                  <a:srgbClr val="26323F"/>
                </a:solidFill>
                <a:latin typeface="Calibri"/>
              </a:rPr>
              <a:t>Remove the DC offset and spikes, band-pass 10-5000 Hz, cut into 32 ms frames, then take vibration strength (RMS) per frame.</a:t>
            </a:r>
          </a:p>
          <a:p>
            <a:pPr algn="l">
              <a:spcAft>
                <a:spcPts val="700"/>
              </a:spcAft>
            </a:pPr>
            <a:r>
              <a:rPr sz="1250" b="1" i="0">
                <a:solidFill>
                  <a:srgbClr val="25578F"/>
                </a:solidFill>
                <a:latin typeface="Calibri"/>
              </a:rPr>
              <a:t>Low-cost sensor test. </a:t>
            </a:r>
            <a:r>
              <a:rPr sz="1250" b="0" i="0">
                <a:solidFill>
                  <a:srgbClr val="26323F"/>
                </a:solidFill>
                <a:latin typeface="Calibri"/>
              </a:rPr>
              <a:t>Imitating an MPU6050 (low-pass 260 Hz, 1 kHz sampling) loses almost nothing on these faults (AUC 0.99 or more). Detection collapses once the sensor's own noise equals the machine's vibration.</a:t>
            </a:r>
          </a:p>
          <a:p>
            <a:pPr algn="l">
              <a:spcAft>
                <a:spcPts val="700"/>
              </a:spcAft>
            </a:pPr>
            <a:r>
              <a:rPr sz="1250" b="1" i="0">
                <a:solidFill>
                  <a:srgbClr val="25578F"/>
                </a:solidFill>
                <a:latin typeface="Calibri"/>
              </a:rPr>
              <a:t>Model comparison. </a:t>
            </a:r>
            <a:r>
              <a:rPr sz="1250" b="0" i="0">
                <a:solidFill>
                  <a:srgbClr val="26323F"/>
                </a:solidFill>
                <a:latin typeface="Calibri"/>
              </a:rPr>
              <a:t>A CNN and an autoencoder were trained on motor vibration data. The CNN gave better results for the motor alone. Note: the CNN needs labelled fault examples; the autoencoder does not.</a:t>
            </a:r>
          </a:p>
          <a:p>
            <a:pPr algn="l">
              <a:spcAft>
                <a:spcPts val="700"/>
              </a:spcAft>
            </a:pPr>
            <a:r>
              <a:rPr sz="1250" b="1" i="0">
                <a:solidFill>
                  <a:srgbClr val="25578F"/>
                </a:solidFill>
                <a:latin typeface="Calibri"/>
              </a:rPr>
              <a:t>Problems fixed. </a:t>
            </a:r>
            <a:r>
              <a:rPr sz="1250" b="0" i="0">
                <a:solidFill>
                  <a:srgbClr val="26323F"/>
                </a:solidFill>
                <a:latin typeface="Calibri"/>
              </a:rPr>
              <a:t>An old script invented a missing channel for the healthy file; it was replaced by a clean pipeline. CWRU is a thin and easy dataset, so near-perfect scores say little about our method.</a:t>
            </a:r>
          </a:p>
        </p:txBody>
      </p:sp>
      <p:sp>
        <p:nvSpPr>
          <p:cNvPr id="20486" name="TextBox 20485"/>
          <p:cNvSpPr txBox="1"/>
          <p:nvPr/>
        </p:nvSpPr>
        <p:spPr>
          <a:xfrm>
            <a:off x="6035040" y="1325880"/>
            <a:ext cx="2743200" cy="320040"/>
          </a:xfrm>
          <a:prstGeom prst="rect">
            <a:avLst/>
          </a:prstGeom>
          <a:noFill/>
        </p:spPr>
        <p:txBody>
          <a:bodyPr wrap="square" lIns="54864" rIns="54864" tIns="27432" bIns="27432" anchor="t">
            <a:noAutofit/>
          </a:bodyPr>
          <a:lstStyle/>
          <a:p>
            <a:pPr algn="l">
              <a:spcAft>
                <a:spcPts val="400"/>
              </a:spcAft>
            </a:pPr>
            <a:r>
              <a:rPr sz="1300" b="1" i="0">
                <a:solidFill>
                  <a:srgbClr val="25578F"/>
                </a:solidFill>
                <a:latin typeface="Calibri"/>
              </a:rPr>
              <a:t>Sensor-noise margin</a:t>
            </a:r>
          </a:p>
        </p:txBody>
      </p:sp>
      <p:graphicFrame>
        <p:nvGraphicFramePr>
          <p:cNvPr id="20487" name="Table 20486"/>
          <p:cNvGraphicFramePr>
            <a:graphicFrameLocks noGrp="1"/>
          </p:cNvGraphicFramePr>
          <p:nvPr/>
        </p:nvGraphicFramePr>
        <p:xfrm>
          <a:off x="6035040" y="1691640"/>
          <a:ext cx="2697480" cy="1645920"/>
        </p:xfrm>
        <a:graphic>
          <a:graphicData uri="http://schemas.openxmlformats.org/drawingml/2006/table">
            <a:tbl>
              <a:tblPr firstRow="0" bandRow="0">
                <a:tableStyleId>{2D5ABB26-0587-4C30-8999-92F81FD0307C}</a:tableStyleId>
              </a:tblPr>
              <a:tblGrid>
                <a:gridCol w="1280160"/>
                <a:gridCol w="1417320"/>
              </a:tblGrid>
              <a:tr h="329184">
                <a:tc>
                  <a:txBody>
                    <a:bodyPr wrap="square"/>
                    <a:lstStyle/>
                    <a:p>
                      <a:r>
                        <a:rPr sz="1100" b="1">
                          <a:solidFill>
                            <a:srgbClr val="FFFFFF"/>
                          </a:solidFill>
                          <a:latin typeface="Calibri"/>
                        </a:rPr>
                        <a:t>Added noise</a:t>
                      </a:r>
                    </a:p>
                  </a:txBody>
                  <a:tcPr marL="54864" marR="54864" marT="27432" marB="27432" anchor="ctr">
                    <a:solidFill>
                      <a:srgbClr val="25578F"/>
                    </a:solidFill>
                  </a:tcPr>
                </a:tc>
                <a:tc>
                  <a:txBody>
                    <a:bodyPr wrap="square"/>
                    <a:lstStyle/>
                    <a:p>
                      <a:r>
                        <a:rPr sz="1100" b="1">
                          <a:solidFill>
                            <a:srgbClr val="FFFFFF"/>
                          </a:solidFill>
                          <a:latin typeface="Calibri"/>
                        </a:rPr>
                        <a:t>Faults found</a:t>
                      </a:r>
                    </a:p>
                  </a:txBody>
                  <a:tcPr marL="54864" marR="54864" marT="27432" marB="27432" anchor="ctr">
                    <a:solidFill>
                      <a:srgbClr val="25578F"/>
                    </a:solidFill>
                  </a:tcPr>
                </a:tc>
              </a:tr>
              <a:tr h="329184">
                <a:tc>
                  <a:txBody>
                    <a:bodyPr wrap="square"/>
                    <a:lstStyle/>
                    <a:p>
                      <a:r>
                        <a:rPr sz="1100" b="0">
                          <a:solidFill>
                            <a:srgbClr val="26323F"/>
                          </a:solidFill>
                          <a:latin typeface="Calibri"/>
                        </a:rPr>
                        <a:t>none</a:t>
                      </a:r>
                    </a:p>
                  </a:txBody>
                  <a:tcPr marL="54864" marR="54864" marT="27432" marB="27432" anchor="ctr">
                    <a:solidFill>
                      <a:srgbClr val="E6EEF7"/>
                    </a:solidFill>
                  </a:tcPr>
                </a:tc>
                <a:tc>
                  <a:txBody>
                    <a:bodyPr wrap="square"/>
                    <a:lstStyle/>
                    <a:p>
                      <a:r>
                        <a:rPr sz="1100" b="0">
                          <a:solidFill>
                            <a:srgbClr val="26323F"/>
                          </a:solidFill>
                          <a:latin typeface="Calibri"/>
                        </a:rPr>
                        <a:t>100%</a:t>
                      </a:r>
                    </a:p>
                  </a:txBody>
                  <a:tcPr marL="54864" marR="54864" marT="27432" marB="27432" anchor="ctr">
                    <a:solidFill>
                      <a:srgbClr val="E6EEF7"/>
                    </a:solidFill>
                  </a:tcPr>
                </a:tc>
              </a:tr>
              <a:tr h="329184">
                <a:tc>
                  <a:txBody>
                    <a:bodyPr wrap="square"/>
                    <a:lstStyle/>
                    <a:p>
                      <a:r>
                        <a:rPr sz="1100" b="0">
                          <a:solidFill>
                            <a:srgbClr val="26323F"/>
                          </a:solidFill>
                          <a:latin typeface="Calibri"/>
                        </a:rPr>
                        <a:t>0.5 x</a:t>
                      </a:r>
                    </a:p>
                  </a:txBody>
                  <a:tcPr marL="54864" marR="54864" marT="27432" marB="27432" anchor="ctr">
                    <a:solidFill>
                      <a:srgbClr val="F6F9FC"/>
                    </a:solidFill>
                  </a:tcPr>
                </a:tc>
                <a:tc>
                  <a:txBody>
                    <a:bodyPr wrap="square"/>
                    <a:lstStyle/>
                    <a:p>
                      <a:r>
                        <a:rPr sz="1100" b="0">
                          <a:solidFill>
                            <a:srgbClr val="26323F"/>
                          </a:solidFill>
                          <a:latin typeface="Calibri"/>
                        </a:rPr>
                        <a:t>98%</a:t>
                      </a:r>
                    </a:p>
                  </a:txBody>
                  <a:tcPr marL="54864" marR="54864" marT="27432" marB="27432" anchor="ctr">
                    <a:solidFill>
                      <a:srgbClr val="F6F9FC"/>
                    </a:solidFill>
                  </a:tcPr>
                </a:tc>
              </a:tr>
              <a:tr h="329184">
                <a:tc>
                  <a:txBody>
                    <a:bodyPr wrap="square"/>
                    <a:lstStyle/>
                    <a:p>
                      <a:r>
                        <a:rPr sz="1100" b="0">
                          <a:solidFill>
                            <a:srgbClr val="26323F"/>
                          </a:solidFill>
                          <a:latin typeface="Calibri"/>
                        </a:rPr>
                        <a:t>1 x</a:t>
                      </a:r>
                    </a:p>
                  </a:txBody>
                  <a:tcPr marL="54864" marR="54864" marT="27432" marB="27432" anchor="ctr">
                    <a:solidFill>
                      <a:srgbClr val="E6EEF7"/>
                    </a:solidFill>
                  </a:tcPr>
                </a:tc>
                <a:tc>
                  <a:txBody>
                    <a:bodyPr wrap="square"/>
                    <a:lstStyle/>
                    <a:p>
                      <a:r>
                        <a:rPr sz="1100" b="0">
                          <a:solidFill>
                            <a:srgbClr val="26323F"/>
                          </a:solidFill>
                          <a:latin typeface="Calibri"/>
                        </a:rPr>
                        <a:t>36%</a:t>
                      </a:r>
                    </a:p>
                  </a:txBody>
                  <a:tcPr marL="54864" marR="54864" marT="27432" marB="27432" anchor="ctr">
                    <a:solidFill>
                      <a:srgbClr val="E6EEF7"/>
                    </a:solidFill>
                  </a:tcPr>
                </a:tc>
              </a:tr>
              <a:tr h="329184">
                <a:tc>
                  <a:txBody>
                    <a:bodyPr wrap="square"/>
                    <a:lstStyle/>
                    <a:p>
                      <a:r>
                        <a:rPr sz="1100" b="0">
                          <a:solidFill>
                            <a:srgbClr val="26323F"/>
                          </a:solidFill>
                          <a:latin typeface="Calibri"/>
                        </a:rPr>
                        <a:t>2 x</a:t>
                      </a:r>
                    </a:p>
                  </a:txBody>
                  <a:tcPr marL="54864" marR="54864" marT="27432" marB="27432" anchor="ctr">
                    <a:solidFill>
                      <a:srgbClr val="F6F9FC"/>
                    </a:solidFill>
                  </a:tcPr>
                </a:tc>
                <a:tc>
                  <a:txBody>
                    <a:bodyPr wrap="square"/>
                    <a:lstStyle/>
                    <a:p>
                      <a:r>
                        <a:rPr sz="1100" b="0">
                          <a:solidFill>
                            <a:srgbClr val="26323F"/>
                          </a:solidFill>
                          <a:latin typeface="Calibri"/>
                        </a:rPr>
                        <a:t>5%</a:t>
                      </a:r>
                    </a:p>
                  </a:txBody>
                  <a:tcPr marL="54864" marR="54864" marT="27432" marB="27432" anchor="ctr">
                    <a:solidFill>
                      <a:srgbClr val="F6F9FC"/>
                    </a:solidFill>
                  </a:tcPr>
                </a:tc>
              </a:tr>
            </a:tbl>
          </a:graphicData>
        </a:graphic>
      </p:graphicFrame>
      <p:sp>
        <p:nvSpPr>
          <p:cNvPr id="20488" name="TextBox 20487"/>
          <p:cNvSpPr txBox="1"/>
          <p:nvPr/>
        </p:nvSpPr>
        <p:spPr>
          <a:xfrm>
            <a:off x="6035040" y="3429000"/>
            <a:ext cx="2743200" cy="822960"/>
          </a:xfrm>
          <a:prstGeom prst="rect">
            <a:avLst/>
          </a:prstGeom>
          <a:noFill/>
        </p:spPr>
        <p:txBody>
          <a:bodyPr wrap="square" lIns="54864" rIns="54864" tIns="27432" bIns="27432" anchor="t">
            <a:noAutofit/>
          </a:bodyPr>
          <a:lstStyle/>
          <a:p>
            <a:pPr algn="l">
              <a:spcAft>
                <a:spcPts val="0"/>
              </a:spcAft>
            </a:pPr>
            <a:r>
              <a:rPr sz="1000" b="0" i="0">
                <a:solidFill>
                  <a:srgbClr val="6B7580"/>
                </a:solidFill>
                <a:latin typeface="Calibri"/>
              </a:rPr>
              <a:t>Noise as a multiple of the healthy machine's vibration strength (CWRU, MPU-like path, no network).</a:t>
            </a:r>
          </a:p>
        </p:txBody>
      </p:sp>
      <p:sp>
        <p:nvSpPr>
          <p:cNvPr id="20489" name="TextBox 20488"/>
          <p:cNvSpPr txBox="1"/>
          <p:nvPr/>
        </p:nvSpPr>
        <p:spPr>
          <a:xfrm>
            <a:off x="6035040" y="4206240"/>
            <a:ext cx="2743200" cy="320040"/>
          </a:xfrm>
          <a:prstGeom prst="rect">
            <a:avLst/>
          </a:prstGeom>
          <a:noFill/>
        </p:spPr>
        <p:txBody>
          <a:bodyPr wrap="square" lIns="54864" rIns="54864" tIns="27432" bIns="27432" anchor="t">
            <a:noAutofit/>
          </a:bodyPr>
          <a:lstStyle/>
          <a:p>
            <a:pPr algn="l">
              <a:spcAft>
                <a:spcPts val="400"/>
              </a:spcAft>
            </a:pPr>
            <a:r>
              <a:rPr sz="1300" b="1" i="0">
                <a:solidFill>
                  <a:srgbClr val="25578F"/>
                </a:solidFill>
                <a:latin typeface="Calibri"/>
              </a:rPr>
              <a:t>CNN vs autoencoder (motor)</a:t>
            </a:r>
          </a:p>
        </p:txBody>
      </p:sp>
      <p:graphicFrame>
        <p:nvGraphicFramePr>
          <p:cNvPr id="20490" name="Table 20489"/>
          <p:cNvGraphicFramePr>
            <a:graphicFrameLocks noGrp="1"/>
          </p:cNvGraphicFramePr>
          <p:nvPr/>
        </p:nvGraphicFramePr>
        <p:xfrm>
          <a:off x="6035040" y="4553712"/>
          <a:ext cx="2697480" cy="987552"/>
        </p:xfrm>
        <a:graphic>
          <a:graphicData uri="http://schemas.openxmlformats.org/drawingml/2006/table">
            <a:tbl>
              <a:tblPr firstRow="0" bandRow="0">
                <a:tableStyleId>{2D5ABB26-0587-4C30-8999-92F81FD0307C}</a:tableStyleId>
              </a:tblPr>
              <a:tblGrid>
                <a:gridCol w="1005840"/>
                <a:gridCol w="868680"/>
                <a:gridCol w="822960"/>
              </a:tblGrid>
              <a:tr h="329184">
                <a:tc>
                  <a:txBody>
                    <a:bodyPr wrap="square"/>
                    <a:lstStyle/>
                    <a:p>
                      <a:r>
                        <a:rPr sz="1050" b="1">
                          <a:solidFill>
                            <a:srgbClr val="FFFFFF"/>
                          </a:solidFill>
                          <a:latin typeface="Calibri"/>
                        </a:rPr>
                        <a:t>Model</a:t>
                      </a:r>
                    </a:p>
                  </a:txBody>
                  <a:tcPr marL="54864" marR="54864" marT="27432" marB="27432" anchor="ctr">
                    <a:solidFill>
                      <a:srgbClr val="25578F"/>
                    </a:solidFill>
                  </a:tcPr>
                </a:tc>
                <a:tc>
                  <a:txBody>
                    <a:bodyPr wrap="square"/>
                    <a:lstStyle/>
                    <a:p>
                      <a:r>
                        <a:rPr sz="1050" b="1">
                          <a:solidFill>
                            <a:srgbClr val="FFFFFF"/>
                          </a:solidFill>
                          <a:latin typeface="Calibri"/>
                        </a:rPr>
                        <a:t>Dataset</a:t>
                      </a:r>
                    </a:p>
                  </a:txBody>
                  <a:tcPr marL="54864" marR="54864" marT="27432" marB="27432" anchor="ctr">
                    <a:solidFill>
                      <a:srgbClr val="25578F"/>
                    </a:solidFill>
                  </a:tcPr>
                </a:tc>
                <a:tc>
                  <a:txBody>
                    <a:bodyPr wrap="square"/>
                    <a:lstStyle/>
                    <a:p>
                      <a:r>
                        <a:rPr sz="1050" b="1">
                          <a:solidFill>
                            <a:srgbClr val="FFFFFF"/>
                          </a:solidFill>
                          <a:latin typeface="Calibri"/>
                        </a:rPr>
                        <a:t>Result</a:t>
                      </a:r>
                    </a:p>
                  </a:txBody>
                  <a:tcPr marL="54864" marR="54864" marT="27432" marB="27432" anchor="ctr">
                    <a:solidFill>
                      <a:srgbClr val="25578F"/>
                    </a:solidFill>
                  </a:tcPr>
                </a:tc>
              </a:tr>
              <a:tr h="329184">
                <a:tc>
                  <a:txBody>
                    <a:bodyPr wrap="square"/>
                    <a:lstStyle/>
                    <a:p>
                      <a:r>
                        <a:rPr sz="1050" b="0">
                          <a:solidFill>
                            <a:srgbClr val="26323F"/>
                          </a:solidFill>
                          <a:latin typeface="Calibri"/>
                        </a:rPr>
                        <a:t>CNN</a:t>
                      </a:r>
                    </a:p>
                  </a:txBody>
                  <a:tcPr marL="54864" marR="54864" marT="27432" marB="27432" anchor="ctr">
                    <a:solidFill>
                      <a:srgbClr val="E6EEF7"/>
                    </a:solidFill>
                  </a:tcPr>
                </a:tc>
                <a:tc>
                  <a:txBody>
                    <a:bodyPr wrap="square"/>
                    <a:lstStyle/>
                    <a:p>
                      <a:r>
                        <a:rPr sz="1050" b="0">
                          <a:solidFill>
                            <a:srgbClr val="26323F"/>
                          </a:solidFill>
                          <a:latin typeface="Calibri"/>
                        </a:rPr>
                        <a:t/>
                      </a:r>
                    </a:p>
                  </a:txBody>
                  <a:tcPr marL="54864" marR="54864" marT="27432" marB="27432" anchor="ctr">
                    <a:solidFill>
                      <a:srgbClr val="E6EEF7"/>
                    </a:solidFill>
                  </a:tcPr>
                </a:tc>
                <a:tc>
                  <a:txBody>
                    <a:bodyPr wrap="square"/>
                    <a:lstStyle/>
                    <a:p>
                      <a:r>
                        <a:rPr sz="1050" b="0">
                          <a:solidFill>
                            <a:srgbClr val="26323F"/>
                          </a:solidFill>
                          <a:latin typeface="Calibri"/>
                        </a:rPr>
                        <a:t/>
                      </a:r>
                    </a:p>
                  </a:txBody>
                  <a:tcPr marL="54864" marR="54864" marT="27432" marB="27432" anchor="ctr">
                    <a:solidFill>
                      <a:srgbClr val="E6EEF7"/>
                    </a:solidFill>
                  </a:tcPr>
                </a:tc>
              </a:tr>
              <a:tr h="329184">
                <a:tc>
                  <a:txBody>
                    <a:bodyPr wrap="square"/>
                    <a:lstStyle/>
                    <a:p>
                      <a:r>
                        <a:rPr sz="1050" b="0">
                          <a:solidFill>
                            <a:srgbClr val="26323F"/>
                          </a:solidFill>
                          <a:latin typeface="Calibri"/>
                        </a:rPr>
                        <a:t>Autoencoder</a:t>
                      </a:r>
                    </a:p>
                  </a:txBody>
                  <a:tcPr marL="54864" marR="54864" marT="27432" marB="27432" anchor="ctr">
                    <a:solidFill>
                      <a:srgbClr val="F6F9FC"/>
                    </a:solidFill>
                  </a:tcPr>
                </a:tc>
                <a:tc>
                  <a:txBody>
                    <a:bodyPr wrap="square"/>
                    <a:lstStyle/>
                    <a:p>
                      <a:r>
                        <a:rPr sz="1050" b="0">
                          <a:solidFill>
                            <a:srgbClr val="26323F"/>
                          </a:solidFill>
                          <a:latin typeface="Calibri"/>
                        </a:rPr>
                        <a:t/>
                      </a:r>
                    </a:p>
                  </a:txBody>
                  <a:tcPr marL="54864" marR="54864" marT="27432" marB="27432" anchor="ctr">
                    <a:solidFill>
                      <a:srgbClr val="F6F9FC"/>
                    </a:solidFill>
                  </a:tcPr>
                </a:tc>
                <a:tc>
                  <a:txBody>
                    <a:bodyPr wrap="square"/>
                    <a:lstStyle/>
                    <a:p>
                      <a:r>
                        <a:rPr sz="1050" b="0">
                          <a:solidFill>
                            <a:srgbClr val="26323F"/>
                          </a:solidFill>
                          <a:latin typeface="Calibri"/>
                        </a:rPr>
                        <a:t/>
                      </a:r>
                    </a:p>
                  </a:txBody>
                  <a:tcPr marL="54864" marR="54864" marT="27432" marB="27432" anchor="ctr">
                    <a:solidFill>
                      <a:srgbClr val="F6F9FC"/>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2800">
                <a:latin typeface="Calibri"/>
              </a:rPr>
              <a:t>Fusion Plan: Sound and Vibration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20485" name="Rounded Rectangle 20484"/>
          <p:cNvSpPr/>
          <p:nvPr/>
        </p:nvSpPr>
        <p:spPr>
          <a:xfrm>
            <a:off x="1143000" y="1371600"/>
            <a:ext cx="1325880" cy="50292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050" b="0">
                <a:solidFill>
                  <a:srgbClr val="26323F"/>
                </a:solidFill>
                <a:latin typeface="Calibri"/>
              </a:rPr>
              <a:t>Vibration sensor</a:t>
            </a:r>
          </a:p>
        </p:txBody>
      </p:sp>
      <p:sp>
        <p:nvSpPr>
          <p:cNvPr id="20486" name="Rounded Rectangle 20485"/>
          <p:cNvSpPr/>
          <p:nvPr/>
        </p:nvSpPr>
        <p:spPr>
          <a:xfrm>
            <a:off x="2743200" y="1371600"/>
            <a:ext cx="1463040" cy="50292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000" b="0">
                <a:solidFill>
                  <a:srgbClr val="26323F"/>
                </a:solidFill>
                <a:latin typeface="Calibri"/>
              </a:rPr>
              <a:t>Vibration model (CNN / autoencoder)</a:t>
            </a:r>
          </a:p>
        </p:txBody>
      </p:sp>
      <p:sp>
        <p:nvSpPr>
          <p:cNvPr id="20487" name="Rounded Rectangle 20486"/>
          <p:cNvSpPr/>
          <p:nvPr/>
        </p:nvSpPr>
        <p:spPr>
          <a:xfrm>
            <a:off x="4480560" y="1371600"/>
            <a:ext cx="1097280" cy="50292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050" b="0">
                <a:solidFill>
                  <a:srgbClr val="26323F"/>
                </a:solidFill>
                <a:latin typeface="Calibri"/>
              </a:rPr>
              <a:t>Motor health</a:t>
            </a:r>
          </a:p>
        </p:txBody>
      </p:sp>
      <p:sp>
        <p:nvSpPr>
          <p:cNvPr id="20488" name="Rounded Rectangle 20487"/>
          <p:cNvSpPr/>
          <p:nvPr/>
        </p:nvSpPr>
        <p:spPr>
          <a:xfrm>
            <a:off x="1143000" y="2103120"/>
            <a:ext cx="1325880" cy="502920"/>
          </a:xfrm>
          <a:prstGeom prst="roundRect">
            <a:avLst/>
          </a:prstGeom>
          <a:solidFill>
            <a:srgbClr val="FFFFF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050" b="0">
                <a:solidFill>
                  <a:srgbClr val="26323F"/>
                </a:solidFill>
                <a:latin typeface="Calibri"/>
              </a:rPr>
              <a:t>Microphone</a:t>
            </a:r>
          </a:p>
        </p:txBody>
      </p:sp>
      <p:sp>
        <p:nvSpPr>
          <p:cNvPr id="20489" name="Rounded Rectangle 20488"/>
          <p:cNvSpPr/>
          <p:nvPr/>
        </p:nvSpPr>
        <p:spPr>
          <a:xfrm>
            <a:off x="2743200" y="2103120"/>
            <a:ext cx="1463040" cy="502920"/>
          </a:xfrm>
          <a:prstGeom prst="roundRect">
            <a:avLst/>
          </a:prstGeom>
          <a:solidFill>
            <a:srgbClr val="FFFFF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000" b="0">
                <a:solidFill>
                  <a:srgbClr val="26323F"/>
                </a:solidFill>
                <a:latin typeface="Calibri"/>
              </a:rPr>
              <a:t>Sound autoencoder: score</a:t>
            </a:r>
          </a:p>
        </p:txBody>
      </p:sp>
      <p:sp>
        <p:nvSpPr>
          <p:cNvPr id="20490" name="Rounded Rectangle 20489"/>
          <p:cNvSpPr/>
          <p:nvPr/>
        </p:nvSpPr>
        <p:spPr>
          <a:xfrm>
            <a:off x="4480560" y="2103120"/>
            <a:ext cx="1097280" cy="502920"/>
          </a:xfrm>
          <a:prstGeom prst="roundRect">
            <a:avLst/>
          </a:prstGeom>
          <a:solidFill>
            <a:srgbClr val="FFFFFF"/>
          </a:solidFill>
          <a:ln w="19050">
            <a:solidFill>
              <a:srgbClr val="25578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050" b="0">
                <a:solidFill>
                  <a:srgbClr val="26323F"/>
                </a:solidFill>
                <a:latin typeface="Calibri"/>
              </a:rPr>
              <a:t>Alert level</a:t>
            </a:r>
          </a:p>
        </p:txBody>
      </p:sp>
      <p:sp>
        <p:nvSpPr>
          <p:cNvPr id="20491" name="Rounded Rectangle 20490"/>
          <p:cNvSpPr/>
          <p:nvPr/>
        </p:nvSpPr>
        <p:spPr>
          <a:xfrm>
            <a:off x="5989320" y="1481328"/>
            <a:ext cx="1463040" cy="1024128"/>
          </a:xfrm>
          <a:prstGeom prst="roundRect">
            <a:avLst/>
          </a:prstGeom>
          <a:solidFill>
            <a:srgbClr val="FFF1D6"/>
          </a:solidFill>
          <a:ln w="19050">
            <a:solidFill>
              <a:srgbClr val="A86A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050" b="0">
                <a:solidFill>
                  <a:srgbClr val="26323F"/>
                </a:solidFill>
                <a:latin typeface="Calibri"/>
              </a:rPr>
              <a:t>Decision logic: motor health adjusts the sound decision</a:t>
            </a:r>
          </a:p>
        </p:txBody>
      </p:sp>
      <p:sp>
        <p:nvSpPr>
          <p:cNvPr id="20492" name="Rounded Rectangle 20491"/>
          <p:cNvSpPr/>
          <p:nvPr/>
        </p:nvSpPr>
        <p:spPr>
          <a:xfrm>
            <a:off x="7726679" y="1691640"/>
            <a:ext cx="1005840" cy="594360"/>
          </a:xfrm>
          <a:prstGeom prst="roundRect">
            <a:avLst/>
          </a:prstGeom>
          <a:solidFill>
            <a:srgbClr val="FFFFFF"/>
          </a:solidFill>
          <a:ln w="19050">
            <a:solidFill>
              <a:srgbClr val="6B75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050" b="0">
                <a:solidFill>
                  <a:srgbClr val="26323F"/>
                </a:solidFill>
                <a:latin typeface="Calibri"/>
              </a:rPr>
              <a:t>Green / red LED</a:t>
            </a:r>
          </a:p>
        </p:txBody>
      </p:sp>
      <p:cxnSp>
        <p:nvCxnSpPr>
          <p:cNvPr id="20493" name="Connector 20492"/>
          <p:cNvCxnSpPr/>
          <p:nvPr/>
        </p:nvCxnSpPr>
        <p:spPr>
          <a:xfrm>
            <a:off x="2468880" y="1623060"/>
            <a:ext cx="274320" cy="0"/>
          </a:xfrm>
          <a:prstGeom prst="line">
            <a:avLst/>
          </a:prstGeom>
          <a:ln w="1905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0494" name="Connector 20493"/>
          <p:cNvCxnSpPr/>
          <p:nvPr/>
        </p:nvCxnSpPr>
        <p:spPr>
          <a:xfrm>
            <a:off x="4206240" y="1623060"/>
            <a:ext cx="274320" cy="0"/>
          </a:xfrm>
          <a:prstGeom prst="line">
            <a:avLst/>
          </a:prstGeom>
          <a:ln w="1905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0495" name="Connector 20494"/>
          <p:cNvCxnSpPr/>
          <p:nvPr/>
        </p:nvCxnSpPr>
        <p:spPr>
          <a:xfrm>
            <a:off x="2468880" y="2354580"/>
            <a:ext cx="274320" cy="0"/>
          </a:xfrm>
          <a:prstGeom prst="line">
            <a:avLst/>
          </a:prstGeom>
          <a:ln w="1905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0496" name="Connector 20495"/>
          <p:cNvCxnSpPr/>
          <p:nvPr/>
        </p:nvCxnSpPr>
        <p:spPr>
          <a:xfrm>
            <a:off x="4206240" y="2354580"/>
            <a:ext cx="274320" cy="0"/>
          </a:xfrm>
          <a:prstGeom prst="line">
            <a:avLst/>
          </a:prstGeom>
          <a:ln w="1905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0497" name="Connector 20496"/>
          <p:cNvCxnSpPr/>
          <p:nvPr/>
        </p:nvCxnSpPr>
        <p:spPr>
          <a:xfrm>
            <a:off x="5577840" y="1623060"/>
            <a:ext cx="411480" cy="160020"/>
          </a:xfrm>
          <a:prstGeom prst="line">
            <a:avLst/>
          </a:prstGeom>
          <a:ln w="19050">
            <a:solidFill>
              <a:srgbClr val="6B7580"/>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0498" name="Connector 20497"/>
          <p:cNvCxnSpPr/>
          <p:nvPr/>
        </p:nvCxnSpPr>
        <p:spPr>
          <a:xfrm flipV="1">
            <a:off x="5577840" y="2240280"/>
            <a:ext cx="411480" cy="114300"/>
          </a:xfrm>
          <a:prstGeom prst="line">
            <a:avLst/>
          </a:prstGeom>
          <a:ln w="19050">
            <a:solidFill>
              <a:srgbClr val="6B7580"/>
            </a:solidFill>
            <a:tailEnd type="triangle"/>
          </a:ln>
        </p:spPr>
        <p:style>
          <a:lnRef idx="2">
            <a:schemeClr val="accent1"/>
          </a:lnRef>
          <a:fillRef idx="0">
            <a:schemeClr val="accent1"/>
          </a:fillRef>
          <a:effectRef idx="1">
            <a:schemeClr val="accent1"/>
          </a:effectRef>
          <a:fontRef idx="minor">
            <a:schemeClr val="tx1"/>
          </a:fontRef>
        </p:style>
      </p:cxnSp>
      <p:cxnSp>
        <p:nvCxnSpPr>
          <p:cNvPr id="20499" name="Connector 20498"/>
          <p:cNvCxnSpPr/>
          <p:nvPr/>
        </p:nvCxnSpPr>
        <p:spPr>
          <a:xfrm>
            <a:off x="7452360" y="1993392"/>
            <a:ext cx="274319" cy="0"/>
          </a:xfrm>
          <a:prstGeom prst="line">
            <a:avLst/>
          </a:prstGeom>
          <a:ln w="19050">
            <a:solidFill>
              <a:srgbClr val="6B75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500" name="TextBox 20499"/>
          <p:cNvSpPr txBox="1"/>
          <p:nvPr/>
        </p:nvSpPr>
        <p:spPr>
          <a:xfrm>
            <a:off x="1143000" y="2788920"/>
            <a:ext cx="7589520" cy="3200400"/>
          </a:xfrm>
          <a:prstGeom prst="rect">
            <a:avLst/>
          </a:prstGeom>
          <a:noFill/>
        </p:spPr>
        <p:txBody>
          <a:bodyPr wrap="square" lIns="54864" rIns="54864" tIns="27432" bIns="27432" anchor="t">
            <a:noAutofit/>
          </a:bodyPr>
          <a:lstStyle/>
          <a:p>
            <a:pPr algn="l">
              <a:spcAft>
                <a:spcPts val="600"/>
              </a:spcAft>
            </a:pPr>
            <a:r>
              <a:rPr sz="1250" b="1" i="0">
                <a:solidFill>
                  <a:srgbClr val="25578F"/>
                </a:solidFill>
                <a:latin typeface="Calibri"/>
              </a:rPr>
              <a:t>Why. </a:t>
            </a:r>
            <a:r>
              <a:rPr sz="1250" b="0" i="0">
                <a:solidFill>
                  <a:srgbClr val="26323F"/>
                </a:solidFill>
                <a:latin typeface="Calibri"/>
              </a:rPr>
              <a:t>Sound weakens in heavy noise (fan AUC 0.92 down to 0.71; slider recall 3% at -6 dB) and gives false alarms on pumps (35%). Vibration is not affected by airborne noise.</a:t>
            </a:r>
          </a:p>
          <a:p>
            <a:pPr algn="l">
              <a:spcAft>
                <a:spcPts val="600"/>
              </a:spcAft>
            </a:pPr>
            <a:r>
              <a:rPr sz="1250" b="1" i="0">
                <a:solidFill>
                  <a:srgbClr val="25578F"/>
                </a:solidFill>
                <a:latin typeface="Calibri"/>
              </a:rPr>
              <a:t>Idea. </a:t>
            </a:r>
            <a:r>
              <a:rPr sz="1250" b="0" i="0">
                <a:solidFill>
                  <a:srgbClr val="26323F"/>
                </a:solidFill>
                <a:latin typeface="Calibri"/>
              </a:rPr>
              <a:t>The vibration model reports the motor's health. When the motor looks healthy, the sound alert needs stronger evidence (a higher alert level); when the motor looks abnormal, a lower level is accepted. This should reduce false alarms.</a:t>
            </a:r>
          </a:p>
          <a:p>
            <a:pPr algn="l">
              <a:spcAft>
                <a:spcPts val="600"/>
              </a:spcAft>
            </a:pPr>
            <a:r>
              <a:rPr sz="1250" b="1" i="0">
                <a:solidFill>
                  <a:srgbClr val="25578F"/>
                </a:solidFill>
                <a:latin typeface="Calibri"/>
              </a:rPr>
              <a:t>Alert-level rule. </a:t>
            </a:r>
            <a:r>
              <a:rPr sz="1250" b="0" i="0">
                <a:solidFill>
                  <a:srgbClr val="26323F"/>
                </a:solidFill>
                <a:latin typeface="Calibri"/>
              </a:rPr>
              <a:t>We will also revise the rule of thumb itself (average + 3 x spread), comparing other multipliers, percentile and median-based rules.</a:t>
            </a:r>
          </a:p>
          <a:p>
            <a:pPr algn="l">
              <a:spcAft>
                <a:spcPts val="600"/>
              </a:spcAft>
            </a:pPr>
            <a:r>
              <a:rPr sz="1250" b="1" i="0">
                <a:solidFill>
                  <a:srgbClr val="25578F"/>
                </a:solidFill>
                <a:latin typeface="Calibri"/>
              </a:rPr>
              <a:t>Other models. </a:t>
            </a:r>
            <a:r>
              <a:rPr sz="1250" b="0" i="0">
                <a:solidFill>
                  <a:srgbClr val="26323F"/>
                </a:solidFill>
                <a:latin typeface="Calibri"/>
              </a:rPr>
              <a:t>Other models may be used together with the autoencoder if they give better results; none is decided.</a:t>
            </a:r>
          </a:p>
          <a:p>
            <a:pPr algn="l">
              <a:spcAft>
                <a:spcPts val="600"/>
              </a:spcAft>
            </a:pPr>
            <a:r>
              <a:rPr sz="1250" b="1" i="0">
                <a:solidFill>
                  <a:srgbClr val="25578F"/>
                </a:solidFill>
                <a:latin typeface="Calibri"/>
              </a:rPr>
              <a:t>How we will test. </a:t>
            </a:r>
            <a:r>
              <a:rPr sz="1250" b="0" i="0">
                <a:solidFill>
                  <a:srgbClr val="26323F"/>
                </a:solidFill>
                <a:latin typeface="Calibri"/>
              </a:rPr>
              <a:t>Sound and vibration must come from the same machine. MIMII and CWRU are different machines, so this needs our own rig or a paired dataset (Jung et al. 2023). Status: planned, not yet tested.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Implementation Progress</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graphicFrame>
        <p:nvGraphicFramePr>
          <p:cNvPr id="20485" name="Table 20484"/>
          <p:cNvGraphicFramePr>
            <a:graphicFrameLocks noGrp="1"/>
          </p:cNvGraphicFramePr>
          <p:nvPr/>
        </p:nvGraphicFramePr>
        <p:xfrm>
          <a:off x="1051560" y="1371600"/>
          <a:ext cx="7680960" cy="4023360"/>
        </p:xfrm>
        <a:graphic>
          <a:graphicData uri="http://schemas.openxmlformats.org/drawingml/2006/table">
            <a:tbl>
              <a:tblPr firstRow="0" bandRow="0">
                <a:tableStyleId>{2D5ABB26-0587-4C30-8999-92F81FD0307C}</a:tableStyleId>
              </a:tblPr>
              <a:tblGrid>
                <a:gridCol w="2194560"/>
                <a:gridCol w="4480560"/>
                <a:gridCol w="1005840"/>
              </a:tblGrid>
              <a:tr h="365760">
                <a:tc>
                  <a:txBody>
                    <a:bodyPr wrap="square"/>
                    <a:lstStyle/>
                    <a:p>
                      <a:r>
                        <a:rPr sz="1100" b="1">
                          <a:solidFill>
                            <a:srgbClr val="FFFFFF"/>
                          </a:solidFill>
                          <a:latin typeface="Calibri"/>
                        </a:rPr>
                        <a:t>Module</a:t>
                      </a:r>
                    </a:p>
                  </a:txBody>
                  <a:tcPr marL="54864" marR="54864" marT="27432" marB="27432" anchor="ctr">
                    <a:solidFill>
                      <a:srgbClr val="25578F"/>
                    </a:solidFill>
                  </a:tcPr>
                </a:tc>
                <a:tc>
                  <a:txBody>
                    <a:bodyPr wrap="square"/>
                    <a:lstStyle/>
                    <a:p>
                      <a:r>
                        <a:rPr sz="1100" b="1">
                          <a:solidFill>
                            <a:srgbClr val="FFFFFF"/>
                          </a:solidFill>
                          <a:latin typeface="Calibri"/>
                        </a:rPr>
                        <a:t>What was done</a:t>
                      </a:r>
                    </a:p>
                  </a:txBody>
                  <a:tcPr marL="54864" marR="54864" marT="27432" marB="27432" anchor="ctr">
                    <a:solidFill>
                      <a:srgbClr val="25578F"/>
                    </a:solidFill>
                  </a:tcPr>
                </a:tc>
                <a:tc>
                  <a:txBody>
                    <a:bodyPr wrap="square"/>
                    <a:lstStyle/>
                    <a:p>
                      <a:r>
                        <a:rPr sz="1100" b="1">
                          <a:solidFill>
                            <a:srgbClr val="FFFFFF"/>
                          </a:solidFill>
                          <a:latin typeface="Calibri"/>
                        </a:rPr>
                        <a:t>Status</a:t>
                      </a:r>
                    </a:p>
                  </a:txBody>
                  <a:tcPr marL="54864" marR="54864" marT="27432" marB="27432" anchor="ctr">
                    <a:solidFill>
                      <a:srgbClr val="25578F"/>
                    </a:solidFill>
                  </a:tcPr>
                </a:tc>
              </a:tr>
              <a:tr h="365760">
                <a:tc>
                  <a:txBody>
                    <a:bodyPr wrap="square"/>
                    <a:lstStyle/>
                    <a:p>
                      <a:r>
                        <a:rPr sz="1100" b="1">
                          <a:solidFill>
                            <a:srgbClr val="26323F"/>
                          </a:solidFill>
                          <a:latin typeface="Calibri"/>
                        </a:rPr>
                        <a:t>Dataset inventory</a:t>
                      </a:r>
                    </a:p>
                  </a:txBody>
                  <a:tcPr marL="54864" marR="54864" marT="27432" marB="27432" anchor="ctr">
                    <a:solidFill>
                      <a:srgbClr val="E6EEF7"/>
                    </a:solidFill>
                  </a:tcPr>
                </a:tc>
                <a:tc>
                  <a:txBody>
                    <a:bodyPr wrap="square"/>
                    <a:lstStyle/>
                    <a:p>
                      <a:r>
                        <a:rPr sz="1100" b="0">
                          <a:solidFill>
                            <a:srgbClr val="26323F"/>
                          </a:solidFill>
                          <a:latin typeface="Calibri"/>
                        </a:rPr>
                        <a:t>54,057 MIMII files checked; counts match Hitachi's table</a:t>
                      </a:r>
                    </a:p>
                  </a:txBody>
                  <a:tcPr marL="54864" marR="54864" marT="27432" marB="27432" anchor="ctr">
                    <a:solidFill>
                      <a:srgbClr val="E6EEF7"/>
                    </a:solidFill>
                  </a:tcPr>
                </a:tc>
                <a:tc>
                  <a:txBody>
                    <a:bodyPr wrap="square"/>
                    <a:lstStyle/>
                    <a:p>
                      <a:r>
                        <a:rPr sz="1100" b="1">
                          <a:solidFill>
                            <a:srgbClr val="1E7B4B"/>
                          </a:solidFill>
                          <a:latin typeface="Calibri"/>
                        </a:rPr>
                        <a:t>Done</a:t>
                      </a:r>
                    </a:p>
                  </a:txBody>
                  <a:tcPr marL="54864" marR="54864" marT="27432" marB="27432" anchor="ctr">
                    <a:solidFill>
                      <a:srgbClr val="E6EEF7"/>
                    </a:solidFill>
                  </a:tcPr>
                </a:tc>
              </a:tr>
              <a:tr h="365760">
                <a:tc>
                  <a:txBody>
                    <a:bodyPr wrap="square"/>
                    <a:lstStyle/>
                    <a:p>
                      <a:r>
                        <a:rPr sz="1100" b="1">
                          <a:solidFill>
                            <a:srgbClr val="26323F"/>
                          </a:solidFill>
                          <a:latin typeface="Calibri"/>
                        </a:rPr>
                        <a:t>Feature extraction</a:t>
                      </a:r>
                    </a:p>
                  </a:txBody>
                  <a:tcPr marL="54864" marR="54864" marT="27432" marB="27432" anchor="ctr">
                    <a:solidFill>
                      <a:srgbClr val="F6F9FC"/>
                    </a:solidFill>
                  </a:tcPr>
                </a:tc>
                <a:tc>
                  <a:txBody>
                    <a:bodyPr wrap="square"/>
                    <a:lstStyle/>
                    <a:p>
                      <a:r>
                        <a:rPr sz="1100" b="0">
                          <a:solidFill>
                            <a:srgbClr val="26323F"/>
                          </a:solidFill>
                          <a:latin typeface="Calibri"/>
                        </a:rPr>
                        <a:t>Log-mel for all files (64, 32 and 128 bands); checked against a hand calculation</a:t>
                      </a:r>
                    </a:p>
                  </a:txBody>
                  <a:tcPr marL="54864" marR="54864" marT="27432" marB="27432" anchor="ctr">
                    <a:solidFill>
                      <a:srgbClr val="F6F9FC"/>
                    </a:solidFill>
                  </a:tcPr>
                </a:tc>
                <a:tc>
                  <a:txBody>
                    <a:bodyPr wrap="square"/>
                    <a:lstStyle/>
                    <a:p>
                      <a:r>
                        <a:rPr sz="1100" b="1">
                          <a:solidFill>
                            <a:srgbClr val="1E7B4B"/>
                          </a:solidFill>
                          <a:latin typeface="Calibri"/>
                        </a:rPr>
                        <a:t>Done</a:t>
                      </a:r>
                    </a:p>
                  </a:txBody>
                  <a:tcPr marL="54864" marR="54864" marT="27432" marB="27432" anchor="ctr">
                    <a:solidFill>
                      <a:srgbClr val="F6F9FC"/>
                    </a:solidFill>
                  </a:tcPr>
                </a:tc>
              </a:tr>
              <a:tr h="365760">
                <a:tc>
                  <a:txBody>
                    <a:bodyPr wrap="square"/>
                    <a:lstStyle/>
                    <a:p>
                      <a:r>
                        <a:rPr sz="1100" b="1">
                          <a:solidFill>
                            <a:srgbClr val="26323F"/>
                          </a:solidFill>
                          <a:latin typeface="Calibri"/>
                        </a:rPr>
                        <a:t>Baseline reproduction</a:t>
                      </a:r>
                    </a:p>
                  </a:txBody>
                  <a:tcPr marL="54864" marR="54864" marT="27432" marB="27432" anchor="ctr">
                    <a:solidFill>
                      <a:srgbClr val="E6EEF7"/>
                    </a:solidFill>
                  </a:tcPr>
                </a:tc>
                <a:tc>
                  <a:txBody>
                    <a:bodyPr wrap="square"/>
                    <a:lstStyle/>
                    <a:p>
                      <a:r>
                        <a:rPr sz="1100" b="0">
                          <a:solidFill>
                            <a:srgbClr val="26323F"/>
                          </a:solidFill>
                          <a:latin typeface="Calibri"/>
                        </a:rPr>
                        <a:t>Hitachi model rebuilt; 48 cases; correlation 0.97 with their table</a:t>
                      </a:r>
                    </a:p>
                  </a:txBody>
                  <a:tcPr marL="54864" marR="54864" marT="27432" marB="27432" anchor="ctr">
                    <a:solidFill>
                      <a:srgbClr val="E6EEF7"/>
                    </a:solidFill>
                  </a:tcPr>
                </a:tc>
                <a:tc>
                  <a:txBody>
                    <a:bodyPr wrap="square"/>
                    <a:lstStyle/>
                    <a:p>
                      <a:r>
                        <a:rPr sz="1100" b="1">
                          <a:solidFill>
                            <a:srgbClr val="1E7B4B"/>
                          </a:solidFill>
                          <a:latin typeface="Calibri"/>
                        </a:rPr>
                        <a:t>Done</a:t>
                      </a:r>
                    </a:p>
                  </a:txBody>
                  <a:tcPr marL="54864" marR="54864" marT="27432" marB="27432" anchor="ctr">
                    <a:solidFill>
                      <a:srgbClr val="E6EEF7"/>
                    </a:solidFill>
                  </a:tcPr>
                </a:tc>
              </a:tr>
              <a:tr h="365760">
                <a:tc>
                  <a:txBody>
                    <a:bodyPr wrap="square"/>
                    <a:lstStyle/>
                    <a:p>
                      <a:r>
                        <a:rPr sz="1100" b="1">
                          <a:solidFill>
                            <a:srgbClr val="26323F"/>
                          </a:solidFill>
                          <a:latin typeface="Calibri"/>
                        </a:rPr>
                        <a:t>Calibration study</a:t>
                      </a:r>
                    </a:p>
                  </a:txBody>
                  <a:tcPr marL="54864" marR="54864" marT="27432" marB="27432" anchor="ctr">
                    <a:solidFill>
                      <a:srgbClr val="F6F9FC"/>
                    </a:solidFill>
                  </a:tcPr>
                </a:tc>
                <a:tc>
                  <a:txBody>
                    <a:bodyPr wrap="square"/>
                    <a:lstStyle/>
                    <a:p>
                      <a:r>
                        <a:rPr sz="1100" b="0">
                          <a:solidFill>
                            <a:srgbClr val="26323F"/>
                          </a:solidFill>
                          <a:latin typeface="Calibri"/>
                        </a:rPr>
                        <a:t>Controls, 3 seeds, ablation (alert level only versus full calibration)</a:t>
                      </a:r>
                    </a:p>
                  </a:txBody>
                  <a:tcPr marL="54864" marR="54864" marT="27432" marB="27432" anchor="ctr">
                    <a:solidFill>
                      <a:srgbClr val="F6F9FC"/>
                    </a:solidFill>
                  </a:tcPr>
                </a:tc>
                <a:tc>
                  <a:txBody>
                    <a:bodyPr wrap="square"/>
                    <a:lstStyle/>
                    <a:p>
                      <a:r>
                        <a:rPr sz="1100" b="1">
                          <a:solidFill>
                            <a:srgbClr val="1E7B4B"/>
                          </a:solidFill>
                          <a:latin typeface="Calibri"/>
                        </a:rPr>
                        <a:t>Done</a:t>
                      </a:r>
                    </a:p>
                  </a:txBody>
                  <a:tcPr marL="54864" marR="54864" marT="27432" marB="27432" anchor="ctr">
                    <a:solidFill>
                      <a:srgbClr val="F6F9FC"/>
                    </a:solidFill>
                  </a:tcPr>
                </a:tc>
              </a:tr>
              <a:tr h="365760">
                <a:tc>
                  <a:txBody>
                    <a:bodyPr wrap="square"/>
                    <a:lstStyle/>
                    <a:p>
                      <a:r>
                        <a:rPr sz="1100" b="1">
                          <a:solidFill>
                            <a:srgbClr val="26323F"/>
                          </a:solidFill>
                          <a:latin typeface="Calibri"/>
                        </a:rPr>
                        <a:t>Model selection</a:t>
                      </a:r>
                    </a:p>
                  </a:txBody>
                  <a:tcPr marL="54864" marR="54864" marT="27432" marB="27432" anchor="ctr">
                    <a:solidFill>
                      <a:srgbClr val="E6EEF7"/>
                    </a:solidFill>
                  </a:tcPr>
                </a:tc>
                <a:tc>
                  <a:txBody>
                    <a:bodyPr wrap="square"/>
                    <a:lstStyle/>
                    <a:p>
                      <a:r>
                        <a:rPr sz="1100" b="0">
                          <a:solidFill>
                            <a:srgbClr val="26323F"/>
                          </a:solidFill>
                          <a:latin typeface="Calibri"/>
                        </a:rPr>
                        <a:t>12 designs compared; sealed test machine; 2.4k-6.9k parameters chosen</a:t>
                      </a:r>
                    </a:p>
                  </a:txBody>
                  <a:tcPr marL="54864" marR="54864" marT="27432" marB="27432" anchor="ctr">
                    <a:solidFill>
                      <a:srgbClr val="E6EEF7"/>
                    </a:solidFill>
                  </a:tcPr>
                </a:tc>
                <a:tc>
                  <a:txBody>
                    <a:bodyPr wrap="square"/>
                    <a:lstStyle/>
                    <a:p>
                      <a:r>
                        <a:rPr sz="1100" b="1">
                          <a:solidFill>
                            <a:srgbClr val="1E7B4B"/>
                          </a:solidFill>
                          <a:latin typeface="Calibri"/>
                        </a:rPr>
                        <a:t>Done</a:t>
                      </a:r>
                    </a:p>
                  </a:txBody>
                  <a:tcPr marL="54864" marR="54864" marT="27432" marB="27432" anchor="ctr">
                    <a:solidFill>
                      <a:srgbClr val="E6EEF7"/>
                    </a:solidFill>
                  </a:tcPr>
                </a:tc>
              </a:tr>
              <a:tr h="365760">
                <a:tc>
                  <a:txBody>
                    <a:bodyPr wrap="square"/>
                    <a:lstStyle/>
                    <a:p>
                      <a:r>
                        <a:rPr sz="1100" b="1">
                          <a:solidFill>
                            <a:srgbClr val="26323F"/>
                          </a:solidFill>
                          <a:latin typeface="Calibri"/>
                        </a:rPr>
                        <a:t>Noise-mismatch test</a:t>
                      </a:r>
                    </a:p>
                  </a:txBody>
                  <a:tcPr marL="54864" marR="54864" marT="27432" marB="27432" anchor="ctr">
                    <a:solidFill>
                      <a:srgbClr val="F6F9FC"/>
                    </a:solidFill>
                  </a:tcPr>
                </a:tc>
                <a:tc>
                  <a:txBody>
                    <a:bodyPr wrap="square"/>
                    <a:lstStyle/>
                    <a:p>
                      <a:r>
                        <a:rPr sz="1100" b="0">
                          <a:solidFill>
                            <a:srgbClr val="26323F"/>
                          </a:solidFill>
                          <a:latin typeface="Calibri"/>
                        </a:rPr>
                        <a:t>Calibrate at one noise level, test at another</a:t>
                      </a:r>
                    </a:p>
                  </a:txBody>
                  <a:tcPr marL="54864" marR="54864" marT="27432" marB="27432" anchor="ctr">
                    <a:solidFill>
                      <a:srgbClr val="F6F9FC"/>
                    </a:solidFill>
                  </a:tcPr>
                </a:tc>
                <a:tc>
                  <a:txBody>
                    <a:bodyPr wrap="square"/>
                    <a:lstStyle/>
                    <a:p>
                      <a:r>
                        <a:rPr sz="1100" b="1">
                          <a:solidFill>
                            <a:srgbClr val="1E7B4B"/>
                          </a:solidFill>
                          <a:latin typeface="Calibri"/>
                        </a:rPr>
                        <a:t>Done</a:t>
                      </a:r>
                    </a:p>
                  </a:txBody>
                  <a:tcPr marL="54864" marR="54864" marT="27432" marB="27432" anchor="ctr">
                    <a:solidFill>
                      <a:srgbClr val="F6F9FC"/>
                    </a:solidFill>
                  </a:tcPr>
                </a:tc>
              </a:tr>
              <a:tr h="365760">
                <a:tc>
                  <a:txBody>
                    <a:bodyPr wrap="square"/>
                    <a:lstStyle/>
                    <a:p>
                      <a:r>
                        <a:rPr sz="1100" b="1">
                          <a:solidFill>
                            <a:srgbClr val="26323F"/>
                          </a:solidFill>
                          <a:latin typeface="Calibri"/>
                        </a:rPr>
                        <a:t>Final evaluation</a:t>
                      </a:r>
                    </a:p>
                  </a:txBody>
                  <a:tcPr marL="54864" marR="54864" marT="27432" marB="27432" anchor="ctr">
                    <a:solidFill>
                      <a:srgbClr val="E6EEF7"/>
                    </a:solidFill>
                  </a:tcPr>
                </a:tc>
                <a:tc>
                  <a:txBody>
                    <a:bodyPr wrap="square"/>
                    <a:lstStyle/>
                    <a:p>
                      <a:r>
                        <a:rPr sz="1100" b="0">
                          <a:solidFill>
                            <a:srgbClr val="26323F"/>
                          </a:solidFill>
                          <a:latin typeface="Calibri"/>
                        </a:rPr>
                        <a:t>144 runs: 4 types, 3 noise levels, 4 machines, 3 seeds, all metrics</a:t>
                      </a:r>
                    </a:p>
                  </a:txBody>
                  <a:tcPr marL="54864" marR="54864" marT="27432" marB="27432" anchor="ctr">
                    <a:solidFill>
                      <a:srgbClr val="E6EEF7"/>
                    </a:solidFill>
                  </a:tcPr>
                </a:tc>
                <a:tc>
                  <a:txBody>
                    <a:bodyPr wrap="square"/>
                    <a:lstStyle/>
                    <a:p>
                      <a:r>
                        <a:rPr sz="1100" b="1">
                          <a:solidFill>
                            <a:srgbClr val="1E7B4B"/>
                          </a:solidFill>
                          <a:latin typeface="Calibri"/>
                        </a:rPr>
                        <a:t>Done</a:t>
                      </a:r>
                    </a:p>
                  </a:txBody>
                  <a:tcPr marL="54864" marR="54864" marT="27432" marB="27432" anchor="ctr">
                    <a:solidFill>
                      <a:srgbClr val="E6EEF7"/>
                    </a:solidFill>
                  </a:tcPr>
                </a:tc>
              </a:tr>
              <a:tr h="365760">
                <a:tc>
                  <a:txBody>
                    <a:bodyPr wrap="square"/>
                    <a:lstStyle/>
                    <a:p>
                      <a:r>
                        <a:rPr sz="1100" b="1">
                          <a:solidFill>
                            <a:srgbClr val="26323F"/>
                          </a:solidFill>
                          <a:latin typeface="Calibri"/>
                        </a:rPr>
                        <a:t>Dashboard and own-recording test</a:t>
                      </a:r>
                    </a:p>
                  </a:txBody>
                  <a:tcPr marL="54864" marR="54864" marT="27432" marB="27432" anchor="ctr">
                    <a:solidFill>
                      <a:srgbClr val="F6F9FC"/>
                    </a:solidFill>
                  </a:tcPr>
                </a:tc>
                <a:tc>
                  <a:txBody>
                    <a:bodyPr wrap="square"/>
                    <a:lstStyle/>
                    <a:p>
                      <a:r>
                        <a:rPr sz="1100" b="0">
                          <a:solidFill>
                            <a:srgbClr val="26323F"/>
                          </a:solidFill>
                          <a:latin typeface="Calibri"/>
                        </a:rPr>
                        <a:t>5-tab interface; first test on our own fan with a phone microphone</a:t>
                      </a:r>
                    </a:p>
                  </a:txBody>
                  <a:tcPr marL="54864" marR="54864" marT="27432" marB="27432" anchor="ctr">
                    <a:solidFill>
                      <a:srgbClr val="F6F9FC"/>
                    </a:solidFill>
                  </a:tcPr>
                </a:tc>
                <a:tc>
                  <a:txBody>
                    <a:bodyPr wrap="square"/>
                    <a:lstStyle/>
                    <a:p>
                      <a:r>
                        <a:rPr sz="1100" b="1">
                          <a:solidFill>
                            <a:srgbClr val="1E7B4B"/>
                          </a:solidFill>
                          <a:latin typeface="Calibri"/>
                        </a:rPr>
                        <a:t>Done (first test)</a:t>
                      </a:r>
                    </a:p>
                  </a:txBody>
                  <a:tcPr marL="54864" marR="54864" marT="27432" marB="27432" anchor="ctr">
                    <a:solidFill>
                      <a:srgbClr val="F6F9FC"/>
                    </a:solidFill>
                  </a:tcPr>
                </a:tc>
              </a:tr>
              <a:tr h="365760">
                <a:tc>
                  <a:txBody>
                    <a:bodyPr wrap="square"/>
                    <a:lstStyle/>
                    <a:p>
                      <a:r>
                        <a:rPr sz="1100" b="1">
                          <a:solidFill>
                            <a:srgbClr val="26323F"/>
                          </a:solidFill>
                          <a:latin typeface="Calibri"/>
                        </a:rPr>
                        <a:t>Vibration pipeline (CWRU)</a:t>
                      </a:r>
                    </a:p>
                  </a:txBody>
                  <a:tcPr marL="54864" marR="54864" marT="27432" marB="27432" anchor="ctr">
                    <a:solidFill>
                      <a:srgbClr val="E6EEF7"/>
                    </a:solidFill>
                  </a:tcPr>
                </a:tc>
                <a:tc>
                  <a:txBody>
                    <a:bodyPr wrap="square"/>
                    <a:lstStyle/>
                    <a:p>
                      <a:r>
                        <a:rPr sz="1100" b="0">
                          <a:solidFill>
                            <a:srgbClr val="26323F"/>
                          </a:solidFill>
                          <a:latin typeface="Calibri"/>
                        </a:rPr>
                        <a:t>Clean pipeline, sensor-noise test; CNN versus autoencoder comparison</a:t>
                      </a:r>
                    </a:p>
                  </a:txBody>
                  <a:tcPr marL="54864" marR="54864" marT="27432" marB="27432" anchor="ctr">
                    <a:solidFill>
                      <a:srgbClr val="E6EEF7"/>
                    </a:solidFill>
                  </a:tcPr>
                </a:tc>
                <a:tc>
                  <a:txBody>
                    <a:bodyPr wrap="square"/>
                    <a:lstStyle/>
                    <a:p>
                      <a:r>
                        <a:rPr sz="1100" b="1">
                          <a:solidFill>
                            <a:srgbClr val="1E7B4B"/>
                          </a:solidFill>
                          <a:latin typeface="Calibri"/>
                        </a:rPr>
                        <a:t>Done</a:t>
                      </a:r>
                    </a:p>
                  </a:txBody>
                  <a:tcPr marL="54864" marR="54864" marT="27432" marB="27432" anchor="ctr">
                    <a:solidFill>
                      <a:srgbClr val="E6EEF7"/>
                    </a:solidFill>
                  </a:tcPr>
                </a:tc>
              </a:tr>
              <a:tr h="365760">
                <a:tc>
                  <a:txBody>
                    <a:bodyPr wrap="square"/>
                    <a:lstStyle/>
                    <a:p>
                      <a:r>
                        <a:rPr sz="1100" b="1">
                          <a:solidFill>
                            <a:srgbClr val="26323F"/>
                          </a:solidFill>
                          <a:latin typeface="Calibri"/>
                        </a:rPr>
                        <a:t>Fusion, hardware, C code, INT8</a:t>
                      </a:r>
                    </a:p>
                  </a:txBody>
                  <a:tcPr marL="54864" marR="54864" marT="27432" marB="27432" anchor="ctr">
                    <a:solidFill>
                      <a:srgbClr val="F6F9FC"/>
                    </a:solidFill>
                  </a:tcPr>
                </a:tc>
                <a:tc>
                  <a:txBody>
                    <a:bodyPr wrap="square"/>
                    <a:lstStyle/>
                    <a:p>
                      <a:r>
                        <a:rPr sz="1100" b="0">
                          <a:solidFill>
                            <a:srgbClr val="26323F"/>
                          </a:solidFill>
                          <a:latin typeface="Calibri"/>
                        </a:rPr>
                        <a:t>Not started</a:t>
                      </a:r>
                    </a:p>
                  </a:txBody>
                  <a:tcPr marL="54864" marR="54864" marT="27432" marB="27432" anchor="ctr">
                    <a:solidFill>
                      <a:srgbClr val="F6F9FC"/>
                    </a:solidFill>
                  </a:tcPr>
                </a:tc>
                <a:tc>
                  <a:txBody>
                    <a:bodyPr wrap="square"/>
                    <a:lstStyle/>
                    <a:p>
                      <a:r>
                        <a:rPr sz="1100" b="1">
                          <a:solidFill>
                            <a:srgbClr val="A86A00"/>
                          </a:solidFill>
                          <a:latin typeface="Calibri"/>
                        </a:rPr>
                        <a:t>Planned</a:t>
                      </a:r>
                    </a:p>
                  </a:txBody>
                  <a:tcPr marL="54864" marR="54864" marT="27432" marB="27432" anchor="ctr">
                    <a:solidFill>
                      <a:srgbClr val="F6F9FC"/>
                    </a:solidFill>
                  </a:tcPr>
                </a:tc>
              </a:tr>
            </a:tbl>
          </a:graphicData>
        </a:graphic>
      </p:graphicFrame>
      <p:sp>
        <p:nvSpPr>
          <p:cNvPr id="20486" name="TextBox 20485"/>
          <p:cNvSpPr txBox="1"/>
          <p:nvPr/>
        </p:nvSpPr>
        <p:spPr>
          <a:xfrm>
            <a:off x="1051560" y="5486400"/>
            <a:ext cx="7680960" cy="457200"/>
          </a:xfrm>
          <a:prstGeom prst="rect">
            <a:avLst/>
          </a:prstGeom>
          <a:noFill/>
        </p:spPr>
        <p:txBody>
          <a:bodyPr wrap="square" lIns="54864" rIns="54864" tIns="27432" bIns="27432" anchor="t">
            <a:noAutofit/>
          </a:bodyPr>
          <a:lstStyle/>
          <a:p>
            <a:pPr algn="l">
              <a:spcAft>
                <a:spcPts val="400"/>
              </a:spcAft>
            </a:pPr>
            <a:r>
              <a:rPr sz="1100" b="0" i="1">
                <a:solidFill>
                  <a:srgbClr val="6B7580"/>
                </a:solidFill>
                <a:latin typeface="Calibri"/>
              </a:rPr>
              <a:t>Roughly 40% of the planned work is complete (team estimate): the offline pipeline is done; hardware and on-chip work have not started.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2800">
                <a:latin typeface="Calibri"/>
              </a:rPr>
              <a:t>Results: Validation and Calibration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graphicFrame>
        <p:nvGraphicFramePr>
          <p:cNvPr id="20485" name="Calibration chart"/>
          <p:cNvGraphicFramePr>
            <a:graphicFrameLocks noGrp="1"/>
          </p:cNvGraphicFramePr>
          <p:nvPr/>
        </p:nvGraphicFramePr>
        <p:xfrm>
          <a:off x="1097280" y="1371600"/>
          <a:ext cx="4297680" cy="2926080"/>
        </p:xfrm>
        <a:graphic>
          <a:graphicData uri="http://schemas.openxmlformats.org/drawingml/2006/chart">
            <c:chart xmlns:c="http://schemas.openxmlformats.org/drawingml/2006/chart" r:id="rId2"/>
          </a:graphicData>
        </a:graphic>
      </p:graphicFrame>
      <p:sp>
        <p:nvSpPr>
          <p:cNvPr id="20486" name="TextBox 20485"/>
          <p:cNvSpPr txBox="1"/>
          <p:nvPr/>
        </p:nvSpPr>
        <p:spPr>
          <a:xfrm>
            <a:off x="5577840" y="1371600"/>
            <a:ext cx="3200400" cy="320040"/>
          </a:xfrm>
          <a:prstGeom prst="rect">
            <a:avLst/>
          </a:prstGeom>
          <a:noFill/>
        </p:spPr>
        <p:txBody>
          <a:bodyPr wrap="square" lIns="54864" rIns="54864" tIns="27432" bIns="27432" anchor="t">
            <a:noAutofit/>
          </a:bodyPr>
          <a:lstStyle/>
          <a:p>
            <a:pPr algn="l">
              <a:spcAft>
                <a:spcPts val="400"/>
              </a:spcAft>
            </a:pPr>
            <a:r>
              <a:rPr sz="1300" b="1" i="0">
                <a:solidFill>
                  <a:srgbClr val="25578F"/>
                </a:solidFill>
                <a:latin typeface="Calibri"/>
              </a:rPr>
              <a:t>Our copy of Hitachi's model</a:t>
            </a:r>
          </a:p>
        </p:txBody>
      </p:sp>
      <p:graphicFrame>
        <p:nvGraphicFramePr>
          <p:cNvPr id="20487" name="Table 20486"/>
          <p:cNvGraphicFramePr>
            <a:graphicFrameLocks noGrp="1"/>
          </p:cNvGraphicFramePr>
          <p:nvPr/>
        </p:nvGraphicFramePr>
        <p:xfrm>
          <a:off x="5577840" y="1737360"/>
          <a:ext cx="3108960" cy="1645920"/>
        </p:xfrm>
        <a:graphic>
          <a:graphicData uri="http://schemas.openxmlformats.org/drawingml/2006/table">
            <a:tbl>
              <a:tblPr firstRow="0" bandRow="0">
                <a:tableStyleId>{2D5ABB26-0587-4C30-8999-92F81FD0307C}</a:tableStyleId>
              </a:tblPr>
              <a:tblGrid>
                <a:gridCol w="1188720"/>
                <a:gridCol w="914400"/>
                <a:gridCol w="1005840"/>
              </a:tblGrid>
              <a:tr h="329184">
                <a:tc>
                  <a:txBody>
                    <a:bodyPr wrap="square"/>
                    <a:lstStyle/>
                    <a:p>
                      <a:r>
                        <a:rPr sz="1150" b="1">
                          <a:solidFill>
                            <a:srgbClr val="FFFFFF"/>
                          </a:solidFill>
                          <a:latin typeface="Calibri"/>
                        </a:rPr>
                        <a:t>6 dB AUC</a:t>
                      </a:r>
                    </a:p>
                  </a:txBody>
                  <a:tcPr marL="54864" marR="54864" marT="27432" marB="27432" anchor="ctr">
                    <a:solidFill>
                      <a:srgbClr val="25578F"/>
                    </a:solidFill>
                  </a:tcPr>
                </a:tc>
                <a:tc>
                  <a:txBody>
                    <a:bodyPr wrap="square"/>
                    <a:lstStyle/>
                    <a:p>
                      <a:r>
                        <a:rPr sz="1150" b="1">
                          <a:solidFill>
                            <a:srgbClr val="FFFFFF"/>
                          </a:solidFill>
                          <a:latin typeface="Calibri"/>
                        </a:rPr>
                        <a:t>Ours</a:t>
                      </a:r>
                    </a:p>
                  </a:txBody>
                  <a:tcPr marL="54864" marR="54864" marT="27432" marB="27432" anchor="ctr">
                    <a:solidFill>
                      <a:srgbClr val="25578F"/>
                    </a:solidFill>
                  </a:tcPr>
                </a:tc>
                <a:tc>
                  <a:txBody>
                    <a:bodyPr wrap="square"/>
                    <a:lstStyle/>
                    <a:p>
                      <a:r>
                        <a:rPr sz="1150" b="1">
                          <a:solidFill>
                            <a:srgbClr val="FFFFFF"/>
                          </a:solidFill>
                          <a:latin typeface="Calibri"/>
                        </a:rPr>
                        <a:t>Hitachi</a:t>
                      </a:r>
                    </a:p>
                  </a:txBody>
                  <a:tcPr marL="54864" marR="54864" marT="27432" marB="27432" anchor="ctr">
                    <a:solidFill>
                      <a:srgbClr val="25578F"/>
                    </a:solidFill>
                  </a:tcPr>
                </a:tc>
              </a:tr>
              <a:tr h="329184">
                <a:tc>
                  <a:txBody>
                    <a:bodyPr wrap="square"/>
                    <a:lstStyle/>
                    <a:p>
                      <a:r>
                        <a:rPr sz="1150" b="0">
                          <a:solidFill>
                            <a:srgbClr val="26323F"/>
                          </a:solidFill>
                          <a:latin typeface="Calibri"/>
                        </a:rPr>
                        <a:t>Fan</a:t>
                      </a:r>
                    </a:p>
                  </a:txBody>
                  <a:tcPr marL="54864" marR="54864" marT="27432" marB="27432" anchor="ctr">
                    <a:solidFill>
                      <a:srgbClr val="E6EEF7"/>
                    </a:solidFill>
                  </a:tcPr>
                </a:tc>
                <a:tc>
                  <a:txBody>
                    <a:bodyPr wrap="square"/>
                    <a:lstStyle/>
                    <a:p>
                      <a:r>
                        <a:rPr sz="1150" b="0">
                          <a:solidFill>
                            <a:srgbClr val="26323F"/>
                          </a:solidFill>
                          <a:latin typeface="Calibri"/>
                        </a:rPr>
                        <a:t>0.93</a:t>
                      </a:r>
                    </a:p>
                  </a:txBody>
                  <a:tcPr marL="54864" marR="54864" marT="27432" marB="27432" anchor="ctr">
                    <a:solidFill>
                      <a:srgbClr val="E6EEF7"/>
                    </a:solidFill>
                  </a:tcPr>
                </a:tc>
                <a:tc>
                  <a:txBody>
                    <a:bodyPr wrap="square"/>
                    <a:lstStyle/>
                    <a:p>
                      <a:r>
                        <a:rPr sz="1150" b="0">
                          <a:solidFill>
                            <a:srgbClr val="26323F"/>
                          </a:solidFill>
                          <a:latin typeface="Calibri"/>
                        </a:rPr>
                        <a:t>0.91</a:t>
                      </a:r>
                    </a:p>
                  </a:txBody>
                  <a:tcPr marL="54864" marR="54864" marT="27432" marB="27432" anchor="ctr">
                    <a:solidFill>
                      <a:srgbClr val="E6EEF7"/>
                    </a:solidFill>
                  </a:tcPr>
                </a:tc>
              </a:tr>
              <a:tr h="329184">
                <a:tc>
                  <a:txBody>
                    <a:bodyPr wrap="square"/>
                    <a:lstStyle/>
                    <a:p>
                      <a:r>
                        <a:rPr sz="1150" b="0">
                          <a:solidFill>
                            <a:srgbClr val="26323F"/>
                          </a:solidFill>
                          <a:latin typeface="Calibri"/>
                        </a:rPr>
                        <a:t>Pump</a:t>
                      </a:r>
                    </a:p>
                  </a:txBody>
                  <a:tcPr marL="54864" marR="54864" marT="27432" marB="27432" anchor="ctr">
                    <a:solidFill>
                      <a:srgbClr val="F6F9FC"/>
                    </a:solidFill>
                  </a:tcPr>
                </a:tc>
                <a:tc>
                  <a:txBody>
                    <a:bodyPr wrap="square"/>
                    <a:lstStyle/>
                    <a:p>
                      <a:r>
                        <a:rPr sz="1150" b="0">
                          <a:solidFill>
                            <a:srgbClr val="26323F"/>
                          </a:solidFill>
                          <a:latin typeface="Calibri"/>
                        </a:rPr>
                        <a:t>0.76</a:t>
                      </a:r>
                    </a:p>
                  </a:txBody>
                  <a:tcPr marL="54864" marR="54864" marT="27432" marB="27432" anchor="ctr">
                    <a:solidFill>
                      <a:srgbClr val="F6F9FC"/>
                    </a:solidFill>
                  </a:tcPr>
                </a:tc>
                <a:tc>
                  <a:txBody>
                    <a:bodyPr wrap="square"/>
                    <a:lstStyle/>
                    <a:p>
                      <a:r>
                        <a:rPr sz="1150" b="0">
                          <a:solidFill>
                            <a:srgbClr val="26323F"/>
                          </a:solidFill>
                          <a:latin typeface="Calibri"/>
                        </a:rPr>
                        <a:t>0.81</a:t>
                      </a:r>
                    </a:p>
                  </a:txBody>
                  <a:tcPr marL="54864" marR="54864" marT="27432" marB="27432" anchor="ctr">
                    <a:solidFill>
                      <a:srgbClr val="F6F9FC"/>
                    </a:solidFill>
                  </a:tcPr>
                </a:tc>
              </a:tr>
              <a:tr h="329184">
                <a:tc>
                  <a:txBody>
                    <a:bodyPr wrap="square"/>
                    <a:lstStyle/>
                    <a:p>
                      <a:r>
                        <a:rPr sz="1150" b="0">
                          <a:solidFill>
                            <a:srgbClr val="26323F"/>
                          </a:solidFill>
                          <a:latin typeface="Calibri"/>
                        </a:rPr>
                        <a:t>Slider</a:t>
                      </a:r>
                    </a:p>
                  </a:txBody>
                  <a:tcPr marL="54864" marR="54864" marT="27432" marB="27432" anchor="ctr">
                    <a:solidFill>
                      <a:srgbClr val="E6EEF7"/>
                    </a:solidFill>
                  </a:tcPr>
                </a:tc>
                <a:tc>
                  <a:txBody>
                    <a:bodyPr wrap="square"/>
                    <a:lstStyle/>
                    <a:p>
                      <a:r>
                        <a:rPr sz="1150" b="0">
                          <a:solidFill>
                            <a:srgbClr val="26323F"/>
                          </a:solidFill>
                          <a:latin typeface="Calibri"/>
                        </a:rPr>
                        <a:t>0.89</a:t>
                      </a:r>
                    </a:p>
                  </a:txBody>
                  <a:tcPr marL="54864" marR="54864" marT="27432" marB="27432" anchor="ctr">
                    <a:solidFill>
                      <a:srgbClr val="E6EEF7"/>
                    </a:solidFill>
                  </a:tcPr>
                </a:tc>
                <a:tc>
                  <a:txBody>
                    <a:bodyPr wrap="square"/>
                    <a:lstStyle/>
                    <a:p>
                      <a:r>
                        <a:rPr sz="1150" b="0">
                          <a:solidFill>
                            <a:srgbClr val="26323F"/>
                          </a:solidFill>
                          <a:latin typeface="Calibri"/>
                        </a:rPr>
                        <a:t>0.88</a:t>
                      </a:r>
                    </a:p>
                  </a:txBody>
                  <a:tcPr marL="54864" marR="54864" marT="27432" marB="27432" anchor="ctr">
                    <a:solidFill>
                      <a:srgbClr val="E6EEF7"/>
                    </a:solidFill>
                  </a:tcPr>
                </a:tc>
              </a:tr>
              <a:tr h="329184">
                <a:tc>
                  <a:txBody>
                    <a:bodyPr wrap="square"/>
                    <a:lstStyle/>
                    <a:p>
                      <a:r>
                        <a:rPr sz="1150" b="0">
                          <a:solidFill>
                            <a:srgbClr val="26323F"/>
                          </a:solidFill>
                          <a:latin typeface="Calibri"/>
                        </a:rPr>
                        <a:t>Valve</a:t>
                      </a:r>
                    </a:p>
                  </a:txBody>
                  <a:tcPr marL="54864" marR="54864" marT="27432" marB="27432" anchor="ctr">
                    <a:solidFill>
                      <a:srgbClr val="F6F9FC"/>
                    </a:solidFill>
                  </a:tcPr>
                </a:tc>
                <a:tc>
                  <a:txBody>
                    <a:bodyPr wrap="square"/>
                    <a:lstStyle/>
                    <a:p>
                      <a:r>
                        <a:rPr sz="1150" b="0">
                          <a:solidFill>
                            <a:srgbClr val="26323F"/>
                          </a:solidFill>
                          <a:latin typeface="Calibri"/>
                        </a:rPr>
                        <a:t>0.71</a:t>
                      </a:r>
                    </a:p>
                  </a:txBody>
                  <a:tcPr marL="54864" marR="54864" marT="27432" marB="27432" anchor="ctr">
                    <a:solidFill>
                      <a:srgbClr val="F6F9FC"/>
                    </a:solidFill>
                  </a:tcPr>
                </a:tc>
                <a:tc>
                  <a:txBody>
                    <a:bodyPr wrap="square"/>
                    <a:lstStyle/>
                    <a:p>
                      <a:r>
                        <a:rPr sz="1150" b="0">
                          <a:solidFill>
                            <a:srgbClr val="26323F"/>
                          </a:solidFill>
                          <a:latin typeface="Calibri"/>
                        </a:rPr>
                        <a:t>0.67</a:t>
                      </a:r>
                    </a:p>
                  </a:txBody>
                  <a:tcPr marL="54864" marR="54864" marT="27432" marB="27432" anchor="ctr">
                    <a:solidFill>
                      <a:srgbClr val="F6F9FC"/>
                    </a:solidFill>
                  </a:tcPr>
                </a:tc>
              </a:tr>
            </a:tbl>
          </a:graphicData>
        </a:graphic>
      </p:graphicFrame>
      <p:sp>
        <p:nvSpPr>
          <p:cNvPr id="20488" name="TextBox 20487"/>
          <p:cNvSpPr txBox="1"/>
          <p:nvPr/>
        </p:nvSpPr>
        <p:spPr>
          <a:xfrm>
            <a:off x="5577840" y="3429000"/>
            <a:ext cx="3200400" cy="914400"/>
          </a:xfrm>
          <a:prstGeom prst="rect">
            <a:avLst/>
          </a:prstGeom>
          <a:noFill/>
        </p:spPr>
        <p:txBody>
          <a:bodyPr wrap="square" lIns="54864" rIns="54864" tIns="27432" bIns="27432" anchor="t">
            <a:noAutofit/>
          </a:bodyPr>
          <a:lstStyle/>
          <a:p>
            <a:pPr algn="l">
              <a:spcAft>
                <a:spcPts val="0"/>
              </a:spcAft>
            </a:pPr>
            <a:r>
              <a:rPr sz="1200" b="0" i="0">
                <a:solidFill>
                  <a:srgbClr val="26323F"/>
                </a:solidFill>
                <a:latin typeface="Calibri"/>
              </a:rPr>
              <a:t>Correlation 0.97 over 48 cases: our pipeline reproduces Hitachi's published results.</a:t>
            </a:r>
          </a:p>
        </p:txBody>
      </p:sp>
      <p:sp>
        <p:nvSpPr>
          <p:cNvPr id="20489" name="TextBox 20488"/>
          <p:cNvSpPr txBox="1"/>
          <p:nvPr/>
        </p:nvSpPr>
        <p:spPr>
          <a:xfrm>
            <a:off x="1143000" y="4434840"/>
            <a:ext cx="7589520" cy="1463040"/>
          </a:xfrm>
          <a:prstGeom prst="rect">
            <a:avLst/>
          </a:prstGeom>
          <a:noFill/>
        </p:spPr>
        <p:txBody>
          <a:bodyPr wrap="square" lIns="54864" rIns="54864" tIns="27432" bIns="27432" anchor="t">
            <a:noAutofit/>
          </a:bodyPr>
          <a:lstStyle/>
          <a:p>
            <a:pPr algn="l" marL="182880" indent="-182880">
              <a:spcAft>
                <a:spcPts val="400"/>
              </a:spcAft>
              <a:buFont typeface="Arial"/>
              <a:buChar char="•"/>
            </a:pPr>
            <a:r>
              <a:rPr sz="1200" b="1" i="0">
                <a:solidFill>
                  <a:srgbClr val="25578F"/>
                </a:solidFill>
                <a:latin typeface="Calibri"/>
              </a:rPr>
              <a:t>Without calibration, </a:t>
            </a:r>
            <a:r>
              <a:rPr sz="1200" b="0" i="0">
                <a:solidFill>
                  <a:srgbClr val="26323F"/>
                </a:solidFill>
                <a:latin typeface="Calibri"/>
              </a:rPr>
              <a:t>a healthy new machine looks faulty to a model trained on other machines: AUC is near 0.5 for fans and pumps.</a:t>
            </a:r>
          </a:p>
          <a:p>
            <a:pPr algn="l" marL="182880" indent="-182880">
              <a:spcAft>
                <a:spcPts val="400"/>
              </a:spcAft>
              <a:buFont typeface="Arial"/>
              <a:buChar char="•"/>
            </a:pPr>
            <a:r>
              <a:rPr sz="1200" b="1" i="0">
                <a:solidFill>
                  <a:srgbClr val="25578F"/>
                </a:solidFill>
                <a:latin typeface="Calibri"/>
              </a:rPr>
              <a:t>Both parts are needed: </a:t>
            </a:r>
            <a:r>
              <a:rPr sz="1200" b="0" i="0">
                <a:solidFill>
                  <a:srgbClr val="26323F"/>
                </a:solidFill>
                <a:latin typeface="Calibri"/>
              </a:rPr>
              <a:t>setting only the alert level removes false alarms (fan 53% to 2%) but detection stays low (14%); standardising with the machine's own numbers restores detection.</a:t>
            </a:r>
          </a:p>
          <a:p>
            <a:pPr algn="l" marL="182880" indent="-182880">
              <a:spcAft>
                <a:spcPts val="400"/>
              </a:spcAft>
              <a:buFont typeface="Arial"/>
              <a:buChar char="•"/>
            </a:pPr>
            <a:r>
              <a:rPr sz="1200" b="1" i="0">
                <a:solidFill>
                  <a:srgbClr val="25578F"/>
                </a:solidFill>
                <a:latin typeface="Calibri"/>
              </a:rPr>
              <a:t>Small models </a:t>
            </a:r>
            <a:r>
              <a:rPr sz="1200" b="0" i="0">
                <a:solidFill>
                  <a:srgbClr val="26323F"/>
                </a:solidFill>
                <a:latin typeface="Calibri"/>
              </a:rPr>
              <a:t>(2.4k-6.9k parameters) match the 50,760-parameter baseline.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Results: Final Evaluation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graphicFrame>
        <p:nvGraphicFramePr>
          <p:cNvPr id="20485" name="Table 20484"/>
          <p:cNvGraphicFramePr>
            <a:graphicFrameLocks noGrp="1"/>
          </p:cNvGraphicFramePr>
          <p:nvPr/>
        </p:nvGraphicFramePr>
        <p:xfrm>
          <a:off x="1097280" y="1371600"/>
          <a:ext cx="7635240" cy="2066544"/>
        </p:xfrm>
        <a:graphic>
          <a:graphicData uri="http://schemas.openxmlformats.org/drawingml/2006/table">
            <a:tbl>
              <a:tblPr firstRow="0" bandRow="0">
                <a:tableStyleId>{2D5ABB26-0587-4C30-8999-92F81FD0307C}</a:tableStyleId>
              </a:tblPr>
              <a:tblGrid>
                <a:gridCol w="1051560"/>
                <a:gridCol w="1920240"/>
                <a:gridCol w="1234440"/>
                <a:gridCol w="1463040"/>
                <a:gridCol w="1965960"/>
              </a:tblGrid>
              <a:tr h="384048">
                <a:tc>
                  <a:txBody>
                    <a:bodyPr wrap="square"/>
                    <a:lstStyle/>
                    <a:p>
                      <a:r>
                        <a:rPr sz="1250" b="1">
                          <a:solidFill>
                            <a:srgbClr val="FFFFFF"/>
                          </a:solidFill>
                          <a:latin typeface="Calibri"/>
                        </a:rPr>
                        <a:t>Machine</a:t>
                      </a:r>
                    </a:p>
                  </a:txBody>
                  <a:tcPr marL="54864" marR="54864" marT="27432" marB="27432" anchor="ctr">
                    <a:solidFill>
                      <a:srgbClr val="25578F"/>
                    </a:solidFill>
                  </a:tcPr>
                </a:tc>
                <a:tc>
                  <a:txBody>
                    <a:bodyPr wrap="square"/>
                    <a:lstStyle/>
                    <a:p>
                      <a:r>
                        <a:rPr sz="1250" b="1">
                          <a:solidFill>
                            <a:srgbClr val="FFFFFF"/>
                          </a:solidFill>
                          <a:latin typeface="Calibri"/>
                        </a:rPr>
                        <a:t>AUC at 6 / 0 / -6 dB</a:t>
                      </a:r>
                    </a:p>
                  </a:txBody>
                  <a:tcPr marL="54864" marR="54864" marT="27432" marB="27432" anchor="ctr">
                    <a:solidFill>
                      <a:srgbClr val="25578F"/>
                    </a:solidFill>
                  </a:tcPr>
                </a:tc>
                <a:tc>
                  <a:txBody>
                    <a:bodyPr wrap="square"/>
                    <a:lstStyle/>
                    <a:p>
                      <a:r>
                        <a:rPr sz="1250" b="1">
                          <a:solidFill>
                            <a:srgbClr val="FFFFFF"/>
                          </a:solidFill>
                          <a:latin typeface="Calibri"/>
                        </a:rPr>
                        <a:t>Recall (6 dB)</a:t>
                      </a:r>
                    </a:p>
                  </a:txBody>
                  <a:tcPr marL="54864" marR="54864" marT="27432" marB="27432" anchor="ctr">
                    <a:solidFill>
                      <a:srgbClr val="25578F"/>
                    </a:solidFill>
                  </a:tcPr>
                </a:tc>
                <a:tc>
                  <a:txBody>
                    <a:bodyPr wrap="square"/>
                    <a:lstStyle/>
                    <a:p>
                      <a:r>
                        <a:rPr sz="1250" b="1">
                          <a:solidFill>
                            <a:srgbClr val="FFFFFF"/>
                          </a:solidFill>
                          <a:latin typeface="Calibri"/>
                        </a:rPr>
                        <a:t>False alarms (6 dB)</a:t>
                      </a:r>
                    </a:p>
                  </a:txBody>
                  <a:tcPr marL="54864" marR="54864" marT="27432" marB="27432" anchor="ctr">
                    <a:solidFill>
                      <a:srgbClr val="25578F"/>
                    </a:solidFill>
                  </a:tcPr>
                </a:tc>
                <a:tc>
                  <a:txBody>
                    <a:bodyPr wrap="square"/>
                    <a:lstStyle/>
                    <a:p>
                      <a:r>
                        <a:rPr sz="1250" b="1">
                          <a:solidFill>
                            <a:srgbClr val="FFFFFF"/>
                          </a:solidFill>
                          <a:latin typeface="Calibri"/>
                        </a:rPr>
                        <a:t>Sealed machine 06, AUC (6 dB)</a:t>
                      </a:r>
                    </a:p>
                  </a:txBody>
                  <a:tcPr marL="54864" marR="54864" marT="27432" marB="27432" anchor="ctr">
                    <a:solidFill>
                      <a:srgbClr val="25578F"/>
                    </a:solidFill>
                  </a:tcPr>
                </a:tc>
              </a:tr>
              <a:tr h="420624">
                <a:tc>
                  <a:txBody>
                    <a:bodyPr wrap="square"/>
                    <a:lstStyle/>
                    <a:p>
                      <a:r>
                        <a:rPr sz="1250" b="1">
                          <a:solidFill>
                            <a:srgbClr val="26323F"/>
                          </a:solidFill>
                          <a:latin typeface="Calibri"/>
                        </a:rPr>
                        <a:t>Fan</a:t>
                      </a:r>
                    </a:p>
                  </a:txBody>
                  <a:tcPr marL="54864" marR="54864" marT="27432" marB="27432" anchor="ctr">
                    <a:solidFill>
                      <a:srgbClr val="E6EEF7"/>
                    </a:solidFill>
                  </a:tcPr>
                </a:tc>
                <a:tc>
                  <a:txBody>
                    <a:bodyPr wrap="square"/>
                    <a:lstStyle/>
                    <a:p>
                      <a:r>
                        <a:rPr sz="1250" b="0">
                          <a:solidFill>
                            <a:srgbClr val="26323F"/>
                          </a:solidFill>
                          <a:latin typeface="Calibri"/>
                        </a:rPr>
                        <a:t>0.92 / 0.83 / 0.71</a:t>
                      </a:r>
                    </a:p>
                  </a:txBody>
                  <a:tcPr marL="54864" marR="54864" marT="27432" marB="27432" anchor="ctr">
                    <a:solidFill>
                      <a:srgbClr val="E6EEF7"/>
                    </a:solidFill>
                  </a:tcPr>
                </a:tc>
                <a:tc>
                  <a:txBody>
                    <a:bodyPr wrap="square"/>
                    <a:lstStyle/>
                    <a:p>
                      <a:r>
                        <a:rPr sz="1250" b="0">
                          <a:solidFill>
                            <a:srgbClr val="26323F"/>
                          </a:solidFill>
                          <a:latin typeface="Calibri"/>
                        </a:rPr>
                        <a:t>66%</a:t>
                      </a:r>
                    </a:p>
                  </a:txBody>
                  <a:tcPr marL="54864" marR="54864" marT="27432" marB="27432" anchor="ctr">
                    <a:solidFill>
                      <a:srgbClr val="E6EEF7"/>
                    </a:solidFill>
                  </a:tcPr>
                </a:tc>
                <a:tc>
                  <a:txBody>
                    <a:bodyPr wrap="square"/>
                    <a:lstStyle/>
                    <a:p>
                      <a:r>
                        <a:rPr sz="1250" b="0">
                          <a:solidFill>
                            <a:srgbClr val="26323F"/>
                          </a:solidFill>
                          <a:latin typeface="Calibri"/>
                        </a:rPr>
                        <a:t>5%</a:t>
                      </a:r>
                    </a:p>
                  </a:txBody>
                  <a:tcPr marL="54864" marR="54864" marT="27432" marB="27432" anchor="ctr">
                    <a:solidFill>
                      <a:srgbClr val="E6EEF7"/>
                    </a:solidFill>
                  </a:tcPr>
                </a:tc>
                <a:tc>
                  <a:txBody>
                    <a:bodyPr wrap="square"/>
                    <a:lstStyle/>
                    <a:p>
                      <a:r>
                        <a:rPr sz="1250" b="0">
                          <a:solidFill>
                            <a:srgbClr val="26323F"/>
                          </a:solidFill>
                          <a:latin typeface="Calibri"/>
                        </a:rPr>
                        <a:t>1.00</a:t>
                      </a:r>
                    </a:p>
                  </a:txBody>
                  <a:tcPr marL="54864" marR="54864" marT="27432" marB="27432" anchor="ctr">
                    <a:solidFill>
                      <a:srgbClr val="E6EEF7"/>
                    </a:solidFill>
                  </a:tcPr>
                </a:tc>
              </a:tr>
              <a:tr h="420624">
                <a:tc>
                  <a:txBody>
                    <a:bodyPr wrap="square"/>
                    <a:lstStyle/>
                    <a:p>
                      <a:r>
                        <a:rPr sz="1250" b="1">
                          <a:solidFill>
                            <a:srgbClr val="26323F"/>
                          </a:solidFill>
                          <a:latin typeface="Calibri"/>
                        </a:rPr>
                        <a:t>Pump</a:t>
                      </a:r>
                    </a:p>
                  </a:txBody>
                  <a:tcPr marL="54864" marR="54864" marT="27432" marB="27432" anchor="ctr">
                    <a:solidFill>
                      <a:srgbClr val="F6F9FC"/>
                    </a:solidFill>
                  </a:tcPr>
                </a:tc>
                <a:tc>
                  <a:txBody>
                    <a:bodyPr wrap="square"/>
                    <a:lstStyle/>
                    <a:p>
                      <a:r>
                        <a:rPr sz="1250" b="0">
                          <a:solidFill>
                            <a:srgbClr val="26323F"/>
                          </a:solidFill>
                          <a:latin typeface="Calibri"/>
                        </a:rPr>
                        <a:t>0.96 / 0.84 / 0.75</a:t>
                      </a:r>
                    </a:p>
                  </a:txBody>
                  <a:tcPr marL="54864" marR="54864" marT="27432" marB="27432" anchor="ctr">
                    <a:solidFill>
                      <a:srgbClr val="F6F9FC"/>
                    </a:solidFill>
                  </a:tcPr>
                </a:tc>
                <a:tc>
                  <a:txBody>
                    <a:bodyPr wrap="square"/>
                    <a:lstStyle/>
                    <a:p>
                      <a:r>
                        <a:rPr sz="1250" b="0">
                          <a:solidFill>
                            <a:srgbClr val="26323F"/>
                          </a:solidFill>
                          <a:latin typeface="Calibri"/>
                        </a:rPr>
                        <a:t>89%</a:t>
                      </a:r>
                    </a:p>
                  </a:txBody>
                  <a:tcPr marL="54864" marR="54864" marT="27432" marB="27432" anchor="ctr">
                    <a:solidFill>
                      <a:srgbClr val="F6F9FC"/>
                    </a:solidFill>
                  </a:tcPr>
                </a:tc>
                <a:tc>
                  <a:txBody>
                    <a:bodyPr wrap="square"/>
                    <a:lstStyle/>
                    <a:p>
                      <a:r>
                        <a:rPr sz="1250" b="0">
                          <a:solidFill>
                            <a:srgbClr val="26323F"/>
                          </a:solidFill>
                          <a:latin typeface="Calibri"/>
                        </a:rPr>
                        <a:t>35%</a:t>
                      </a:r>
                    </a:p>
                  </a:txBody>
                  <a:tcPr marL="54864" marR="54864" marT="27432" marB="27432" anchor="ctr">
                    <a:solidFill>
                      <a:srgbClr val="F6F9FC"/>
                    </a:solidFill>
                  </a:tcPr>
                </a:tc>
                <a:tc>
                  <a:txBody>
                    <a:bodyPr wrap="square"/>
                    <a:lstStyle/>
                    <a:p>
                      <a:r>
                        <a:rPr sz="1250" b="0">
                          <a:solidFill>
                            <a:srgbClr val="26323F"/>
                          </a:solidFill>
                          <a:latin typeface="Calibri"/>
                        </a:rPr>
                        <a:t>0.97</a:t>
                      </a:r>
                    </a:p>
                  </a:txBody>
                  <a:tcPr marL="54864" marR="54864" marT="27432" marB="27432" anchor="ctr">
                    <a:solidFill>
                      <a:srgbClr val="F6F9FC"/>
                    </a:solidFill>
                  </a:tcPr>
                </a:tc>
              </a:tr>
              <a:tr h="420624">
                <a:tc>
                  <a:txBody>
                    <a:bodyPr wrap="square"/>
                    <a:lstStyle/>
                    <a:p>
                      <a:r>
                        <a:rPr sz="1250" b="1">
                          <a:solidFill>
                            <a:srgbClr val="26323F"/>
                          </a:solidFill>
                          <a:latin typeface="Calibri"/>
                        </a:rPr>
                        <a:t>Slider</a:t>
                      </a:r>
                    </a:p>
                  </a:txBody>
                  <a:tcPr marL="54864" marR="54864" marT="27432" marB="27432" anchor="ctr">
                    <a:solidFill>
                      <a:srgbClr val="E6EEF7"/>
                    </a:solidFill>
                  </a:tcPr>
                </a:tc>
                <a:tc>
                  <a:txBody>
                    <a:bodyPr wrap="square"/>
                    <a:lstStyle/>
                    <a:p>
                      <a:r>
                        <a:rPr sz="1250" b="0">
                          <a:solidFill>
                            <a:srgbClr val="26323F"/>
                          </a:solidFill>
                          <a:latin typeface="Calibri"/>
                        </a:rPr>
                        <a:t>0.94 / 0.84 / 0.72</a:t>
                      </a:r>
                    </a:p>
                  </a:txBody>
                  <a:tcPr marL="54864" marR="54864" marT="27432" marB="27432" anchor="ctr">
                    <a:solidFill>
                      <a:srgbClr val="E6EEF7"/>
                    </a:solidFill>
                  </a:tcPr>
                </a:tc>
                <a:tc>
                  <a:txBody>
                    <a:bodyPr wrap="square"/>
                    <a:lstStyle/>
                    <a:p>
                      <a:r>
                        <a:rPr sz="1250" b="0">
                          <a:solidFill>
                            <a:srgbClr val="26323F"/>
                          </a:solidFill>
                          <a:latin typeface="Calibri"/>
                        </a:rPr>
                        <a:t>73%</a:t>
                      </a:r>
                    </a:p>
                  </a:txBody>
                  <a:tcPr marL="54864" marR="54864" marT="27432" marB="27432" anchor="ctr">
                    <a:solidFill>
                      <a:srgbClr val="E6EEF7"/>
                    </a:solidFill>
                  </a:tcPr>
                </a:tc>
                <a:tc>
                  <a:txBody>
                    <a:bodyPr wrap="square"/>
                    <a:lstStyle/>
                    <a:p>
                      <a:r>
                        <a:rPr sz="1250" b="0">
                          <a:solidFill>
                            <a:srgbClr val="26323F"/>
                          </a:solidFill>
                          <a:latin typeface="Calibri"/>
                        </a:rPr>
                        <a:t>4%</a:t>
                      </a:r>
                    </a:p>
                  </a:txBody>
                  <a:tcPr marL="54864" marR="54864" marT="27432" marB="27432" anchor="ctr">
                    <a:solidFill>
                      <a:srgbClr val="E6EEF7"/>
                    </a:solidFill>
                  </a:tcPr>
                </a:tc>
                <a:tc>
                  <a:txBody>
                    <a:bodyPr wrap="square"/>
                    <a:lstStyle/>
                    <a:p>
                      <a:r>
                        <a:rPr sz="1250" b="0">
                          <a:solidFill>
                            <a:srgbClr val="26323F"/>
                          </a:solidFill>
                          <a:latin typeface="Calibri"/>
                        </a:rPr>
                        <a:t>1.00</a:t>
                      </a:r>
                    </a:p>
                  </a:txBody>
                  <a:tcPr marL="54864" marR="54864" marT="27432" marB="27432" anchor="ctr">
                    <a:solidFill>
                      <a:srgbClr val="E6EEF7"/>
                    </a:solidFill>
                  </a:tcPr>
                </a:tc>
              </a:tr>
              <a:tr h="420624">
                <a:tc>
                  <a:txBody>
                    <a:bodyPr wrap="square"/>
                    <a:lstStyle/>
                    <a:p>
                      <a:r>
                        <a:rPr sz="1250" b="1">
                          <a:solidFill>
                            <a:srgbClr val="26323F"/>
                          </a:solidFill>
                          <a:latin typeface="Calibri"/>
                        </a:rPr>
                        <a:t>Valve</a:t>
                      </a:r>
                    </a:p>
                  </a:txBody>
                  <a:tcPr marL="54864" marR="54864" marT="27432" marB="27432" anchor="ctr">
                    <a:solidFill>
                      <a:srgbClr val="F6F9FC"/>
                    </a:solidFill>
                  </a:tcPr>
                </a:tc>
                <a:tc>
                  <a:txBody>
                    <a:bodyPr wrap="square"/>
                    <a:lstStyle/>
                    <a:p>
                      <a:r>
                        <a:rPr sz="1250" b="0">
                          <a:solidFill>
                            <a:srgbClr val="26323F"/>
                          </a:solidFill>
                          <a:latin typeface="Calibri"/>
                        </a:rPr>
                        <a:t>0.56 / 0.52 / 0.51</a:t>
                      </a:r>
                    </a:p>
                  </a:txBody>
                  <a:tcPr marL="54864" marR="54864" marT="27432" marB="27432" anchor="ctr">
                    <a:solidFill>
                      <a:srgbClr val="F6F9FC"/>
                    </a:solidFill>
                  </a:tcPr>
                </a:tc>
                <a:tc>
                  <a:txBody>
                    <a:bodyPr wrap="square"/>
                    <a:lstStyle/>
                    <a:p>
                      <a:r>
                        <a:rPr sz="1250" b="0">
                          <a:solidFill>
                            <a:srgbClr val="26323F"/>
                          </a:solidFill>
                          <a:latin typeface="Calibri"/>
                        </a:rPr>
                        <a:t>1%</a:t>
                      </a:r>
                    </a:p>
                  </a:txBody>
                  <a:tcPr marL="54864" marR="54864" marT="27432" marB="27432" anchor="ctr">
                    <a:solidFill>
                      <a:srgbClr val="F6F9FC"/>
                    </a:solidFill>
                  </a:tcPr>
                </a:tc>
                <a:tc>
                  <a:txBody>
                    <a:bodyPr wrap="square"/>
                    <a:lstStyle/>
                    <a:p>
                      <a:r>
                        <a:rPr sz="1250" b="0">
                          <a:solidFill>
                            <a:srgbClr val="26323F"/>
                          </a:solidFill>
                          <a:latin typeface="Calibri"/>
                        </a:rPr>
                        <a:t>2%</a:t>
                      </a:r>
                    </a:p>
                  </a:txBody>
                  <a:tcPr marL="54864" marR="54864" marT="27432" marB="27432" anchor="ctr">
                    <a:solidFill>
                      <a:srgbClr val="F6F9FC"/>
                    </a:solidFill>
                  </a:tcPr>
                </a:tc>
                <a:tc>
                  <a:txBody>
                    <a:bodyPr wrap="square"/>
                    <a:lstStyle/>
                    <a:p>
                      <a:r>
                        <a:rPr sz="1250" b="0">
                          <a:solidFill>
                            <a:srgbClr val="26323F"/>
                          </a:solidFill>
                          <a:latin typeface="Calibri"/>
                        </a:rPr>
                        <a:t>0.52</a:t>
                      </a:r>
                    </a:p>
                  </a:txBody>
                  <a:tcPr marL="54864" marR="54864" marT="27432" marB="27432" anchor="ctr">
                    <a:solidFill>
                      <a:srgbClr val="F6F9FC"/>
                    </a:solidFill>
                  </a:tcPr>
                </a:tc>
              </a:tr>
            </a:tbl>
          </a:graphicData>
        </a:graphic>
      </p:graphicFrame>
      <p:sp>
        <p:nvSpPr>
          <p:cNvPr id="20486" name="TextBox 20485"/>
          <p:cNvSpPr txBox="1"/>
          <p:nvPr/>
        </p:nvSpPr>
        <p:spPr>
          <a:xfrm>
            <a:off x="1097280" y="3611880"/>
            <a:ext cx="7635240" cy="2286000"/>
          </a:xfrm>
          <a:prstGeom prst="rect">
            <a:avLst/>
          </a:prstGeom>
          <a:noFill/>
        </p:spPr>
        <p:txBody>
          <a:bodyPr wrap="square" lIns="54864" rIns="54864" tIns="27432" bIns="27432" anchor="t">
            <a:noAutofit/>
          </a:bodyPr>
          <a:lstStyle/>
          <a:p>
            <a:pPr algn="l" marL="182880" indent="-182880">
              <a:spcAft>
                <a:spcPts val="600"/>
              </a:spcAft>
              <a:buFont typeface="Arial"/>
              <a:buChar char="•"/>
            </a:pPr>
            <a:r>
              <a:rPr sz="1250" b="1" i="0">
                <a:solidFill>
                  <a:srgbClr val="1E7B4B"/>
                </a:solidFill>
                <a:latin typeface="Calibri"/>
              </a:rPr>
              <a:t>Works: </a:t>
            </a:r>
            <a:r>
              <a:rPr sz="1250" b="0" i="0">
                <a:solidFill>
                  <a:srgbClr val="26323F"/>
                </a:solidFill>
                <a:latin typeface="Calibri"/>
              </a:rPr>
              <a:t>fans, pumps and sliders separate healthy from faulty clips (AUC 0.92-0.96 at 6 dB), including on a sealed machine the design never used.</a:t>
            </a:r>
          </a:p>
          <a:p>
            <a:pPr algn="l" marL="182880" indent="-182880">
              <a:spcAft>
                <a:spcPts val="600"/>
              </a:spcAft>
              <a:buFont typeface="Arial"/>
              <a:buChar char="•"/>
            </a:pPr>
            <a:r>
              <a:rPr sz="1250" b="1" i="0">
                <a:solidFill>
                  <a:srgbClr val="B02A2A"/>
                </a:solidFill>
                <a:latin typeface="Calibri"/>
              </a:rPr>
              <a:t>Weak point, the alert level: </a:t>
            </a:r>
            <a:r>
              <a:rPr sz="1250" b="0" i="0">
                <a:solidFill>
                  <a:srgbClr val="26323F"/>
                </a:solidFill>
                <a:latin typeface="Calibri"/>
              </a:rPr>
              <a:t>pumps give 35% false alarms, while fans and sliders catch only 66% and 73% of faults. The same rule is too strict for one machine type and too lenient for the others.</a:t>
            </a:r>
          </a:p>
          <a:p>
            <a:pPr algn="l" marL="182880" indent="-182880">
              <a:spcAft>
                <a:spcPts val="600"/>
              </a:spcAft>
              <a:buFont typeface="Arial"/>
              <a:buChar char="•"/>
            </a:pPr>
            <a:r>
              <a:rPr sz="1250" b="1" i="0">
                <a:solidFill>
                  <a:srgbClr val="B02A2A"/>
                </a:solidFill>
                <a:latin typeface="Calibri"/>
              </a:rPr>
              <a:t>Not solved: </a:t>
            </a:r>
            <a:r>
              <a:rPr sz="1250" b="0" i="0">
                <a:solidFill>
                  <a:srgbClr val="26323F"/>
                </a:solidFill>
                <a:latin typeface="Calibri"/>
              </a:rPr>
              <a:t>valves (AUC about 0.5) and heavy noise (slider recall 3% at -6 dB).</a:t>
            </a:r>
          </a:p>
          <a:p>
            <a:pPr algn="l" marL="182880" indent="-182880">
              <a:spcAft>
                <a:spcPts val="600"/>
              </a:spcAft>
              <a:buFont typeface="Arial"/>
              <a:buChar char="•"/>
            </a:pPr>
            <a:r>
              <a:rPr sz="1250" b="1" i="0">
                <a:solidFill>
                  <a:srgbClr val="A86A00"/>
                </a:solidFill>
                <a:latin typeface="Calibri"/>
              </a:rPr>
              <a:t>Noise change: </a:t>
            </a:r>
            <a:r>
              <a:rPr sz="1250" b="0" i="0">
                <a:solidFill>
                  <a:srgbClr val="26323F"/>
                </a:solidFill>
                <a:latin typeface="Calibri"/>
              </a:rPr>
              <a:t>calibrated quiet and tested noisy gives 44% false alarms, against 8% when matched; calibrate in the real noise.</a:t>
            </a:r>
          </a:p>
        </p:txBody>
      </p:sp>
      <p:sp>
        <p:nvSpPr>
          <p:cNvPr id="20487" name="TextBox 20486"/>
          <p:cNvSpPr txBox="1"/>
          <p:nvPr/>
        </p:nvSpPr>
        <p:spPr>
          <a:xfrm>
            <a:off x="1097280" y="5532120"/>
            <a:ext cx="7635240" cy="411480"/>
          </a:xfrm>
          <a:prstGeom prst="rect">
            <a:avLst/>
          </a:prstGeom>
          <a:noFill/>
        </p:spPr>
        <p:txBody>
          <a:bodyPr wrap="square" lIns="54864" rIns="54864" tIns="27432" bIns="27432" anchor="t">
            <a:noAutofit/>
          </a:bodyPr>
          <a:lstStyle/>
          <a:p>
            <a:pPr algn="l">
              <a:spcAft>
                <a:spcPts val="400"/>
              </a:spcAft>
            </a:pPr>
            <a:r>
              <a:rPr sz="1050" b="0" i="1">
                <a:solidFill>
                  <a:srgbClr val="6B7580"/>
                </a:solidFill>
                <a:latin typeface="Calibri"/>
              </a:rPr>
              <a:t>Mean over 4 held-out machines and 3 seeds. Precision and accuracy assume a half-faulty test set.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2800">
                <a:latin typeface="Calibri"/>
              </a:rPr>
              <a:t>Screenshot: Evaluation Dashboard</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20485" name="Picture 20484" descr="7.png"/>
          <p:cNvPicPr>
            <a:picLocks noChangeAspect="1"/>
          </p:cNvPicPr>
          <p:nvPr/>
        </p:nvPicPr>
        <p:blipFill>
          <a:blip r:embed="rId2"/>
          <a:stretch>
            <a:fillRect/>
          </a:stretch>
        </p:blipFill>
        <p:spPr>
          <a:xfrm>
            <a:off x="1417320" y="1325880"/>
            <a:ext cx="6766560" cy="3836855"/>
          </a:xfrm>
          <a:prstGeom prst="rect">
            <a:avLst/>
          </a:prstGeom>
        </p:spPr>
      </p:pic>
      <p:sp>
        <p:nvSpPr>
          <p:cNvPr id="20486" name="TextBox 20485"/>
          <p:cNvSpPr txBox="1"/>
          <p:nvPr/>
        </p:nvSpPr>
        <p:spPr>
          <a:xfrm>
            <a:off x="1143000" y="5138928"/>
            <a:ext cx="7589520" cy="777240"/>
          </a:xfrm>
          <a:prstGeom prst="rect">
            <a:avLst/>
          </a:prstGeom>
          <a:noFill/>
        </p:spPr>
        <p:txBody>
          <a:bodyPr wrap="square" lIns="54864" rIns="54864" tIns="27432" bIns="27432" anchor="t">
            <a:noAutofit/>
          </a:bodyPr>
          <a:lstStyle/>
          <a:p>
            <a:pPr algn="l" marL="182880" indent="-182880">
              <a:spcAft>
                <a:spcPts val="300"/>
              </a:spcAft>
              <a:buFont typeface="Arial"/>
              <a:buChar char="•"/>
            </a:pPr>
            <a:r>
              <a:rPr sz="1200" b="1" i="0">
                <a:solidFill>
                  <a:srgbClr val="25578F"/>
                </a:solidFill>
                <a:latin typeface="Calibri"/>
              </a:rPr>
              <a:t>Evaluate tab: </a:t>
            </a:r>
            <a:r>
              <a:rPr sz="1200" b="0" i="0">
                <a:solidFill>
                  <a:srgbClr val="26323F"/>
                </a:solidFill>
                <a:latin typeface="Calibri"/>
              </a:rPr>
              <a:t>fan machine 06, 6 dB, 361 healthy + 361 faulty test clips. AUC 0.998, recall 100%, false alarms 5% (18 of 361), precision 0.953.</a:t>
            </a:r>
          </a:p>
          <a:p>
            <a:pPr algn="l" marL="182880" indent="-182880">
              <a:spcAft>
                <a:spcPts val="300"/>
              </a:spcAft>
              <a:buFont typeface="Arial"/>
              <a:buChar char="•"/>
            </a:pPr>
            <a:r>
              <a:rPr sz="1200" b="1" i="0">
                <a:solidFill>
                  <a:srgbClr val="A86A00"/>
                </a:solidFill>
                <a:latin typeface="Calibri"/>
              </a:rPr>
              <a:t>Note: </a:t>
            </a:r>
            <a:r>
              <a:rPr sz="1200" b="0" i="0">
                <a:solidFill>
                  <a:srgbClr val="26323F"/>
                </a:solidFill>
                <a:latin typeface="Calibri"/>
              </a:rPr>
              <a:t>machine 06 fans are the easiest case. If only 1% of clips were faulty, precision would fall to 0.17.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2600">
                <a:latin typeface="Calibri"/>
              </a:rPr>
              <a:t>Screenshot: Live Clip and Own Recording</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pic>
        <p:nvPicPr>
          <p:cNvPr id="20485" name="Picture 20484" descr="9.png"/>
          <p:cNvPicPr>
            <a:picLocks noChangeAspect="1"/>
          </p:cNvPicPr>
          <p:nvPr/>
        </p:nvPicPr>
        <p:blipFill>
          <a:blip r:embed="rId2"/>
          <a:stretch>
            <a:fillRect/>
          </a:stretch>
        </p:blipFill>
        <p:spPr>
          <a:xfrm>
            <a:off x="1097280" y="1371600"/>
            <a:ext cx="4572000" cy="2648458"/>
          </a:xfrm>
          <a:prstGeom prst="rect">
            <a:avLst/>
          </a:prstGeom>
        </p:spPr>
      </p:pic>
      <p:pic>
        <p:nvPicPr>
          <p:cNvPr id="20486" name="Picture 20485" descr="3.png"/>
          <p:cNvPicPr>
            <a:picLocks noChangeAspect="1"/>
          </p:cNvPicPr>
          <p:nvPr/>
        </p:nvPicPr>
        <p:blipFill>
          <a:blip r:embed="rId3"/>
          <a:stretch>
            <a:fillRect/>
          </a:stretch>
        </p:blipFill>
        <p:spPr>
          <a:xfrm>
            <a:off x="5897880" y="1371600"/>
            <a:ext cx="2834640" cy="1693653"/>
          </a:xfrm>
          <a:prstGeom prst="rect">
            <a:avLst/>
          </a:prstGeom>
        </p:spPr>
      </p:pic>
      <p:sp>
        <p:nvSpPr>
          <p:cNvPr id="20487" name="TextBox 20486"/>
          <p:cNvSpPr txBox="1"/>
          <p:nvPr/>
        </p:nvSpPr>
        <p:spPr>
          <a:xfrm>
            <a:off x="1097280" y="4069080"/>
            <a:ext cx="4572000" cy="640080"/>
          </a:xfrm>
          <a:prstGeom prst="rect">
            <a:avLst/>
          </a:prstGeom>
          <a:noFill/>
        </p:spPr>
        <p:txBody>
          <a:bodyPr wrap="square" lIns="54864" rIns="54864" tIns="27432" bIns="27432" anchor="t">
            <a:noAutofit/>
          </a:bodyPr>
          <a:lstStyle/>
          <a:p>
            <a:pPr algn="l">
              <a:spcAft>
                <a:spcPts val="0"/>
              </a:spcAft>
            </a:pPr>
            <a:r>
              <a:rPr sz="1200" b="0" i="0">
                <a:solidFill>
                  <a:srgbClr val="26323F"/>
                </a:solidFill>
                <a:latin typeface="Calibri"/>
              </a:rPr>
              <a:t>Live clip: the calibrated device says GREEN (score 0.505 is below the alert level 0.733).</a:t>
            </a:r>
          </a:p>
        </p:txBody>
      </p:sp>
      <p:sp>
        <p:nvSpPr>
          <p:cNvPr id="20488" name="TextBox 20487"/>
          <p:cNvSpPr txBox="1"/>
          <p:nvPr/>
        </p:nvSpPr>
        <p:spPr>
          <a:xfrm>
            <a:off x="5897880" y="3108960"/>
            <a:ext cx="2834640" cy="731520"/>
          </a:xfrm>
          <a:prstGeom prst="rect">
            <a:avLst/>
          </a:prstGeom>
          <a:noFill/>
        </p:spPr>
        <p:txBody>
          <a:bodyPr wrap="square" lIns="54864" rIns="54864" tIns="27432" bIns="27432" anchor="t">
            <a:noAutofit/>
          </a:bodyPr>
          <a:lstStyle/>
          <a:p>
            <a:pPr algn="l">
              <a:spcAft>
                <a:spcPts val="0"/>
              </a:spcAft>
            </a:pPr>
            <a:r>
              <a:rPr sz="1200" b="1" i="0">
                <a:solidFill>
                  <a:srgbClr val="25578F"/>
                </a:solidFill>
                <a:latin typeface="Calibri"/>
              </a:rPr>
              <a:t>Own fan with a phone microphone</a:t>
            </a:r>
          </a:p>
        </p:txBody>
      </p:sp>
      <p:sp>
        <p:nvSpPr>
          <p:cNvPr id="20489" name="TextBox 20488"/>
          <p:cNvSpPr txBox="1"/>
          <p:nvPr/>
        </p:nvSpPr>
        <p:spPr>
          <a:xfrm>
            <a:off x="1097280" y="4754880"/>
            <a:ext cx="7635240" cy="1097280"/>
          </a:xfrm>
          <a:prstGeom prst="rect">
            <a:avLst/>
          </a:prstGeom>
          <a:noFill/>
        </p:spPr>
        <p:txBody>
          <a:bodyPr wrap="square" lIns="54864" rIns="54864" tIns="27432" bIns="27432" anchor="t">
            <a:noAutofit/>
          </a:bodyPr>
          <a:lstStyle/>
          <a:p>
            <a:pPr algn="l" marL="182880" indent="-182880">
              <a:spcAft>
                <a:spcPts val="400"/>
              </a:spcAft>
              <a:buFont typeface="Arial"/>
              <a:buChar char="•"/>
            </a:pPr>
            <a:r>
              <a:rPr sz="1200" b="0" i="0">
                <a:solidFill>
                  <a:srgbClr val="26323F"/>
                </a:solidFill>
                <a:latin typeface="Calibri"/>
              </a:rPr>
              <a:t>Own-recording test: the model is trained on MIMII only; 30 + 30 healthy clips calibrate it; 18 healthy and 18 faulty clips are tested.</a:t>
            </a:r>
          </a:p>
          <a:p>
            <a:pPr algn="l" marL="182880" indent="-182880">
              <a:spcAft>
                <a:spcPts val="400"/>
              </a:spcAft>
              <a:buFont typeface="Arial"/>
              <a:buChar char="•"/>
            </a:pPr>
            <a:r>
              <a:rPr sz="1200" b="0" i="0">
                <a:solidFill>
                  <a:srgbClr val="26323F"/>
                </a:solidFill>
                <a:latin typeface="Calibri"/>
              </a:rPr>
              <a:t>AUC 0.948 and all 18 faults caught, but 28% false alarms: the alert level sits close to the healthy scores. One machine and few clips: a first check, not proof.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Challenges and Mitigation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graphicFrame>
        <p:nvGraphicFramePr>
          <p:cNvPr id="20485" name="Table 20484"/>
          <p:cNvGraphicFramePr>
            <a:graphicFrameLocks noGrp="1"/>
          </p:cNvGraphicFramePr>
          <p:nvPr/>
        </p:nvGraphicFramePr>
        <p:xfrm>
          <a:off x="1005840" y="1371600"/>
          <a:ext cx="7680960" cy="4169664"/>
        </p:xfrm>
        <a:graphic>
          <a:graphicData uri="http://schemas.openxmlformats.org/drawingml/2006/table">
            <a:tbl>
              <a:tblPr firstRow="0" bandRow="0">
                <a:tableStyleId>{2D5ABB26-0587-4C30-8999-92F81FD0307C}</a:tableStyleId>
              </a:tblPr>
              <a:tblGrid>
                <a:gridCol w="2103120"/>
                <a:gridCol w="2194560"/>
                <a:gridCol w="2286000"/>
                <a:gridCol w="1097280"/>
              </a:tblGrid>
              <a:tr h="384048">
                <a:tc>
                  <a:txBody>
                    <a:bodyPr wrap="square"/>
                    <a:lstStyle/>
                    <a:p>
                      <a:r>
                        <a:rPr sz="1100" b="1">
                          <a:solidFill>
                            <a:srgbClr val="FFFFFF"/>
                          </a:solidFill>
                          <a:latin typeface="Calibri"/>
                        </a:rPr>
                        <a:t>Challenge</a:t>
                      </a:r>
                    </a:p>
                  </a:txBody>
                  <a:tcPr marL="54864" marR="54864" marT="27432" marB="27432" anchor="ctr">
                    <a:solidFill>
                      <a:srgbClr val="25578F"/>
                    </a:solidFill>
                  </a:tcPr>
                </a:tc>
                <a:tc>
                  <a:txBody>
                    <a:bodyPr wrap="square"/>
                    <a:lstStyle/>
                    <a:p>
                      <a:r>
                        <a:rPr sz="1100" b="1">
                          <a:solidFill>
                            <a:srgbClr val="FFFFFF"/>
                          </a:solidFill>
                          <a:latin typeface="Calibri"/>
                        </a:rPr>
                        <a:t>What we found</a:t>
                      </a:r>
                    </a:p>
                  </a:txBody>
                  <a:tcPr marL="54864" marR="54864" marT="27432" marB="27432" anchor="ctr">
                    <a:solidFill>
                      <a:srgbClr val="25578F"/>
                    </a:solidFill>
                  </a:tcPr>
                </a:tc>
                <a:tc>
                  <a:txBody>
                    <a:bodyPr wrap="square"/>
                    <a:lstStyle/>
                    <a:p>
                      <a:r>
                        <a:rPr sz="1100" b="1">
                          <a:solidFill>
                            <a:srgbClr val="FFFFFF"/>
                          </a:solidFill>
                          <a:latin typeface="Calibri"/>
                        </a:rPr>
                        <a:t>Mitigation</a:t>
                      </a:r>
                    </a:p>
                  </a:txBody>
                  <a:tcPr marL="54864" marR="54864" marT="27432" marB="27432" anchor="ctr">
                    <a:solidFill>
                      <a:srgbClr val="25578F"/>
                    </a:solidFill>
                  </a:tcPr>
                </a:tc>
                <a:tc>
                  <a:txBody>
                    <a:bodyPr wrap="square"/>
                    <a:lstStyle/>
                    <a:p>
                      <a:r>
                        <a:rPr sz="1100" b="1">
                          <a:solidFill>
                            <a:srgbClr val="FFFFFF"/>
                          </a:solidFill>
                          <a:latin typeface="Calibri"/>
                        </a:rPr>
                        <a:t>Status</a:t>
                      </a:r>
                    </a:p>
                  </a:txBody>
                  <a:tcPr marL="54864" marR="54864" marT="27432" marB="27432" anchor="ctr">
                    <a:solidFill>
                      <a:srgbClr val="25578F"/>
                    </a:solidFill>
                  </a:tcPr>
                </a:tc>
              </a:tr>
              <a:tr h="420624">
                <a:tc>
                  <a:txBody>
                    <a:bodyPr wrap="square"/>
                    <a:lstStyle/>
                    <a:p>
                      <a:r>
                        <a:rPr sz="1050" b="1">
                          <a:solidFill>
                            <a:srgbClr val="26323F"/>
                          </a:solidFill>
                          <a:latin typeface="Calibri"/>
                        </a:rPr>
                        <a:t>Early results used simulated sound</a:t>
                      </a:r>
                    </a:p>
                  </a:txBody>
                  <a:tcPr marL="54864" marR="54864" marT="27432" marB="27432" anchor="ctr">
                    <a:solidFill>
                      <a:srgbClr val="E6EEF7"/>
                    </a:solidFill>
                  </a:tcPr>
                </a:tc>
                <a:tc>
                  <a:txBody>
                    <a:bodyPr wrap="square"/>
                    <a:lstStyle/>
                    <a:p>
                      <a:r>
                        <a:rPr sz="1050" b="0">
                          <a:solidFill>
                            <a:srgbClr val="26323F"/>
                          </a:solidFill>
                          <a:latin typeface="Calibri"/>
                        </a:rPr>
                        <a:t>The '100% accuracy' was meaningless</a:t>
                      </a:r>
                    </a:p>
                  </a:txBody>
                  <a:tcPr marL="54864" marR="54864" marT="27432" marB="27432" anchor="ctr">
                    <a:solidFill>
                      <a:srgbClr val="E6EEF7"/>
                    </a:solidFill>
                  </a:tcPr>
                </a:tc>
                <a:tc>
                  <a:txBody>
                    <a:bodyPr wrap="square"/>
                    <a:lstStyle/>
                    <a:p>
                      <a:r>
                        <a:rPr sz="1050" b="0">
                          <a:solidFill>
                            <a:srgbClr val="26323F"/>
                          </a:solidFill>
                          <a:latin typeface="Calibri"/>
                        </a:rPr>
                        <a:t>Deleted; restarted on real MIMII data</a:t>
                      </a:r>
                    </a:p>
                  </a:txBody>
                  <a:tcPr marL="54864" marR="54864" marT="27432" marB="27432" anchor="ctr">
                    <a:solidFill>
                      <a:srgbClr val="E6EEF7"/>
                    </a:solidFill>
                  </a:tcPr>
                </a:tc>
                <a:tc>
                  <a:txBody>
                    <a:bodyPr wrap="square"/>
                    <a:lstStyle/>
                    <a:p>
                      <a:r>
                        <a:rPr sz="1050" b="1">
                          <a:solidFill>
                            <a:srgbClr val="1E7B4B"/>
                          </a:solidFill>
                          <a:latin typeface="Calibri"/>
                        </a:rPr>
                        <a:t>Done</a:t>
                      </a:r>
                    </a:p>
                  </a:txBody>
                  <a:tcPr marL="54864" marR="54864" marT="27432" marB="27432" anchor="ctr">
                    <a:solidFill>
                      <a:srgbClr val="E6EEF7"/>
                    </a:solidFill>
                  </a:tcPr>
                </a:tc>
              </a:tr>
              <a:tr h="420624">
                <a:tc>
                  <a:txBody>
                    <a:bodyPr wrap="square"/>
                    <a:lstStyle/>
                    <a:p>
                      <a:r>
                        <a:rPr sz="1050" b="1">
                          <a:solidFill>
                            <a:srgbClr val="26323F"/>
                          </a:solidFill>
                          <a:latin typeface="Calibri"/>
                        </a:rPr>
                        <a:t>Vibration script invented a channel; data too easy</a:t>
                      </a:r>
                    </a:p>
                  </a:txBody>
                  <a:tcPr marL="54864" marR="54864" marT="27432" marB="27432" anchor="ctr">
                    <a:solidFill>
                      <a:srgbClr val="F6F9FC"/>
                    </a:solidFill>
                  </a:tcPr>
                </a:tc>
                <a:tc>
                  <a:txBody>
                    <a:bodyPr wrap="square"/>
                    <a:lstStyle/>
                    <a:p>
                      <a:r>
                        <a:rPr sz="1050" b="0">
                          <a:solidFill>
                            <a:srgbClr val="26323F"/>
                          </a:solidFill>
                          <a:latin typeface="Calibri"/>
                        </a:rPr>
                        <a:t>Healthy file had no such channel; AUC about 1.0</a:t>
                      </a:r>
                    </a:p>
                  </a:txBody>
                  <a:tcPr marL="54864" marR="54864" marT="27432" marB="27432" anchor="ctr">
                    <a:solidFill>
                      <a:srgbClr val="F6F9FC"/>
                    </a:solidFill>
                  </a:tcPr>
                </a:tc>
                <a:tc>
                  <a:txBody>
                    <a:bodyPr wrap="square"/>
                    <a:lstStyle/>
                    <a:p>
                      <a:r>
                        <a:rPr sz="1050" b="0">
                          <a:solidFill>
                            <a:srgbClr val="26323F"/>
                          </a:solidFill>
                          <a:latin typeface="Calibri"/>
                        </a:rPr>
                        <a:t>Clean pipeline; sensor-noise margin test</a:t>
                      </a:r>
                    </a:p>
                  </a:txBody>
                  <a:tcPr marL="54864" marR="54864" marT="27432" marB="27432" anchor="ctr">
                    <a:solidFill>
                      <a:srgbClr val="F6F9FC"/>
                    </a:solidFill>
                  </a:tcPr>
                </a:tc>
                <a:tc>
                  <a:txBody>
                    <a:bodyPr wrap="square"/>
                    <a:lstStyle/>
                    <a:p>
                      <a:r>
                        <a:rPr sz="1050" b="1">
                          <a:solidFill>
                            <a:srgbClr val="1E7B4B"/>
                          </a:solidFill>
                          <a:latin typeface="Calibri"/>
                        </a:rPr>
                        <a:t>Done</a:t>
                      </a:r>
                    </a:p>
                  </a:txBody>
                  <a:tcPr marL="54864" marR="54864" marT="27432" marB="27432" anchor="ctr">
                    <a:solidFill>
                      <a:srgbClr val="F6F9FC"/>
                    </a:solidFill>
                  </a:tcPr>
                </a:tc>
              </a:tr>
              <a:tr h="420624">
                <a:tc>
                  <a:txBody>
                    <a:bodyPr wrap="square"/>
                    <a:lstStyle/>
                    <a:p>
                      <a:r>
                        <a:rPr sz="1050" b="1">
                          <a:solidFill>
                            <a:srgbClr val="26323F"/>
                          </a:solidFill>
                          <a:latin typeface="Calibri"/>
                        </a:rPr>
                        <a:t>New machine looks faulty</a:t>
                      </a:r>
                    </a:p>
                  </a:txBody>
                  <a:tcPr marL="54864" marR="54864" marT="27432" marB="27432" anchor="ctr">
                    <a:solidFill>
                      <a:srgbClr val="E6EEF7"/>
                    </a:solidFill>
                  </a:tcPr>
                </a:tc>
                <a:tc>
                  <a:txBody>
                    <a:bodyPr wrap="square"/>
                    <a:lstStyle/>
                    <a:p>
                      <a:r>
                        <a:rPr sz="1050" b="0">
                          <a:solidFill>
                            <a:srgbClr val="26323F"/>
                          </a:solidFill>
                          <a:latin typeface="Calibri"/>
                        </a:rPr>
                        <a:t>AUC near 0.5 for fans and pumps</a:t>
                      </a:r>
                    </a:p>
                  </a:txBody>
                  <a:tcPr marL="54864" marR="54864" marT="27432" marB="27432" anchor="ctr">
                    <a:solidFill>
                      <a:srgbClr val="E6EEF7"/>
                    </a:solidFill>
                  </a:tcPr>
                </a:tc>
                <a:tc>
                  <a:txBody>
                    <a:bodyPr wrap="square"/>
                    <a:lstStyle/>
                    <a:p>
                      <a:r>
                        <a:rPr sz="1050" b="0">
                          <a:solidFill>
                            <a:srgbClr val="26323F"/>
                          </a:solidFill>
                          <a:latin typeface="Calibri"/>
                        </a:rPr>
                        <a:t>Per-machine calibration (60 clips)</a:t>
                      </a:r>
                    </a:p>
                  </a:txBody>
                  <a:tcPr marL="54864" marR="54864" marT="27432" marB="27432" anchor="ctr">
                    <a:solidFill>
                      <a:srgbClr val="E6EEF7"/>
                    </a:solidFill>
                  </a:tcPr>
                </a:tc>
                <a:tc>
                  <a:txBody>
                    <a:bodyPr wrap="square"/>
                    <a:lstStyle/>
                    <a:p>
                      <a:r>
                        <a:rPr sz="1050" b="1">
                          <a:solidFill>
                            <a:srgbClr val="1E7B4B"/>
                          </a:solidFill>
                          <a:latin typeface="Calibri"/>
                        </a:rPr>
                        <a:t>Done</a:t>
                      </a:r>
                    </a:p>
                  </a:txBody>
                  <a:tcPr marL="54864" marR="54864" marT="27432" marB="27432" anchor="ctr">
                    <a:solidFill>
                      <a:srgbClr val="E6EEF7"/>
                    </a:solidFill>
                  </a:tcPr>
                </a:tc>
              </a:tr>
              <a:tr h="420624">
                <a:tc>
                  <a:txBody>
                    <a:bodyPr wrap="square"/>
                    <a:lstStyle/>
                    <a:p>
                      <a:r>
                        <a:rPr sz="1050" b="1">
                          <a:solidFill>
                            <a:srgbClr val="26323F"/>
                          </a:solidFill>
                          <a:latin typeface="Calibri"/>
                        </a:rPr>
                        <a:t>Alert-level rule unbalanced</a:t>
                      </a:r>
                    </a:p>
                  </a:txBody>
                  <a:tcPr marL="54864" marR="54864" marT="27432" marB="27432" anchor="ctr">
                    <a:solidFill>
                      <a:srgbClr val="F6F9FC"/>
                    </a:solidFill>
                  </a:tcPr>
                </a:tc>
                <a:tc>
                  <a:txBody>
                    <a:bodyPr wrap="square"/>
                    <a:lstStyle/>
                    <a:p>
                      <a:r>
                        <a:rPr sz="1050" b="0">
                          <a:solidFill>
                            <a:srgbClr val="26323F"/>
                          </a:solidFill>
                          <a:latin typeface="Calibri"/>
                        </a:rPr>
                        <a:t>Pumps 35% false alarms; fans and sliders recall 66-73%</a:t>
                      </a:r>
                    </a:p>
                  </a:txBody>
                  <a:tcPr marL="54864" marR="54864" marT="27432" marB="27432" anchor="ctr">
                    <a:solidFill>
                      <a:srgbClr val="F6F9FC"/>
                    </a:solidFill>
                  </a:tcPr>
                </a:tc>
                <a:tc>
                  <a:txBody>
                    <a:bodyPr wrap="square"/>
                    <a:lstStyle/>
                    <a:p>
                      <a:r>
                        <a:rPr sz="1050" b="0">
                          <a:solidFill>
                            <a:srgbClr val="26323F"/>
                          </a:solidFill>
                          <a:latin typeface="Calibri"/>
                        </a:rPr>
                        <a:t>Revise the rule; motor health to help the decision</a:t>
                      </a:r>
                    </a:p>
                  </a:txBody>
                  <a:tcPr marL="54864" marR="54864" marT="27432" marB="27432" anchor="ctr">
                    <a:solidFill>
                      <a:srgbClr val="F6F9FC"/>
                    </a:solidFill>
                  </a:tcPr>
                </a:tc>
                <a:tc>
                  <a:txBody>
                    <a:bodyPr wrap="square"/>
                    <a:lstStyle/>
                    <a:p>
                      <a:r>
                        <a:rPr sz="1050" b="1">
                          <a:solidFill>
                            <a:srgbClr val="B02A2A"/>
                          </a:solidFill>
                          <a:latin typeface="Calibri"/>
                        </a:rPr>
                        <a:t>Open</a:t>
                      </a:r>
                    </a:p>
                  </a:txBody>
                  <a:tcPr marL="54864" marR="54864" marT="27432" marB="27432" anchor="ctr">
                    <a:solidFill>
                      <a:srgbClr val="F6F9FC"/>
                    </a:solidFill>
                  </a:tcPr>
                </a:tc>
              </a:tr>
              <a:tr h="420624">
                <a:tc>
                  <a:txBody>
                    <a:bodyPr wrap="square"/>
                    <a:lstStyle/>
                    <a:p>
                      <a:r>
                        <a:rPr sz="1050" b="1">
                          <a:solidFill>
                            <a:srgbClr val="26323F"/>
                          </a:solidFill>
                          <a:latin typeface="Calibri"/>
                        </a:rPr>
                        <a:t>Valves not detected</a:t>
                      </a:r>
                    </a:p>
                  </a:txBody>
                  <a:tcPr marL="54864" marR="54864" marT="27432" marB="27432" anchor="ctr">
                    <a:solidFill>
                      <a:srgbClr val="E6EEF7"/>
                    </a:solidFill>
                  </a:tcPr>
                </a:tc>
                <a:tc>
                  <a:txBody>
                    <a:bodyPr wrap="square"/>
                    <a:lstStyle/>
                    <a:p>
                      <a:r>
                        <a:rPr sz="1050" b="0">
                          <a:solidFill>
                            <a:srgbClr val="26323F"/>
                          </a:solidFill>
                          <a:latin typeface="Calibri"/>
                        </a:rPr>
                        <a:t>AUC about 0.5 at all noise levels</a:t>
                      </a:r>
                    </a:p>
                  </a:txBody>
                  <a:tcPr marL="54864" marR="54864" marT="27432" marB="27432" anchor="ctr">
                    <a:solidFill>
                      <a:srgbClr val="E6EEF7"/>
                    </a:solidFill>
                  </a:tcPr>
                </a:tc>
                <a:tc>
                  <a:txBody>
                    <a:bodyPr wrap="square"/>
                    <a:lstStyle/>
                    <a:p>
                      <a:r>
                        <a:rPr sz="1050" b="0">
                          <a:solidFill>
                            <a:srgbClr val="26323F"/>
                          </a:solidFill>
                          <a:latin typeface="Calibri"/>
                        </a:rPr>
                        <a:t>Test worst-frame scoring and other features</a:t>
                      </a:r>
                    </a:p>
                  </a:txBody>
                  <a:tcPr marL="54864" marR="54864" marT="27432" marB="27432" anchor="ctr">
                    <a:solidFill>
                      <a:srgbClr val="E6EEF7"/>
                    </a:solidFill>
                  </a:tcPr>
                </a:tc>
                <a:tc>
                  <a:txBody>
                    <a:bodyPr wrap="square"/>
                    <a:lstStyle/>
                    <a:p>
                      <a:r>
                        <a:rPr sz="1050" b="1">
                          <a:solidFill>
                            <a:srgbClr val="B02A2A"/>
                          </a:solidFill>
                          <a:latin typeface="Calibri"/>
                        </a:rPr>
                        <a:t>Open</a:t>
                      </a:r>
                    </a:p>
                  </a:txBody>
                  <a:tcPr marL="54864" marR="54864" marT="27432" marB="27432" anchor="ctr">
                    <a:solidFill>
                      <a:srgbClr val="E6EEF7"/>
                    </a:solidFill>
                  </a:tcPr>
                </a:tc>
              </a:tr>
              <a:tr h="420624">
                <a:tc>
                  <a:txBody>
                    <a:bodyPr wrap="square"/>
                    <a:lstStyle/>
                    <a:p>
                      <a:r>
                        <a:rPr sz="1050" b="1">
                          <a:solidFill>
                            <a:srgbClr val="26323F"/>
                          </a:solidFill>
                          <a:latin typeface="Calibri"/>
                        </a:rPr>
                        <a:t>Noise changes after calibration</a:t>
                      </a:r>
                    </a:p>
                  </a:txBody>
                  <a:tcPr marL="54864" marR="54864" marT="27432" marB="27432" anchor="ctr">
                    <a:solidFill>
                      <a:srgbClr val="F6F9FC"/>
                    </a:solidFill>
                  </a:tcPr>
                </a:tc>
                <a:tc>
                  <a:txBody>
                    <a:bodyPr wrap="square"/>
                    <a:lstStyle/>
                    <a:p>
                      <a:r>
                        <a:rPr sz="1050" b="0">
                          <a:solidFill>
                            <a:srgbClr val="26323F"/>
                          </a:solidFill>
                          <a:latin typeface="Calibri"/>
                        </a:rPr>
                        <a:t>44% false alarms if calibrated quiet</a:t>
                      </a:r>
                    </a:p>
                  </a:txBody>
                  <a:tcPr marL="54864" marR="54864" marT="27432" marB="27432" anchor="ctr">
                    <a:solidFill>
                      <a:srgbClr val="F6F9FC"/>
                    </a:solidFill>
                  </a:tcPr>
                </a:tc>
                <a:tc>
                  <a:txBody>
                    <a:bodyPr wrap="square"/>
                    <a:lstStyle/>
                    <a:p>
                      <a:r>
                        <a:rPr sz="1050" b="0">
                          <a:solidFill>
                            <a:srgbClr val="26323F"/>
                          </a:solidFill>
                          <a:latin typeface="Calibri"/>
                        </a:rPr>
                        <a:t>Calibrate in real noise or on a mix</a:t>
                      </a:r>
                    </a:p>
                  </a:txBody>
                  <a:tcPr marL="54864" marR="54864" marT="27432" marB="27432" anchor="ctr">
                    <a:solidFill>
                      <a:srgbClr val="F6F9FC"/>
                    </a:solidFill>
                  </a:tcPr>
                </a:tc>
                <a:tc>
                  <a:txBody>
                    <a:bodyPr wrap="square"/>
                    <a:lstStyle/>
                    <a:p>
                      <a:r>
                        <a:rPr sz="1050" b="1">
                          <a:solidFill>
                            <a:srgbClr val="A86A00"/>
                          </a:solidFill>
                          <a:latin typeface="Calibri"/>
                        </a:rPr>
                        <a:t>Partly done</a:t>
                      </a:r>
                    </a:p>
                  </a:txBody>
                  <a:tcPr marL="54864" marR="54864" marT="27432" marB="27432" anchor="ctr">
                    <a:solidFill>
                      <a:srgbClr val="F6F9FC"/>
                    </a:solidFill>
                  </a:tcPr>
                </a:tc>
              </a:tr>
              <a:tr h="420624">
                <a:tc>
                  <a:txBody>
                    <a:bodyPr wrap="square"/>
                    <a:lstStyle/>
                    <a:p>
                      <a:r>
                        <a:rPr sz="1050" b="1">
                          <a:solidFill>
                            <a:srgbClr val="26323F"/>
                          </a:solidFill>
                          <a:latin typeface="Calibri"/>
                        </a:rPr>
                        <a:t>Heavy noise (-6 dB)</a:t>
                      </a:r>
                    </a:p>
                  </a:txBody>
                  <a:tcPr marL="54864" marR="54864" marT="27432" marB="27432" anchor="ctr">
                    <a:solidFill>
                      <a:srgbClr val="E6EEF7"/>
                    </a:solidFill>
                  </a:tcPr>
                </a:tc>
                <a:tc>
                  <a:txBody>
                    <a:bodyPr wrap="square"/>
                    <a:lstStyle/>
                    <a:p>
                      <a:r>
                        <a:rPr sz="1050" b="0">
                          <a:solidFill>
                            <a:srgbClr val="26323F"/>
                          </a:solidFill>
                          <a:latin typeface="Calibri"/>
                        </a:rPr>
                        <a:t>AUC about 0.7; slider recall 3%</a:t>
                      </a:r>
                    </a:p>
                  </a:txBody>
                  <a:tcPr marL="54864" marR="54864" marT="27432" marB="27432" anchor="ctr">
                    <a:solidFill>
                      <a:srgbClr val="E6EEF7"/>
                    </a:solidFill>
                  </a:tcPr>
                </a:tc>
                <a:tc>
                  <a:txBody>
                    <a:bodyPr wrap="square"/>
                    <a:lstStyle/>
                    <a:p>
                      <a:r>
                        <a:rPr sz="1050" b="0">
                          <a:solidFill>
                            <a:srgbClr val="26323F"/>
                          </a:solidFill>
                          <a:latin typeface="Calibri"/>
                        </a:rPr>
                        <a:t>Vibration support; needs paired data</a:t>
                      </a:r>
                    </a:p>
                  </a:txBody>
                  <a:tcPr marL="54864" marR="54864" marT="27432" marB="27432" anchor="ctr">
                    <a:solidFill>
                      <a:srgbClr val="E6EEF7"/>
                    </a:solidFill>
                  </a:tcPr>
                </a:tc>
                <a:tc>
                  <a:txBody>
                    <a:bodyPr wrap="square"/>
                    <a:lstStyle/>
                    <a:p>
                      <a:r>
                        <a:rPr sz="1050" b="1">
                          <a:solidFill>
                            <a:srgbClr val="B02A2A"/>
                          </a:solidFill>
                          <a:latin typeface="Calibri"/>
                        </a:rPr>
                        <a:t>Open</a:t>
                      </a:r>
                    </a:p>
                  </a:txBody>
                  <a:tcPr marL="54864" marR="54864" marT="27432" marB="27432" anchor="ctr">
                    <a:solidFill>
                      <a:srgbClr val="E6EEF7"/>
                    </a:solidFill>
                  </a:tcPr>
                </a:tc>
              </a:tr>
              <a:tr h="420624">
                <a:tc>
                  <a:txBody>
                    <a:bodyPr wrap="square"/>
                    <a:lstStyle/>
                    <a:p>
                      <a:r>
                        <a:rPr sz="1050" b="1">
                          <a:solidFill>
                            <a:srgbClr val="26323F"/>
                          </a:solidFill>
                          <a:latin typeface="Calibri"/>
                        </a:rPr>
                        <a:t>CNN needs fault examples</a:t>
                      </a:r>
                    </a:p>
                  </a:txBody>
                  <a:tcPr marL="54864" marR="54864" marT="27432" marB="27432" anchor="ctr">
                    <a:solidFill>
                      <a:srgbClr val="F6F9FC"/>
                    </a:solidFill>
                  </a:tcPr>
                </a:tc>
                <a:tc>
                  <a:txBody>
                    <a:bodyPr wrap="square"/>
                    <a:lstStyle/>
                    <a:p>
                      <a:r>
                        <a:rPr sz="1050" b="0">
                          <a:solidFill>
                            <a:srgbClr val="26323F"/>
                          </a:solidFill>
                          <a:latin typeface="Calibri"/>
                        </a:rPr>
                        <a:t>Better for the motor, but supervised</a:t>
                      </a:r>
                    </a:p>
                  </a:txBody>
                  <a:tcPr marL="54864" marR="54864" marT="27432" marB="27432" anchor="ctr">
                    <a:solidFill>
                      <a:srgbClr val="F6F9FC"/>
                    </a:solidFill>
                  </a:tcPr>
                </a:tc>
                <a:tc>
                  <a:txBody>
                    <a:bodyPr wrap="square"/>
                    <a:lstStyle/>
                    <a:p>
                      <a:r>
                        <a:rPr sz="1050" b="0">
                          <a:solidFill>
                            <a:srgbClr val="26323F"/>
                          </a:solidFill>
                          <a:latin typeface="Calibri"/>
                        </a:rPr>
                        <a:t>Compare fairly; keep the autoencoder for unseen faults</a:t>
                      </a:r>
                    </a:p>
                  </a:txBody>
                  <a:tcPr marL="54864" marR="54864" marT="27432" marB="27432" anchor="ctr">
                    <a:solidFill>
                      <a:srgbClr val="F6F9FC"/>
                    </a:solidFill>
                  </a:tcPr>
                </a:tc>
                <a:tc>
                  <a:txBody>
                    <a:bodyPr wrap="square"/>
                    <a:lstStyle/>
                    <a:p>
                      <a:r>
                        <a:rPr sz="1050" b="1">
                          <a:solidFill>
                            <a:srgbClr val="B02A2A"/>
                          </a:solidFill>
                          <a:latin typeface="Calibri"/>
                        </a:rPr>
                        <a:t>Open</a:t>
                      </a:r>
                    </a:p>
                  </a:txBody>
                  <a:tcPr marL="54864" marR="54864" marT="27432" marB="27432" anchor="ctr">
                    <a:solidFill>
                      <a:srgbClr val="F6F9FC"/>
                    </a:solidFill>
                  </a:tcPr>
                </a:tc>
              </a:tr>
              <a:tr h="420624">
                <a:tc>
                  <a:txBody>
                    <a:bodyPr wrap="square"/>
                    <a:lstStyle/>
                    <a:p>
                      <a:r>
                        <a:rPr sz="1050" b="1">
                          <a:solidFill>
                            <a:srgbClr val="26323F"/>
                          </a:solidFill>
                          <a:latin typeface="Calibri"/>
                        </a:rPr>
                        <a:t>No hardware yet</a:t>
                      </a:r>
                    </a:p>
                  </a:txBody>
                  <a:tcPr marL="54864" marR="54864" marT="27432" marB="27432" anchor="ctr">
                    <a:solidFill>
                      <a:srgbClr val="E6EEF7"/>
                    </a:solidFill>
                  </a:tcPr>
                </a:tc>
                <a:tc>
                  <a:txBody>
                    <a:bodyPr wrap="square"/>
                    <a:lstStyle/>
                    <a:p>
                      <a:r>
                        <a:rPr sz="1050" b="0">
                          <a:solidFill>
                            <a:srgbClr val="26323F"/>
                          </a:solidFill>
                          <a:latin typeface="Calibri"/>
                        </a:rPr>
                        <a:t>Nothing measured on the chip</a:t>
                      </a:r>
                    </a:p>
                  </a:txBody>
                  <a:tcPr marL="54864" marR="54864" marT="27432" marB="27432" anchor="ctr">
                    <a:solidFill>
                      <a:srgbClr val="E6EEF7"/>
                    </a:solidFill>
                  </a:tcPr>
                </a:tc>
                <a:tc>
                  <a:txBody>
                    <a:bodyPr wrap="square"/>
                    <a:lstStyle/>
                    <a:p>
                      <a:r>
                        <a:rPr sz="1050" b="0">
                          <a:solidFill>
                            <a:srgbClr val="26323F"/>
                          </a:solidFill>
                          <a:latin typeface="Calibri"/>
                        </a:rPr>
                        <a:t>Order parts after the 10 Nov go/no-go</a:t>
                      </a:r>
                    </a:p>
                  </a:txBody>
                  <a:tcPr marL="54864" marR="54864" marT="27432" marB="27432" anchor="ctr">
                    <a:solidFill>
                      <a:srgbClr val="E6EEF7"/>
                    </a:solidFill>
                  </a:tcPr>
                </a:tc>
                <a:tc>
                  <a:txBody>
                    <a:bodyPr wrap="square"/>
                    <a:lstStyle/>
                    <a:p>
                      <a:r>
                        <a:rPr sz="1050" b="1">
                          <a:solidFill>
                            <a:srgbClr val="B02A2A"/>
                          </a:solidFill>
                          <a:latin typeface="Calibri"/>
                        </a:rPr>
                        <a:t>Open</a:t>
                      </a:r>
                    </a:p>
                  </a:txBody>
                  <a:tcPr marL="54864" marR="54864" marT="27432" marB="27432" anchor="ctr">
                    <a:solidFill>
                      <a:srgbClr val="E6EEF7"/>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2600">
                <a:latin typeface="Calibri"/>
              </a:rPr>
              <a:t>Future Work Plan (1 of 2): Better Detection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graphicFrame>
        <p:nvGraphicFramePr>
          <p:cNvPr id="20485" name="Table 20484"/>
          <p:cNvGraphicFramePr>
            <a:graphicFrameLocks noGrp="1"/>
          </p:cNvGraphicFramePr>
          <p:nvPr/>
        </p:nvGraphicFramePr>
        <p:xfrm>
          <a:off x="1005840" y="1371600"/>
          <a:ext cx="7680960" cy="4270248"/>
        </p:xfrm>
        <a:graphic>
          <a:graphicData uri="http://schemas.openxmlformats.org/drawingml/2006/table">
            <a:tbl>
              <a:tblPr firstRow="0" bandRow="0">
                <a:tableStyleId>{2D5ABB26-0587-4C30-8999-92F81FD0307C}</a:tableStyleId>
              </a:tblPr>
              <a:tblGrid>
                <a:gridCol w="1554480"/>
                <a:gridCol w="3840480"/>
                <a:gridCol w="2286000"/>
              </a:tblGrid>
              <a:tr h="384048">
                <a:tc>
                  <a:txBody>
                    <a:bodyPr wrap="square"/>
                    <a:lstStyle/>
                    <a:p>
                      <a:r>
                        <a:rPr sz="1100" b="1">
                          <a:solidFill>
                            <a:srgbClr val="FFFFFF"/>
                          </a:solidFill>
                          <a:latin typeface="Calibri"/>
                        </a:rPr>
                        <a:t>Work</a:t>
                      </a:r>
                    </a:p>
                  </a:txBody>
                  <a:tcPr marL="54864" marR="54864" marT="27432" marB="27432" anchor="ctr">
                    <a:solidFill>
                      <a:srgbClr val="25578F"/>
                    </a:solidFill>
                  </a:tcPr>
                </a:tc>
                <a:tc>
                  <a:txBody>
                    <a:bodyPr wrap="square"/>
                    <a:lstStyle/>
                    <a:p>
                      <a:r>
                        <a:rPr sz="1100" b="1">
                          <a:solidFill>
                            <a:srgbClr val="FFFFFF"/>
                          </a:solidFill>
                          <a:latin typeface="Calibri"/>
                        </a:rPr>
                        <a:t>What we will do</a:t>
                      </a:r>
                    </a:p>
                  </a:txBody>
                  <a:tcPr marL="54864" marR="54864" marT="27432" marB="27432" anchor="ctr">
                    <a:solidFill>
                      <a:srgbClr val="25578F"/>
                    </a:solidFill>
                  </a:tcPr>
                </a:tc>
                <a:tc>
                  <a:txBody>
                    <a:bodyPr wrap="square"/>
                    <a:lstStyle/>
                    <a:p>
                      <a:r>
                        <a:rPr sz="1100" b="1">
                          <a:solidFill>
                            <a:srgbClr val="FFFFFF"/>
                          </a:solidFill>
                          <a:latin typeface="Calibri"/>
                        </a:rPr>
                        <a:t>Why</a:t>
                      </a:r>
                    </a:p>
                  </a:txBody>
                  <a:tcPr marL="54864" marR="54864" marT="27432" marB="27432" anchor="ctr">
                    <a:solidFill>
                      <a:srgbClr val="25578F"/>
                    </a:solidFill>
                  </a:tcPr>
                </a:tc>
              </a:tr>
              <a:tr h="777240">
                <a:tc>
                  <a:txBody>
                    <a:bodyPr wrap="square"/>
                    <a:lstStyle/>
                    <a:p>
                      <a:r>
                        <a:rPr sz="1050" b="1">
                          <a:solidFill>
                            <a:srgbClr val="26323F"/>
                          </a:solidFill>
                          <a:latin typeface="Calibri"/>
                        </a:rPr>
                        <a:t>Revise the alert-level rule</a:t>
                      </a:r>
                    </a:p>
                  </a:txBody>
                  <a:tcPr marL="54864" marR="54864" marT="27432" marB="27432" anchor="ctr">
                    <a:solidFill>
                      <a:srgbClr val="E6EEF7"/>
                    </a:solidFill>
                  </a:tcPr>
                </a:tc>
                <a:tc>
                  <a:txBody>
                    <a:bodyPr wrap="square"/>
                    <a:lstStyle/>
                    <a:p>
                      <a:r>
                        <a:rPr sz="1050" b="0">
                          <a:solidFill>
                            <a:srgbClr val="26323F"/>
                          </a:solidFill>
                          <a:latin typeface="Calibri"/>
                        </a:rPr>
                        <a:t>Compare the current rule (average + 3 x spread) with other multipliers, percentile-based and median-based rules. Choose on the tuning machines, confirm once on the sealed machine and at 0 and -6 dB.</a:t>
                      </a:r>
                    </a:p>
                  </a:txBody>
                  <a:tcPr marL="54864" marR="54864" marT="27432" marB="27432" anchor="ctr">
                    <a:solidFill>
                      <a:srgbClr val="E6EEF7"/>
                    </a:solidFill>
                  </a:tcPr>
                </a:tc>
                <a:tc>
                  <a:txBody>
                    <a:bodyPr wrap="square"/>
                    <a:lstStyle/>
                    <a:p>
                      <a:r>
                        <a:rPr sz="1050" b="0">
                          <a:solidFill>
                            <a:srgbClr val="26323F"/>
                          </a:solidFill>
                          <a:latin typeface="Calibri"/>
                        </a:rPr>
                        <a:t>Pumps give 35% false alarms while fans and sliders miss faults: one rule is wrong in both directions.</a:t>
                      </a:r>
                    </a:p>
                  </a:txBody>
                  <a:tcPr marL="54864" marR="54864" marT="27432" marB="27432" anchor="ctr">
                    <a:solidFill>
                      <a:srgbClr val="E6EEF7"/>
                    </a:solidFill>
                  </a:tcPr>
                </a:tc>
              </a:tr>
              <a:tr h="777240">
                <a:tc>
                  <a:txBody>
                    <a:bodyPr wrap="square"/>
                    <a:lstStyle/>
                    <a:p>
                      <a:r>
                        <a:rPr sz="1050" b="1">
                          <a:solidFill>
                            <a:srgbClr val="26323F"/>
                          </a:solidFill>
                          <a:latin typeface="Calibri"/>
                        </a:rPr>
                        <a:t>Combine models</a:t>
                      </a:r>
                    </a:p>
                  </a:txBody>
                  <a:tcPr marL="54864" marR="54864" marT="27432" marB="27432" anchor="ctr">
                    <a:solidFill>
                      <a:srgbClr val="F6F9FC"/>
                    </a:solidFill>
                  </a:tcPr>
                </a:tc>
                <a:tc>
                  <a:txBody>
                    <a:bodyPr wrap="square"/>
                    <a:lstStyle/>
                    <a:p>
                      <a:r>
                        <a:rPr sz="1050" b="0">
                          <a:solidFill>
                            <a:srgbClr val="26323F"/>
                          </a:solidFill>
                          <a:latin typeface="Calibri"/>
                        </a:rPr>
                        <a:t>Test whether other models used together with the autoencoder give better recall at low false alarms. The candidates are not fixed; only what helps on the tuning machines is kept.</a:t>
                      </a:r>
                    </a:p>
                  </a:txBody>
                  <a:tcPr marL="54864" marR="54864" marT="27432" marB="27432" anchor="ctr">
                    <a:solidFill>
                      <a:srgbClr val="F6F9FC"/>
                    </a:solidFill>
                  </a:tcPr>
                </a:tc>
                <a:tc>
                  <a:txBody>
                    <a:bodyPr wrap="square"/>
                    <a:lstStyle/>
                    <a:p>
                      <a:r>
                        <a:rPr sz="1050" b="0">
                          <a:solidFill>
                            <a:srgbClr val="26323F"/>
                          </a:solidFill>
                          <a:latin typeface="Calibri"/>
                        </a:rPr>
                        <a:t>Aim for better results than the autoencoder alone.</a:t>
                      </a:r>
                    </a:p>
                  </a:txBody>
                  <a:tcPr marL="54864" marR="54864" marT="27432" marB="27432" anchor="ctr">
                    <a:solidFill>
                      <a:srgbClr val="F6F9FC"/>
                    </a:solidFill>
                  </a:tcPr>
                </a:tc>
              </a:tr>
              <a:tr h="777240">
                <a:tc>
                  <a:txBody>
                    <a:bodyPr wrap="square"/>
                    <a:lstStyle/>
                    <a:p>
                      <a:r>
                        <a:rPr sz="1050" b="1">
                          <a:solidFill>
                            <a:srgbClr val="26323F"/>
                          </a:solidFill>
                          <a:latin typeface="Calibri"/>
                        </a:rPr>
                        <a:t>Valves</a:t>
                      </a:r>
                    </a:p>
                  </a:txBody>
                  <a:tcPr marL="54864" marR="54864" marT="27432" marB="27432" anchor="ctr">
                    <a:solidFill>
                      <a:srgbClr val="E6EEF7"/>
                    </a:solidFill>
                  </a:tcPr>
                </a:tc>
                <a:tc>
                  <a:txBody>
                    <a:bodyPr wrap="square"/>
                    <a:lstStyle/>
                    <a:p>
                      <a:r>
                        <a:rPr sz="1050" b="0">
                          <a:solidFill>
                            <a:srgbClr val="26323F"/>
                          </a:solidFill>
                          <a:latin typeface="Calibri"/>
                        </a:rPr>
                        <a:t>Score the worst frames of a clip instead of the clip average; try other features.</a:t>
                      </a:r>
                    </a:p>
                  </a:txBody>
                  <a:tcPr marL="54864" marR="54864" marT="27432" marB="27432" anchor="ctr">
                    <a:solidFill>
                      <a:srgbClr val="E6EEF7"/>
                    </a:solidFill>
                  </a:tcPr>
                </a:tc>
                <a:tc>
                  <a:txBody>
                    <a:bodyPr wrap="square"/>
                    <a:lstStyle/>
                    <a:p>
                      <a:r>
                        <a:rPr sz="1050" b="0">
                          <a:solidFill>
                            <a:srgbClr val="26323F"/>
                          </a:solidFill>
                          <a:latin typeface="Calibri"/>
                        </a:rPr>
                        <a:t>Valves are unsolved (AUC about 0.5).</a:t>
                      </a:r>
                    </a:p>
                  </a:txBody>
                  <a:tcPr marL="54864" marR="54864" marT="27432" marB="27432" anchor="ctr">
                    <a:solidFill>
                      <a:srgbClr val="E6EEF7"/>
                    </a:solidFill>
                  </a:tcPr>
                </a:tc>
              </a:tr>
              <a:tr h="777240">
                <a:tc>
                  <a:txBody>
                    <a:bodyPr wrap="square"/>
                    <a:lstStyle/>
                    <a:p>
                      <a:r>
                        <a:rPr sz="1050" b="1">
                          <a:solidFill>
                            <a:srgbClr val="26323F"/>
                          </a:solidFill>
                          <a:latin typeface="Calibri"/>
                        </a:rPr>
                        <a:t>Vibration model</a:t>
                      </a:r>
                    </a:p>
                  </a:txBody>
                  <a:tcPr marL="54864" marR="54864" marT="27432" marB="27432" anchor="ctr">
                    <a:solidFill>
                      <a:srgbClr val="F6F9FC"/>
                    </a:solidFill>
                  </a:tcPr>
                </a:tc>
                <a:tc>
                  <a:txBody>
                    <a:bodyPr wrap="square"/>
                    <a:lstStyle/>
                    <a:p>
                      <a:r>
                        <a:rPr sz="1050" b="0">
                          <a:solidFill>
                            <a:srgbClr val="26323F"/>
                          </a:solidFill>
                          <a:latin typeface="Calibri"/>
                        </a:rPr>
                        <a:t>Document the CNN versus autoencoder comparison (data, split, metrics) and repeat it on the clean pipeline.</a:t>
                      </a:r>
                    </a:p>
                  </a:txBody>
                  <a:tcPr marL="54864" marR="54864" marT="27432" marB="27432" anchor="ctr">
                    <a:solidFill>
                      <a:srgbClr val="F6F9FC"/>
                    </a:solidFill>
                  </a:tcPr>
                </a:tc>
                <a:tc>
                  <a:txBody>
                    <a:bodyPr wrap="square"/>
                    <a:lstStyle/>
                    <a:p>
                      <a:r>
                        <a:rPr sz="1050" b="0">
                          <a:solidFill>
                            <a:srgbClr val="26323F"/>
                          </a:solidFill>
                          <a:latin typeface="Calibri"/>
                        </a:rPr>
                        <a:t>The CNN did better for the motor alone; we need a fair, reproducible comparison.</a:t>
                      </a:r>
                    </a:p>
                  </a:txBody>
                  <a:tcPr marL="54864" marR="54864" marT="27432" marB="27432" anchor="ctr">
                    <a:solidFill>
                      <a:srgbClr val="F6F9FC"/>
                    </a:solidFill>
                  </a:tcPr>
                </a:tc>
              </a:tr>
              <a:tr h="777240">
                <a:tc>
                  <a:txBody>
                    <a:bodyPr wrap="square"/>
                    <a:lstStyle/>
                    <a:p>
                      <a:r>
                        <a:rPr sz="1050" b="1">
                          <a:solidFill>
                            <a:srgbClr val="26323F"/>
                          </a:solidFill>
                          <a:latin typeface="Calibri"/>
                        </a:rPr>
                        <a:t>Decisions and filings</a:t>
                      </a:r>
                    </a:p>
                  </a:txBody>
                  <a:tcPr marL="54864" marR="54864" marT="27432" marB="27432" anchor="ctr">
                    <a:solidFill>
                      <a:srgbClr val="E6EEF7"/>
                    </a:solidFill>
                  </a:tcPr>
                </a:tc>
                <a:tc>
                  <a:txBody>
                    <a:bodyPr wrap="square"/>
                    <a:lstStyle/>
                    <a:p>
                      <a:r>
                        <a:rPr sz="1050" b="0">
                          <a:solidFill>
                            <a:srgbClr val="26323F"/>
                          </a:solidFill>
                          <a:latin typeface="Calibri"/>
                        </a:rPr>
                        <a:t>Hardware go/no-go on 10 Nov; KSCST proposal by 30 Nov; patent draft.</a:t>
                      </a:r>
                    </a:p>
                  </a:txBody>
                  <a:tcPr marL="54864" marR="54864" marT="27432" marB="27432" anchor="ctr">
                    <a:solidFill>
                      <a:srgbClr val="E6EEF7"/>
                    </a:solidFill>
                  </a:tcPr>
                </a:tc>
                <a:tc>
                  <a:txBody>
                    <a:bodyPr wrap="square"/>
                    <a:lstStyle/>
                    <a:p>
                      <a:r>
                        <a:rPr sz="1050" b="0">
                          <a:solidFill>
                            <a:srgbClr val="26323F"/>
                          </a:solidFill>
                          <a:latin typeface="Calibri"/>
                        </a:rPr>
                        <a:t>Fixed dates.</a:t>
                      </a:r>
                    </a:p>
                  </a:txBody>
                  <a:tcPr marL="54864" marR="54864" marT="27432" marB="27432" anchor="ctr">
                    <a:solidFill>
                      <a:srgbClr val="E6EEF7"/>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2400">
                <a:latin typeface="Calibri"/>
              </a:rPr>
              <a:t>Future Work Plan (2 of 2): Hardware and Fusion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graphicFrame>
        <p:nvGraphicFramePr>
          <p:cNvPr id="20485" name="Table 20484"/>
          <p:cNvGraphicFramePr>
            <a:graphicFrameLocks noGrp="1"/>
          </p:cNvGraphicFramePr>
          <p:nvPr/>
        </p:nvGraphicFramePr>
        <p:xfrm>
          <a:off x="1005840" y="1371600"/>
          <a:ext cx="7680960" cy="3858768"/>
        </p:xfrm>
        <a:graphic>
          <a:graphicData uri="http://schemas.openxmlformats.org/drawingml/2006/table">
            <a:tbl>
              <a:tblPr firstRow="0" bandRow="0">
                <a:tableStyleId>{2D5ABB26-0587-4C30-8999-92F81FD0307C}</a:tableStyleId>
              </a:tblPr>
              <a:tblGrid>
                <a:gridCol w="1188720"/>
                <a:gridCol w="4206240"/>
                <a:gridCol w="2286000"/>
              </a:tblGrid>
              <a:tr h="384048">
                <a:tc>
                  <a:txBody>
                    <a:bodyPr wrap="square"/>
                    <a:lstStyle/>
                    <a:p>
                      <a:r>
                        <a:rPr sz="1200" b="1">
                          <a:solidFill>
                            <a:srgbClr val="FFFFFF"/>
                          </a:solidFill>
                          <a:latin typeface="Calibri"/>
                        </a:rPr>
                        <a:t>When</a:t>
                      </a:r>
                    </a:p>
                  </a:txBody>
                  <a:tcPr marL="54864" marR="54864" marT="27432" marB="27432" anchor="ctr">
                    <a:solidFill>
                      <a:srgbClr val="25578F"/>
                    </a:solidFill>
                  </a:tcPr>
                </a:tc>
                <a:tc>
                  <a:txBody>
                    <a:bodyPr wrap="square"/>
                    <a:lstStyle/>
                    <a:p>
                      <a:r>
                        <a:rPr sz="1200" b="1">
                          <a:solidFill>
                            <a:srgbClr val="FFFFFF"/>
                          </a:solidFill>
                          <a:latin typeface="Calibri"/>
                        </a:rPr>
                        <a:t>Work</a:t>
                      </a:r>
                    </a:p>
                  </a:txBody>
                  <a:tcPr marL="54864" marR="54864" marT="27432" marB="27432" anchor="ctr">
                    <a:solidFill>
                      <a:srgbClr val="25578F"/>
                    </a:solidFill>
                  </a:tcPr>
                </a:tc>
                <a:tc>
                  <a:txBody>
                    <a:bodyPr wrap="square"/>
                    <a:lstStyle/>
                    <a:p>
                      <a:r>
                        <a:rPr sz="1200" b="1">
                          <a:solidFill>
                            <a:srgbClr val="FFFFFF"/>
                          </a:solidFill>
                          <a:latin typeface="Calibri"/>
                        </a:rPr>
                        <a:t>Target</a:t>
                      </a:r>
                    </a:p>
                  </a:txBody>
                  <a:tcPr marL="54864" marR="54864" marT="27432" marB="27432" anchor="ctr">
                    <a:solidFill>
                      <a:srgbClr val="25578F"/>
                    </a:solidFill>
                  </a:tcPr>
                </a:tc>
              </a:tr>
              <a:tr h="868680">
                <a:tc>
                  <a:txBody>
                    <a:bodyPr wrap="square"/>
                    <a:lstStyle/>
                    <a:p>
                      <a:r>
                        <a:rPr sz="1150" b="1">
                          <a:solidFill>
                            <a:srgbClr val="26323F"/>
                          </a:solidFill>
                          <a:latin typeface="Calibri"/>
                        </a:rPr>
                        <a:t>Month 4</a:t>
                      </a:r>
                    </a:p>
                  </a:txBody>
                  <a:tcPr marL="54864" marR="54864" marT="27432" marB="27432" anchor="ctr">
                    <a:solidFill>
                      <a:srgbClr val="E6EEF7"/>
                    </a:solidFill>
                  </a:tcPr>
                </a:tc>
                <a:tc>
                  <a:txBody>
                    <a:bodyPr wrap="square"/>
                    <a:lstStyle/>
                    <a:p>
                      <a:r>
                        <a:rPr sz="1150" b="0">
                          <a:solidFill>
                            <a:srgbClr val="26323F"/>
                          </a:solidFill>
                          <a:latin typeface="Calibri"/>
                        </a:rPr>
                        <a:t>Audio-in, decision-out simulation in Python; feature extraction in C, checked against the Python version; INT8 quantisation.</a:t>
                      </a:r>
                    </a:p>
                  </a:txBody>
                  <a:tcPr marL="54864" marR="54864" marT="27432" marB="27432" anchor="ctr">
                    <a:solidFill>
                      <a:srgbClr val="E6EEF7"/>
                    </a:solidFill>
                  </a:tcPr>
                </a:tc>
                <a:tc>
                  <a:txBody>
                    <a:bodyPr wrap="square"/>
                    <a:lstStyle/>
                    <a:p>
                      <a:r>
                        <a:rPr sz="1150" b="0">
                          <a:solidFill>
                            <a:srgbClr val="26323F"/>
                          </a:solidFill>
                          <a:latin typeface="Calibri"/>
                        </a:rPr>
                        <a:t>Same features on laptop and chip</a:t>
                      </a:r>
                    </a:p>
                  </a:txBody>
                  <a:tcPr marL="54864" marR="54864" marT="27432" marB="27432" anchor="ctr">
                    <a:solidFill>
                      <a:srgbClr val="E6EEF7"/>
                    </a:solidFill>
                  </a:tcPr>
                </a:tc>
              </a:tr>
              <a:tr h="868680">
                <a:tc>
                  <a:txBody>
                    <a:bodyPr wrap="square"/>
                    <a:lstStyle/>
                    <a:p>
                      <a:r>
                        <a:rPr sz="1150" b="1">
                          <a:solidFill>
                            <a:srgbClr val="26323F"/>
                          </a:solidFill>
                          <a:latin typeface="Calibri"/>
                        </a:rPr>
                        <a:t>Month 5</a:t>
                      </a:r>
                    </a:p>
                  </a:txBody>
                  <a:tcPr marL="54864" marR="54864" marT="27432" marB="27432" anchor="ctr">
                    <a:solidFill>
                      <a:srgbClr val="F6F9FC"/>
                    </a:solidFill>
                  </a:tcPr>
                </a:tc>
                <a:tc>
                  <a:txBody>
                    <a:bodyPr wrap="square"/>
                    <a:lstStyle/>
                    <a:p>
                      <a:r>
                        <a:rPr sz="1150" b="0">
                          <a:solidFill>
                            <a:srgbClr val="26323F"/>
                          </a:solidFill>
                          <a:latin typeface="Calibri"/>
                        </a:rPr>
                        <a:t>ESP32-S3 bring-up, firmware, FFT and log-mel on the chip, model running on the chip.</a:t>
                      </a:r>
                    </a:p>
                  </a:txBody>
                  <a:tcPr marL="54864" marR="54864" marT="27432" marB="27432" anchor="ctr">
                    <a:solidFill>
                      <a:srgbClr val="F6F9FC"/>
                    </a:solidFill>
                  </a:tcPr>
                </a:tc>
                <a:tc>
                  <a:txBody>
                    <a:bodyPr wrap="square"/>
                    <a:lstStyle/>
                    <a:p>
                      <a:r>
                        <a:rPr sz="1150" b="0">
                          <a:solidFill>
                            <a:srgbClr val="26323F"/>
                          </a:solidFill>
                          <a:latin typeface="Calibri"/>
                        </a:rPr>
                        <a:t>System runs on hardware</a:t>
                      </a:r>
                    </a:p>
                  </a:txBody>
                  <a:tcPr marL="54864" marR="54864" marT="27432" marB="27432" anchor="ctr">
                    <a:solidFill>
                      <a:srgbClr val="F6F9FC"/>
                    </a:solidFill>
                  </a:tcPr>
                </a:tc>
              </a:tr>
              <a:tr h="868680">
                <a:tc>
                  <a:txBody>
                    <a:bodyPr wrap="square"/>
                    <a:lstStyle/>
                    <a:p>
                      <a:r>
                        <a:rPr sz="1150" b="1">
                          <a:solidFill>
                            <a:srgbClr val="26323F"/>
                          </a:solidFill>
                          <a:latin typeface="Calibri"/>
                        </a:rPr>
                        <a:t>Month 6</a:t>
                      </a:r>
                    </a:p>
                  </a:txBody>
                  <a:tcPr marL="54864" marR="54864" marT="27432" marB="27432" anchor="ctr">
                    <a:solidFill>
                      <a:srgbClr val="E6EEF7"/>
                    </a:solidFill>
                  </a:tcPr>
                </a:tc>
                <a:tc>
                  <a:txBody>
                    <a:bodyPr wrap="square"/>
                    <a:lstStyle/>
                    <a:p>
                      <a:r>
                        <a:rPr sz="1150" b="0">
                          <a:solidFill>
                            <a:srgbClr val="26323F"/>
                          </a:solidFill>
                          <a:latin typeface="Calibri"/>
                        </a:rPr>
                        <a:t>On-chip calibration; test rig; record sound, vibration and temperature together; implement and test the motor-health-assisted decision.</a:t>
                      </a:r>
                    </a:p>
                  </a:txBody>
                  <a:tcPr marL="54864" marR="54864" marT="27432" marB="27432" anchor="ctr">
                    <a:solidFill>
                      <a:srgbClr val="E6EEF7"/>
                    </a:solidFill>
                  </a:tcPr>
                </a:tc>
                <a:tc>
                  <a:txBody>
                    <a:bodyPr wrap="square"/>
                    <a:lstStyle/>
                    <a:p>
                      <a:r>
                        <a:rPr sz="1150" b="0">
                          <a:solidFill>
                            <a:srgbClr val="26323F"/>
                          </a:solidFill>
                          <a:latin typeface="Calibri"/>
                        </a:rPr>
                        <a:t>Does vibration reduce false alarms and help in heavy noise?</a:t>
                      </a:r>
                    </a:p>
                  </a:txBody>
                  <a:tcPr marL="54864" marR="54864" marT="27432" marB="27432" anchor="ctr">
                    <a:solidFill>
                      <a:srgbClr val="E6EEF7"/>
                    </a:solidFill>
                  </a:tcPr>
                </a:tc>
              </a:tr>
              <a:tr h="868680">
                <a:tc>
                  <a:txBody>
                    <a:bodyPr wrap="square"/>
                    <a:lstStyle/>
                    <a:p>
                      <a:r>
                        <a:rPr sz="1150" b="1">
                          <a:solidFill>
                            <a:srgbClr val="26323F"/>
                          </a:solidFill>
                          <a:latin typeface="Calibri"/>
                        </a:rPr>
                        <a:t>Month 6.5-7</a:t>
                      </a:r>
                    </a:p>
                  </a:txBody>
                  <a:tcPr marL="54864" marR="54864" marT="27432" marB="27432" anchor="ctr">
                    <a:solidFill>
                      <a:srgbClr val="F6F9FC"/>
                    </a:solidFill>
                  </a:tcPr>
                </a:tc>
                <a:tc>
                  <a:txBody>
                    <a:bodyPr wrap="square"/>
                    <a:lstStyle/>
                    <a:p>
                      <a:r>
                        <a:rPr sz="1150" b="0">
                          <a:solidFill>
                            <a:srgbClr val="26323F"/>
                          </a:solidFill>
                          <a:latin typeface="Calibri"/>
                        </a:rPr>
                        <a:t>Measure speed, memory and power; measure noise and energy of faults; benchmarking; paper and final report.</a:t>
                      </a:r>
                    </a:p>
                  </a:txBody>
                  <a:tcPr marL="54864" marR="54864" marT="27432" marB="27432" anchor="ctr">
                    <a:solidFill>
                      <a:srgbClr val="F6F9FC"/>
                    </a:solidFill>
                  </a:tcPr>
                </a:tc>
                <a:tc>
                  <a:txBody>
                    <a:bodyPr wrap="square"/>
                    <a:lstStyle/>
                    <a:p>
                      <a:r>
                        <a:rPr sz="1150" b="0">
                          <a:solidFill>
                            <a:srgbClr val="26323F"/>
                          </a:solidFill>
                          <a:latin typeface="Calibri"/>
                        </a:rPr>
                        <a:t>Validated prototype and manuscript</a:t>
                      </a:r>
                    </a:p>
                  </a:txBody>
                  <a:tcPr marL="54864" marR="54864" marT="27432" marB="27432" anchor="ctr">
                    <a:solidFill>
                      <a:srgbClr val="F6F9FC"/>
                    </a:solidFill>
                  </a:tcPr>
                </a:tc>
              </a:tr>
            </a:tbl>
          </a:graphicData>
        </a:graphic>
      </p:graphicFrame>
      <p:sp>
        <p:nvSpPr>
          <p:cNvPr id="20486" name="TextBox 20485"/>
          <p:cNvSpPr txBox="1"/>
          <p:nvPr/>
        </p:nvSpPr>
        <p:spPr>
          <a:xfrm>
            <a:off x="1005840" y="5486400"/>
            <a:ext cx="7680960" cy="457200"/>
          </a:xfrm>
          <a:prstGeom prst="rect">
            <a:avLst/>
          </a:prstGeom>
          <a:noFill/>
        </p:spPr>
        <p:txBody>
          <a:bodyPr wrap="square" lIns="54864" rIns="54864" tIns="27432" bIns="27432" anchor="t">
            <a:noAutofit/>
          </a:bodyPr>
          <a:lstStyle/>
          <a:p>
            <a:pPr algn="l">
              <a:spcAft>
                <a:spcPts val="400"/>
              </a:spcAft>
            </a:pPr>
            <a:r>
              <a:rPr sz="1100" b="0" i="1">
                <a:solidFill>
                  <a:srgbClr val="6B7580"/>
                </a:solidFill>
                <a:latin typeface="Calibri"/>
              </a:rPr>
              <a:t>Months follow the project proposal timeline for next semester.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234440" y="475488"/>
            <a:ext cx="6492240" cy="777240"/>
          </a:xfrm>
        </p:spPr>
        <p:txBody>
          <a:bodyPr wrap="square" anchor="ctr">
            <a:noAutofit/>
          </a:bodyPr>
          <a:lstStyle/>
          <a:p>
            <a:pPr algn="ctr"/>
            <a:r>
              <a:rPr sz="3000">
                <a:latin typeface="Calibri"/>
              </a:rPr>
              <a:t>Team Contribution</a:t>
            </a:r>
          </a:p>
        </p:txBody>
      </p:sp>
      <p:sp>
        <p:nvSpPr>
          <p:cNvPr id="20484" name="Slide Number Placeholder 1"/>
          <p:cNvSpPr txBox="1">
            <a:spLocks noGrp="1"/>
          </p:cNvSpPr>
          <p:nvPr>
            <p:ph type="sldNum" sz="quarter" idx="4"/>
          </p:nvPr>
        </p:nvSpPr>
        <p:spPr>
          <a:xfrm>
            <a:off x="7948613" y="6140450"/>
            <a:ext cx="776287" cy="365125"/>
          </a:xfrm>
          <a:noFill/>
          <a:ln>
            <a:noFill/>
          </a:ln>
        </p:spPr>
        <p:txBody>
          <a:bodyPr anchor="ctr" anchorCtr="0"/>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Century Gothic" panose="020B0502020202020204" pitchFamily="34" charset="0"/>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entury Gothic" panose="020B0502020202020204" pitchFamily="34" charset="0"/>
                <a:ea typeface="+mn-ea"/>
                <a:cs typeface="+mn-cs"/>
              </a:defRPr>
            </a:lvl5pPr>
          </a:lstStyle>
          <a:p>
            <a:pPr lvl="0" algn="ctr" eaLnBrk="1" hangingPunct="1"/>
            <a:fld id="{9A0DB2DC-4C9A-4742-B13C-FB6460FD3503}" type="slidenum">
              <a:rPr lang="en-US" altLang="en-US" sz="900" dirty="0">
                <a:solidFill>
                  <a:srgbClr val="898989"/>
                </a:solidFill>
              </a:rPr>
            </a:fld>
            <a:r>
              <a:rPr lang="en-US" altLang="en-US" sz="900" dirty="0">
                <a:solidFill>
                  <a:srgbClr val="898989"/>
                </a:solidFill>
              </a:rPr>
              <a:t> of 26</a:t>
            </a:r>
            <a:endParaRPr lang="en-US" altLang="en-US" sz="900" dirty="0">
              <a:solidFill>
                <a:srgbClr val="898989"/>
              </a:solidFill>
            </a:endParaRPr>
          </a:p>
        </p:txBody>
      </p:sp>
      <p:sp>
        <p:nvSpPr>
          <p:cNvPr id="7" name="Date Placeholder 1"/>
          <p:cNvSpPr txBox="1">
            <a:spLocks noGrp="1"/>
          </p:cNvSpPr>
          <p:nvPr>
            <p:ph type="dt" sz="half" idx="2"/>
          </p:nvPr>
        </p:nvSpPr>
        <p:spPr>
          <a:xfrm>
            <a:off x="1943100" y="6156325"/>
            <a:ext cx="876300" cy="369888"/>
          </a:xfrm>
          <a:noFill/>
        </p:spPr>
        <p:txBody>
          <a:bodyPr lIns="91440" tIns="45720" rIns="91440" bIns="45720" rtlCol="0" anchor="ctr"/>
          <a:lstStyle>
            <a:lvl1pPr>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778DE5B-F44E-46D0-A94E-2009DE896E7E}" type="datetime1">
              <a:rPr kumimoji="0" lang="en-US" sz="9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2"/>
          <p:cNvSpPr txBox="1">
            <a:spLocks noGrp="1"/>
          </p:cNvSpPr>
          <p:nvPr>
            <p:ph type="ftr" sz="quarter" idx="3"/>
          </p:nvPr>
        </p:nvSpPr>
        <p:spPr>
          <a:xfrm>
            <a:off x="2819400" y="6156325"/>
            <a:ext cx="5129213" cy="365125"/>
          </a:xfrm>
          <a:noFill/>
        </p:spPr>
        <p:txBody>
          <a:bodyPr lIns="91440" tIns="45720" rIns="91440" bIns="45720" rtlCol="0" anchor="ctr"/>
          <a:lstStyle>
            <a:lvl1pPr algn="ctr">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rPr>
              <a:t>Dept of CSE., SOE-Dayananda Sagar University</a:t>
            </a:r>
            <a:endParaRPr kumimoji="0" lang="en-US" altLang="en-US" sz="900" b="0" i="0" u="none" strike="noStrike" kern="1200" cap="none" spc="0" normalizeH="0" baseline="0" noProof="0">
              <a:ln>
                <a:noFill/>
              </a:ln>
              <a:solidFill>
                <a:schemeClr val="tx1">
                  <a:tint val="75000"/>
                </a:schemeClr>
              </a:solidFill>
              <a:effectLst/>
              <a:uLnTx/>
              <a:uFillTx/>
              <a:latin typeface="+mn-lt"/>
              <a:ea typeface="+mn-ea"/>
              <a:cs typeface="+mn-cs"/>
            </a:endParaRPr>
          </a:p>
        </p:txBody>
      </p:sp>
      <p:graphicFrame>
        <p:nvGraphicFramePr>
          <p:cNvPr id="20485" name="Table 20484"/>
          <p:cNvGraphicFramePr>
            <a:graphicFrameLocks noGrp="1"/>
          </p:cNvGraphicFramePr>
          <p:nvPr/>
        </p:nvGraphicFramePr>
        <p:xfrm>
          <a:off x="1097280" y="1463040"/>
          <a:ext cx="7635239" cy="3127248"/>
        </p:xfrm>
        <a:graphic>
          <a:graphicData uri="http://schemas.openxmlformats.org/drawingml/2006/table">
            <a:tbl>
              <a:tblPr firstRow="0" bandRow="0">
                <a:tableStyleId>{2D5ABB26-0587-4C30-8999-92F81FD0307C}</a:tableStyleId>
              </a:tblPr>
              <a:tblGrid>
                <a:gridCol w="2103120"/>
                <a:gridCol w="1554480"/>
                <a:gridCol w="3977639"/>
              </a:tblGrid>
              <a:tr h="384048">
                <a:tc>
                  <a:txBody>
                    <a:bodyPr wrap="square"/>
                    <a:lstStyle/>
                    <a:p>
                      <a:r>
                        <a:rPr sz="1300" b="1">
                          <a:solidFill>
                            <a:srgbClr val="FFFFFF"/>
                          </a:solidFill>
                          <a:latin typeface="Calibri"/>
                        </a:rPr>
                        <a:t>Team member</a:t>
                      </a:r>
                    </a:p>
                  </a:txBody>
                  <a:tcPr marL="54864" marR="54864" marT="27432" marB="27432" anchor="ctr">
                    <a:solidFill>
                      <a:srgbClr val="25578F"/>
                    </a:solidFill>
                  </a:tcPr>
                </a:tc>
                <a:tc>
                  <a:txBody>
                    <a:bodyPr wrap="square"/>
                    <a:lstStyle/>
                    <a:p>
                      <a:r>
                        <a:rPr sz="1300" b="1">
                          <a:solidFill>
                            <a:srgbClr val="FFFFFF"/>
                          </a:solidFill>
                          <a:latin typeface="Calibri"/>
                        </a:rPr>
                        <a:t>USN</a:t>
                      </a:r>
                    </a:p>
                  </a:txBody>
                  <a:tcPr marL="54864" marR="54864" marT="27432" marB="27432" anchor="ctr">
                    <a:solidFill>
                      <a:srgbClr val="25578F"/>
                    </a:solidFill>
                  </a:tcPr>
                </a:tc>
                <a:tc>
                  <a:txBody>
                    <a:bodyPr wrap="square"/>
                    <a:lstStyle/>
                    <a:p>
                      <a:r>
                        <a:rPr sz="1300" b="1">
                          <a:solidFill>
                            <a:srgbClr val="FFFFFF"/>
                          </a:solidFill>
                          <a:latin typeface="Calibri"/>
                        </a:rPr>
                        <a:t>Contribution (to be filled by the team)</a:t>
                      </a:r>
                    </a:p>
                  </a:txBody>
                  <a:tcPr marL="54864" marR="54864" marT="27432" marB="27432" anchor="ctr">
                    <a:solidFill>
                      <a:srgbClr val="25578F"/>
                    </a:solidFill>
                  </a:tcPr>
                </a:tc>
              </a:tr>
              <a:tr h="685800">
                <a:tc>
                  <a:txBody>
                    <a:bodyPr wrap="square"/>
                    <a:lstStyle/>
                    <a:p>
                      <a:r>
                        <a:rPr sz="1300" b="1">
                          <a:solidFill>
                            <a:srgbClr val="26323F"/>
                          </a:solidFill>
                          <a:latin typeface="Calibri"/>
                        </a:rPr>
                        <a:t>Nikitha D</a:t>
                      </a:r>
                    </a:p>
                  </a:txBody>
                  <a:tcPr marL="54864" marR="54864" marT="27432" marB="27432" anchor="ctr">
                    <a:solidFill>
                      <a:srgbClr val="E6EEF7"/>
                    </a:solidFill>
                  </a:tcPr>
                </a:tc>
                <a:tc>
                  <a:txBody>
                    <a:bodyPr wrap="square"/>
                    <a:lstStyle/>
                    <a:p>
                      <a:r>
                        <a:rPr sz="1300" b="0">
                          <a:solidFill>
                            <a:srgbClr val="26323F"/>
                          </a:solidFill>
                          <a:latin typeface="Calibri"/>
                        </a:rPr>
                        <a:t>ENG23CS0384</a:t>
                      </a:r>
                    </a:p>
                  </a:txBody>
                  <a:tcPr marL="54864" marR="54864" marT="27432" marB="27432" anchor="ctr">
                    <a:solidFill>
                      <a:srgbClr val="E6EEF7"/>
                    </a:solidFill>
                  </a:tcPr>
                </a:tc>
                <a:tc>
                  <a:txBody>
                    <a:bodyPr wrap="square"/>
                    <a:lstStyle/>
                    <a:p>
                      <a:r>
                        <a:rPr sz="1300" b="0">
                          <a:solidFill>
                            <a:srgbClr val="26323F"/>
                          </a:solidFill>
                          <a:latin typeface="Calibri"/>
                        </a:rPr>
                        <a:t>[add your modules and experiments]</a:t>
                      </a:r>
                    </a:p>
                  </a:txBody>
                  <a:tcPr marL="54864" marR="54864" marT="27432" marB="27432" anchor="ctr">
                    <a:solidFill>
                      <a:srgbClr val="E6EEF7"/>
                    </a:solidFill>
                  </a:tcPr>
                </a:tc>
              </a:tr>
              <a:tr h="685800">
                <a:tc>
                  <a:txBody>
                    <a:bodyPr wrap="square"/>
                    <a:lstStyle/>
                    <a:p>
                      <a:r>
                        <a:rPr sz="1300" b="1">
                          <a:solidFill>
                            <a:srgbClr val="26323F"/>
                          </a:solidFill>
                          <a:latin typeface="Calibri"/>
                        </a:rPr>
                        <a:t>Rajika Saha</a:t>
                      </a:r>
                    </a:p>
                  </a:txBody>
                  <a:tcPr marL="54864" marR="54864" marT="27432" marB="27432" anchor="ctr">
                    <a:solidFill>
                      <a:srgbClr val="F6F9FC"/>
                    </a:solidFill>
                  </a:tcPr>
                </a:tc>
                <a:tc>
                  <a:txBody>
                    <a:bodyPr wrap="square"/>
                    <a:lstStyle/>
                    <a:p>
                      <a:r>
                        <a:rPr sz="1300" b="0">
                          <a:solidFill>
                            <a:srgbClr val="26323F"/>
                          </a:solidFill>
                          <a:latin typeface="Calibri"/>
                        </a:rPr>
                        <a:t>ENG23CS0415</a:t>
                      </a:r>
                    </a:p>
                  </a:txBody>
                  <a:tcPr marL="54864" marR="54864" marT="27432" marB="27432" anchor="ctr">
                    <a:solidFill>
                      <a:srgbClr val="F6F9FC"/>
                    </a:solidFill>
                  </a:tcPr>
                </a:tc>
                <a:tc>
                  <a:txBody>
                    <a:bodyPr wrap="square"/>
                    <a:lstStyle/>
                    <a:p>
                      <a:r>
                        <a:rPr sz="1300" b="0">
                          <a:solidFill>
                            <a:srgbClr val="26323F"/>
                          </a:solidFill>
                          <a:latin typeface="Calibri"/>
                        </a:rPr>
                        <a:t>[add your modules and experiments]</a:t>
                      </a:r>
                    </a:p>
                  </a:txBody>
                  <a:tcPr marL="54864" marR="54864" marT="27432" marB="27432" anchor="ctr">
                    <a:solidFill>
                      <a:srgbClr val="F6F9FC"/>
                    </a:solidFill>
                  </a:tcPr>
                </a:tc>
              </a:tr>
              <a:tr h="685800">
                <a:tc>
                  <a:txBody>
                    <a:bodyPr wrap="square"/>
                    <a:lstStyle/>
                    <a:p>
                      <a:r>
                        <a:rPr sz="1300" b="1">
                          <a:solidFill>
                            <a:srgbClr val="26323F"/>
                          </a:solidFill>
                          <a:latin typeface="Calibri"/>
                        </a:rPr>
                        <a:t>Monalisa</a:t>
                      </a:r>
                    </a:p>
                  </a:txBody>
                  <a:tcPr marL="54864" marR="54864" marT="27432" marB="27432" anchor="ctr">
                    <a:solidFill>
                      <a:srgbClr val="E6EEF7"/>
                    </a:solidFill>
                  </a:tcPr>
                </a:tc>
                <a:tc>
                  <a:txBody>
                    <a:bodyPr wrap="square"/>
                    <a:lstStyle/>
                    <a:p>
                      <a:r>
                        <a:rPr sz="1300" b="0">
                          <a:solidFill>
                            <a:srgbClr val="26323F"/>
                          </a:solidFill>
                          <a:latin typeface="Calibri"/>
                        </a:rPr>
                        <a:t>ENG23CS0368</a:t>
                      </a:r>
                    </a:p>
                  </a:txBody>
                  <a:tcPr marL="54864" marR="54864" marT="27432" marB="27432" anchor="ctr">
                    <a:solidFill>
                      <a:srgbClr val="E6EEF7"/>
                    </a:solidFill>
                  </a:tcPr>
                </a:tc>
                <a:tc>
                  <a:txBody>
                    <a:bodyPr wrap="square"/>
                    <a:lstStyle/>
                    <a:p>
                      <a:r>
                        <a:rPr sz="1300" b="0">
                          <a:solidFill>
                            <a:srgbClr val="26323F"/>
                          </a:solidFill>
                          <a:latin typeface="Calibri"/>
                        </a:rPr>
                        <a:t>[add your modules and experiments]</a:t>
                      </a:r>
                    </a:p>
                  </a:txBody>
                  <a:tcPr marL="54864" marR="54864" marT="27432" marB="27432" anchor="ctr">
                    <a:solidFill>
                      <a:srgbClr val="E6EEF7"/>
                    </a:solidFill>
                  </a:tcPr>
                </a:tc>
              </a:tr>
              <a:tr h="685800">
                <a:tc>
                  <a:txBody>
                    <a:bodyPr wrap="square"/>
                    <a:lstStyle/>
                    <a:p>
                      <a:r>
                        <a:rPr sz="1300" b="1">
                          <a:solidFill>
                            <a:srgbClr val="26323F"/>
                          </a:solidFill>
                          <a:latin typeface="Calibri"/>
                        </a:rPr>
                        <a:t>Sunand P Chowdary</a:t>
                      </a:r>
                    </a:p>
                  </a:txBody>
                  <a:tcPr marL="54864" marR="54864" marT="27432" marB="27432" anchor="ctr">
                    <a:solidFill>
                      <a:srgbClr val="F6F9FC"/>
                    </a:solidFill>
                  </a:tcPr>
                </a:tc>
                <a:tc>
                  <a:txBody>
                    <a:bodyPr wrap="square"/>
                    <a:lstStyle/>
                    <a:p>
                      <a:r>
                        <a:rPr sz="1300" b="0">
                          <a:solidFill>
                            <a:srgbClr val="26323F"/>
                          </a:solidFill>
                          <a:latin typeface="Calibri"/>
                        </a:rPr>
                        <a:t>ENG23CS0387</a:t>
                      </a:r>
                    </a:p>
                  </a:txBody>
                  <a:tcPr marL="54864" marR="54864" marT="27432" marB="27432" anchor="ctr">
                    <a:solidFill>
                      <a:srgbClr val="F6F9FC"/>
                    </a:solidFill>
                  </a:tcPr>
                </a:tc>
                <a:tc>
                  <a:txBody>
                    <a:bodyPr wrap="square"/>
                    <a:lstStyle/>
                    <a:p>
                      <a:r>
                        <a:rPr sz="1300" b="0">
                          <a:solidFill>
                            <a:srgbClr val="26323F"/>
                          </a:solidFill>
                          <a:latin typeface="Calibri"/>
                        </a:rPr>
                        <a:t>[add your modules and experiments]</a:t>
                      </a:r>
                    </a:p>
                  </a:txBody>
                  <a:tcPr marL="54864" marR="54864" marT="27432" marB="27432" anchor="ctr">
                    <a:solidFill>
                      <a:srgbClr val="F6F9FC"/>
                    </a:solidFill>
                  </a:tcPr>
                </a:tc>
              </a:tr>
            </a:tbl>
          </a:graphicData>
        </a:graphic>
      </p:graphicFrame>
      <p:sp>
        <p:nvSpPr>
          <p:cNvPr id="20486" name="TextBox 20485"/>
          <p:cNvSpPr txBox="1"/>
          <p:nvPr/>
        </p:nvSpPr>
        <p:spPr>
          <a:xfrm>
            <a:off x="1097280" y="5074920"/>
            <a:ext cx="7635240" cy="640080"/>
          </a:xfrm>
          <a:prstGeom prst="rect">
            <a:avLst/>
          </a:prstGeom>
          <a:noFill/>
        </p:spPr>
        <p:txBody>
          <a:bodyPr wrap="square" lIns="54864" rIns="54864" tIns="27432" bIns="27432" anchor="t">
            <a:noAutofit/>
          </a:bodyPr>
          <a:lstStyle/>
          <a:p>
            <a:pPr algn="l">
              <a:spcAft>
                <a:spcPts val="400"/>
              </a:spcAft>
            </a:pPr>
            <a:r>
              <a:rPr sz="1250" b="0" i="1">
                <a:solidFill>
                  <a:srgbClr val="6B7580"/>
                </a:solidFill>
                <a:latin typeface="Calibri"/>
              </a:rPr>
              <a:t>Every member should be ready to explain their own part and answer questions on the whole pipeline.</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1CACE3"/>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1604</Words>
  <Application>WPS Presentation</Application>
  <PresentationFormat>On-screen Show (4:3)</PresentationFormat>
  <Paragraphs>148</Paragraphs>
  <Slides>11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Century Gothic</vt:lpstr>
      <vt:lpstr>Wingdings 3</vt:lpstr>
      <vt:lpstr>Calibri</vt:lpstr>
      <vt:lpstr>Microsoft YaHei</vt:lpstr>
      <vt:lpstr>Arial Unicode MS</vt:lpstr>
      <vt:lpstr>Wisp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.:L4zy w4r3z:.</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exam</dc:creator>
  <cp:lastModifiedBy>Lenovo</cp:lastModifiedBy>
  <cp:revision>75</cp:revision>
  <dcterms:created xsi:type="dcterms:W3CDTF">2014-02-04T16:39:29Z</dcterms:created>
  <dcterms:modified xsi:type="dcterms:W3CDTF">2026-10-22T16:24:05Z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03A2DF2DCA054515A30B36592F96C437_13</vt:lpwstr>
  </property>
  <property fmtid="{D5CDD505-2E9C-101B-9397-08002B2CF9AE}" pid="3" name="KSOProductBuildVer">
    <vt:lpwstr>1033-12.1.0.29162</vt:lpwstr>
  </property>
</Properties>
</file>