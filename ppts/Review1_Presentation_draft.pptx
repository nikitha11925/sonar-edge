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a:defRPr lang="en-US"/>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217"/>
    <a:srgbClr val="420408"/>
    <a:srgbClr val="0D0D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300" b="1">
                <a:latin typeface="Calibri"/>
              </a:rPr>
              <a:t>AUC on a new machine (6 dB)</a:t>
            </a:r>
          </a:p>
        </c:rich>
      </c:tx>
      <c:overlay val="0"/>
    </c:title>
    <c:autoTitleDeleted val="0"/>
    <c:plotArea>
      <c:layout/>
      <c:barChart>
        <c:barDir val="col"/>
        <c:grouping val="clustered"/>
        <c:varyColors val="1"/>
        <c:ser>
          <c:idx val="0"/>
          <c:order val="0"/>
          <c:tx>
            <c:strRef>
              <c:f>Sheet1!$B$1</c:f>
              <c:strCache>
                <c:ptCount val="1"/>
                <c:pt idx="0">
                  <c:v>No calibration</c:v>
                </c:pt>
              </c:strCache>
            </c:strRef>
          </c:tx>
          <c:spPr>
            <a:solidFill>
              <a:srgbClr val="9AA7B5"/>
            </a:solidFill>
          </c:spPr>
          <c:invertIfNegative val="1"/>
          <c:dLbls>
            <c:numFmt formatCode="0.00" sourceLinked="0"/>
            <c:spPr>
              <a:noFill/>
              <a:ln>
                <a:noFill/>
              </a:ln>
              <a:effectLst/>
            </c:spPr>
            <c:txPr>
              <a:bodyPr/>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Fan</c:v>
                </c:pt>
                <c:pt idx="1">
                  <c:v>Pump</c:v>
                </c:pt>
                <c:pt idx="2">
                  <c:v>Slider</c:v>
                </c:pt>
              </c:strCache>
            </c:strRef>
          </c:cat>
          <c:val>
            <c:numRef>
              <c:f>Sheet1!$B$2:$B$4</c:f>
              <c:numCache>
                <c:formatCode>General</c:formatCode>
                <c:ptCount val="3"/>
                <c:pt idx="0">
                  <c:v>0.53</c:v>
                </c:pt>
                <c:pt idx="1">
                  <c:v>0.51</c:v>
                </c:pt>
                <c:pt idx="2">
                  <c:v>0.85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C5C-4C12-BEE7-99AF04C7275F}"/>
            </c:ext>
          </c:extLst>
        </c:ser>
        <c:ser>
          <c:idx val="1"/>
          <c:order val="1"/>
          <c:tx>
            <c:strRef>
              <c:f>Sheet1!$C$1</c:f>
              <c:strCache>
                <c:ptCount val="1"/>
                <c:pt idx="0">
                  <c:v>Full calibration</c:v>
                </c:pt>
              </c:strCache>
            </c:strRef>
          </c:tx>
          <c:spPr>
            <a:solidFill>
              <a:srgbClr val="25578F"/>
            </a:solidFill>
          </c:spPr>
          <c:invertIfNegative val="1"/>
          <c:dLbls>
            <c:numFmt formatCode="0.00" sourceLinked="0"/>
            <c:spPr>
              <a:noFill/>
              <a:ln>
                <a:noFill/>
              </a:ln>
              <a:effectLst/>
            </c:spPr>
            <c:txPr>
              <a:bodyPr/>
              <a:lstStyle/>
              <a:p>
                <a:pPr>
                  <a:defRPr sz="11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Fan</c:v>
                </c:pt>
                <c:pt idx="1">
                  <c:v>Pump</c:v>
                </c:pt>
                <c:pt idx="2">
                  <c:v>Slider</c:v>
                </c:pt>
              </c:strCache>
            </c:strRef>
          </c:cat>
          <c:val>
            <c:numRef>
              <c:f>Sheet1!$C$2:$C$4</c:f>
              <c:numCache>
                <c:formatCode>General</c:formatCode>
                <c:ptCount val="3"/>
                <c:pt idx="0">
                  <c:v>0.92</c:v>
                </c:pt>
                <c:pt idx="1">
                  <c:v>0.96</c:v>
                </c:pt>
                <c:pt idx="2">
                  <c:v>0.95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C5C-4C12-BEE7-99AF04C7275F}"/>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200">
                <a:latin typeface="Calibri"/>
              </a:defRPr>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D5DCE6"/>
              </a:solidFill>
            </a:ln>
          </c:spPr>
        </c:majorGridlines>
        <c:numFmt formatCode="General" sourceLinked="1"/>
        <c:majorTickMark val="out"/>
        <c:minorTickMark val="none"/>
        <c:tickLblPos val="nextTo"/>
        <c:txPr>
          <a:bodyPr/>
          <a:lstStyle/>
          <a:p>
            <a:pPr>
              <a:defRPr sz="1100">
                <a:latin typeface="Calibri"/>
              </a:defRPr>
            </a:pPr>
            <a:endParaRPr lang="en-US"/>
          </a:p>
        </c:txPr>
        <c:crossAx val="-2068027336"/>
        <c:crosses val="autoZero"/>
        <c:crossBetween val="between"/>
        <c:majorUnit val="0.25"/>
      </c:valAx>
    </c:plotArea>
    <c:legend>
      <c:legendPos val="b"/>
      <c:overlay val="0"/>
      <c:txPr>
        <a:bodyPr/>
        <a:lstStyle/>
        <a:p>
          <a:pPr>
            <a:defRPr sz="1100">
              <a:latin typeface="Calibri"/>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fontAlgn="auto" hangingPunct="1">
              <a:spcBef>
                <a:spcPts val="0"/>
              </a:spcBef>
              <a:spcAft>
                <a:spcPts val="0"/>
              </a:spcAft>
              <a:defRPr sz="1200">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Title of the project</a:t>
            </a:r>
          </a:p>
        </p:txBody>
      </p:sp>
      <p:sp>
        <p:nvSpPr>
          <p:cNvPr id="92163"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fontAlgn="auto" hangingPunct="1">
              <a:spcBef>
                <a:spcPts val="0"/>
              </a:spcBef>
              <a:spcAft>
                <a:spcPts val="0"/>
              </a:spcAft>
              <a:defRPr sz="1200">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19D65D1B-4878-47F4-A64E-DF6BAA956D7E}" type="datetime1">
              <a:rPr kumimoji="0" lang="en-US" sz="1200" b="0" i="0" u="none" strike="noStrike" kern="1200" cap="none" spc="0" normalizeH="0" baseline="0" noProof="0">
                <a:ln>
                  <a:noFill/>
                </a:ln>
                <a:solidFill>
                  <a:schemeClr val="tx1"/>
                </a:solidFill>
                <a:effectLst/>
                <a:uLnTx/>
                <a:uFillTx/>
                <a:latin typeface="+mn-lt"/>
                <a:ea typeface="+mn-ea"/>
                <a:cs typeface="+mn-cs"/>
              </a:rPr>
              <a:t>10/24/2026</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92164"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fontAlgn="auto" hangingPunct="1">
              <a:spcBef>
                <a:spcPts val="0"/>
              </a:spcBef>
              <a:spcAft>
                <a:spcPts val="0"/>
              </a:spcAft>
              <a:defRPr sz="1200">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CSE Dept., SET-Jain University</a:t>
            </a:r>
          </a:p>
        </p:txBody>
      </p:sp>
      <p:sp>
        <p:nvSpPr>
          <p:cNvPr id="92165"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p>
            <a:pPr lvl="0" algn="r" eaLnBrk="1" hangingPunct="1"/>
            <a:fld id="{9A0DB2DC-4C9A-4742-B13C-FB6460FD3503}" type="slidenum">
              <a:rPr lang="en-US" altLang="en-US" sz="1200" dirty="0">
                <a:latin typeface="Calibri" panose="020F0502020204030204" pitchFamily="34" charset="0"/>
              </a:rPr>
              <a:t>‹#›</a:t>
            </a:fld>
            <a:endParaRPr lang="en-US" altLang="en-US" sz="1200" dirty="0">
              <a:latin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fontAlgn="auto" hangingPunct="1">
              <a:spcBef>
                <a:spcPts val="0"/>
              </a:spcBef>
              <a:spcAft>
                <a:spcPts val="0"/>
              </a:spcAft>
              <a:defRPr sz="1200">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Title of the project</a:t>
            </a:r>
          </a:p>
        </p:txBody>
      </p:sp>
      <p:sp>
        <p:nvSpPr>
          <p:cNvPr id="9011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fontAlgn="auto" hangingPunct="1">
              <a:spcBef>
                <a:spcPts val="0"/>
              </a:spcBef>
              <a:spcAft>
                <a:spcPts val="0"/>
              </a:spcAft>
              <a:defRPr sz="1200">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EE49C896-B1F7-42D3-B379-D84BAE1F72E3}" type="datetime1">
              <a:rPr kumimoji="0" lang="en-US" sz="1200" b="0" i="0" u="none" strike="noStrike" kern="1200" cap="none" spc="0" normalizeH="0" baseline="0" noProof="0">
                <a:ln>
                  <a:noFill/>
                </a:ln>
                <a:solidFill>
                  <a:schemeClr val="tx1"/>
                </a:solidFill>
                <a:effectLst/>
                <a:uLnTx/>
                <a:uFillTx/>
                <a:latin typeface="+mn-lt"/>
                <a:ea typeface="+mn-ea"/>
                <a:cs typeface="+mn-cs"/>
              </a:rPr>
              <a:t>10/24/2026</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29700"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9011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p>
        </p:txBody>
      </p:sp>
      <p:sp>
        <p:nvSpPr>
          <p:cNvPr id="9011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fontAlgn="auto" hangingPunct="1">
              <a:spcBef>
                <a:spcPts val="0"/>
              </a:spcBef>
              <a:spcAft>
                <a:spcPts val="0"/>
              </a:spcAft>
              <a:defRPr sz="1200">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CSE Dept., SET-Jain University</a:t>
            </a:r>
          </a:p>
        </p:txBody>
      </p:sp>
      <p:sp>
        <p:nvSpPr>
          <p:cNvPr id="9011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p>
            <a:pPr lvl="0" algn="r" eaLnBrk="1" hangingPunct="1"/>
            <a:fld id="{9A0DB2DC-4C9A-4742-B13C-FB6460FD3503}" type="slidenum">
              <a:rPr lang="en-US" altLang="en-US" sz="1200" dirty="0">
                <a:latin typeface="Calibri" panose="020F0502020204030204" pitchFamily="34" charset="0"/>
              </a:rPr>
              <a:t>‹#›</a:t>
            </a:fld>
            <a:endParaRPr lang="en-US" alt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txBox="1">
            <a:spLocks noGrp="1"/>
          </p:cNvSpPr>
          <p:nvPr>
            <p:ph type="hdr" sz="quarter"/>
          </p:nvPr>
        </p:nvSpPr>
        <p:spPr>
          <a:xfrm>
            <a:off x="0" y="0"/>
            <a:ext cx="2971800" cy="457200"/>
          </a:xfrm>
          <a:prstGeom prst="rect">
            <a:avLst/>
          </a:prstGeom>
          <a:noFill/>
          <a:ln w="9525">
            <a:noFill/>
          </a:ln>
        </p:spPr>
        <p:txBody>
          <a:bodyPr/>
          <a:lstStyle/>
          <a:p>
            <a:pPr lvl="0" eaLnBrk="1" hangingPunct="1"/>
            <a:r>
              <a:rPr lang="en-US" altLang="en-US" sz="1200" dirty="0">
                <a:latin typeface="Arial" panose="020B0604020202020204" pitchFamily="34" charset="0"/>
              </a:rPr>
              <a:t>Title of the project</a:t>
            </a:r>
          </a:p>
        </p:txBody>
      </p:sp>
      <p:sp>
        <p:nvSpPr>
          <p:cNvPr id="30723" name="Rectangle 6"/>
          <p:cNvSpPr txBox="1">
            <a:spLocks noGrp="1"/>
          </p:cNvSpPr>
          <p:nvPr>
            <p:ph type="ftr" sz="quarter"/>
          </p:nvPr>
        </p:nvSpPr>
        <p:spPr>
          <a:xfrm>
            <a:off x="0" y="8685213"/>
            <a:ext cx="2971800" cy="457200"/>
          </a:xfrm>
          <a:prstGeom prst="rect">
            <a:avLst/>
          </a:prstGeom>
          <a:noFill/>
          <a:ln w="9525">
            <a:noFill/>
          </a:ln>
        </p:spPr>
        <p:txBody>
          <a:bodyPr anchor="b" anchorCtr="0"/>
          <a:lstStyle/>
          <a:p>
            <a:pPr lvl="0" eaLnBrk="1" hangingPunct="1"/>
            <a:r>
              <a:rPr lang="en-US" altLang="en-US" sz="1200" dirty="0">
                <a:latin typeface="Arial" panose="020B0604020202020204" pitchFamily="34" charset="0"/>
              </a:rPr>
              <a:t>CSE Dept., SET-Jain University</a:t>
            </a:r>
          </a:p>
        </p:txBody>
      </p:sp>
      <p:sp>
        <p:nvSpPr>
          <p:cNvPr id="3072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latin typeface="Arial" panose="020B0604020202020204" pitchFamily="34" charset="0"/>
              </a:rPr>
              <a:t>1</a:t>
            </a:fld>
            <a:endParaRPr lang="en-US" altLang="en-US" sz="1200" dirty="0">
              <a:latin typeface="Arial" panose="020B0604020202020204" pitchFamily="34" charset="0"/>
            </a:endParaRPr>
          </a:p>
        </p:txBody>
      </p:sp>
      <p:sp>
        <p:nvSpPr>
          <p:cNvPr id="30725" name="Rectangle 2"/>
          <p:cNvSpPr>
            <a:spLocks noGrp="1" noRot="1" noChangeAspect="1" noTextEdit="1"/>
          </p:cNvSpPr>
          <p:nvPr>
            <p:ph type="sldImg"/>
          </p:nvPr>
        </p:nvSpPr>
        <p:spPr>
          <a:ln/>
        </p:spPr>
      </p:sp>
      <p:sp>
        <p:nvSpPr>
          <p:cNvPr id="30726" name="Rectangle 3"/>
          <p:cNvSpPr>
            <a:spLocks noGrp="1"/>
          </p:cNvSpPr>
          <p:nvPr>
            <p:ph type="body" idx="1"/>
          </p:nvPr>
        </p:nvSpPr>
        <p:spPr>
          <a:ln/>
        </p:spPr>
        <p:txBody>
          <a:bodyPr wrap="square" lIns="91440" tIns="45720" rIns="91440" bIns="45720" anchor="t" anchorCtr="0"/>
          <a:lstStyle/>
          <a:p>
            <a:r>
              <a:t>Introduce the team, guide and project. Project title is the registered title; sound is validated so far, sound + vibration fusion is the next phase.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Agenda follows the review rubric: problem and literature, methodology and design, implementation progress, then challenges, plan and contributions.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problem, the idea, the result and the limits in that order. Mention honestly that valves and heavy noise do not work yet and that nothing runs on hardware yet.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Objectives are unchanged from the proposal. The AUC target of 0.90 is met for fans and sliders at 6 dB; say clearly that it is not met for valves or heavy noise.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Requirements and how we validate them. The sealed machine and three seeds are what make the numbers trustworthy.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say first or novel method. Per-domain statistics are an existing idea (AdaFlow is the closest). Our contribution is the low-cost, tiny-model version tested on unseen machines with failures reported.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honestly that only MIMII shares our data; other papers use different data and metrics, so we do not rank ourselves against them. AdaFlow is the closest idea.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research gap slide. Keep the claim narrow: adaptation from few healthy clips on a tiny model, tested on unseen machines. The energy and noise gap is only 'not found in a narrow search'.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left to right. Training uses other machines only. Calibration happens on the new machine and has two jobs: feature levels and the alert level. This part is built and tested on a laptop.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technical core. Features are the same for every machine; only the number of bands and the model size differ per type. The baseline was used to prove our pipeline matches Hitachi's published results.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planned final system. Everything is dashed because nothing here is built on hardware yet. Fusion is a hypothesis to test, not a result.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40% is a team estimate and should be said as such. Everything marked Done runs on a laptop; the hardware part is not started.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Chart: 6 dB, four machines per type, two seeds (ablation file). Baseline versus Hitachi shows our pipeline matches their published table. Hitachi trains per machine; we test on machines never seen in training, so the comparison is not perfectly equal.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final evaluation results file, 144 runs. Show the sealed machine column separately; it is the fairest test but is one machine per type. Say the alert-level rule is the weakest part and is the first thing we will fix.</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Simulation on a laptop with recorded clips. Explain the ROC curve, the score histogram with the alert level, and the confusion matrix. Be open that this is the easiest machine.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window says it is a simulation on a laptop with recorded clips. The folder name is shown for reference only; the model never sees it. The own-recording result is a first test; say the false-alarm rate openly.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upfront about the open items. The alert-level rule and valves are the two biggest. Early mistakes were found by checking our own work and fixed.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Dates: go/no-go on hardware proposed for 10 November, KSCST proposal due 30 November. The first step is fixing the alert level because it is the main weakness in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Fill this slide in before the review: the rubric asks for individual contribution. Do not leave the bracketed text.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Done items can be shown live in the dashboard. Planned items depend on hardware.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Only papers we opened (abstract or full text) are listed. CWRU [6] and the Jung dataset [7] are the vibration and paired-data sources.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2053" name="Freeform 8"/>
          <p:cNvSpPr/>
          <p:nvPr/>
        </p:nvSpPr>
        <p:spPr>
          <a:xfrm>
            <a:off x="-31750" y="4321175"/>
            <a:ext cx="1395413" cy="7810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Lst>
            <a:rect l="0" t="0" r="0" b="0"/>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alpha val="100000"/>
            </a:schemeClr>
          </a:solidFill>
          <a:ln w="9525">
            <a:noFill/>
          </a:ln>
        </p:spPr>
        <p:txBody>
          <a:bodyPr/>
          <a:lstStyle/>
          <a:p>
            <a:endParaRPr lang="en-US"/>
          </a:p>
        </p:txBody>
      </p:sp>
      <p:pic>
        <p:nvPicPr>
          <p:cNvPr id="2054" name="Picture 34"/>
          <p:cNvPicPr>
            <a:picLocks noChangeAspect="1"/>
          </p:cNvPicPr>
          <p:nvPr userDrawn="1"/>
        </p:nvPicPr>
        <p:blipFill>
          <a:blip r:embed="rId2"/>
          <a:stretch>
            <a:fillRect/>
          </a:stretch>
        </p:blipFill>
        <p:spPr>
          <a:xfrm>
            <a:off x="7467600" y="304800"/>
            <a:ext cx="1416050" cy="454025"/>
          </a:xfrm>
          <a:prstGeom prst="rect">
            <a:avLst/>
          </a:prstGeom>
          <a:noFill/>
          <a:ln w="9525">
            <a:noFill/>
          </a:ln>
        </p:spPr>
      </p:pic>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36" name="Slide Number Placeholder 5"/>
          <p:cNvSpPr>
            <a:spLocks noGrp="1"/>
          </p:cNvSpPr>
          <p:nvPr>
            <p:ph type="sldNum" sz="quarter" idx="4"/>
          </p:nvPr>
        </p:nvSpPr>
        <p:spPr>
          <a:xfrm>
            <a:off x="423863" y="4529138"/>
            <a:ext cx="584200"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3077"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pic>
        <p:nvPicPr>
          <p:cNvPr id="3078" name="Picture 34"/>
          <p:cNvPicPr>
            <a:picLocks noChangeAspect="1"/>
          </p:cNvPicPr>
          <p:nvPr userDrawn="1"/>
        </p:nvPicPr>
        <p:blipFill>
          <a:blip r:embed="rId2"/>
          <a:stretch>
            <a:fillRect/>
          </a:stretch>
        </p:blipFill>
        <p:spPr>
          <a:xfrm>
            <a:off x="7467600" y="125413"/>
            <a:ext cx="1416050" cy="454025"/>
          </a:xfrm>
          <a:prstGeom prst="rect">
            <a:avLst/>
          </a:prstGeom>
          <a:noFill/>
          <a:ln w="9525">
            <a:noFill/>
          </a:ln>
        </p:spPr>
      </p:pic>
      <p:sp>
        <p:nvSpPr>
          <p:cNvPr id="2" name="Title 1"/>
          <p:cNvSpPr>
            <a:spLocks noGrp="1"/>
          </p:cNvSpPr>
          <p:nvPr>
            <p:ph type="title"/>
          </p:nvPr>
        </p:nvSpPr>
        <p:spPr>
          <a:xfrm>
            <a:off x="1945201" y="624110"/>
            <a:ext cx="6589199" cy="1280890"/>
          </a:xfrm>
        </p:spPr>
        <p:txBody>
          <a:bodyPr/>
          <a:lstStyle/>
          <a:p>
            <a:r>
              <a:rPr lang="en-US" dirty="0"/>
              <a:t>Click to edit Master title style</a:t>
            </a:r>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Date Placeholder 3"/>
          <p:cNvSpPr>
            <a:spLocks noGrp="1"/>
          </p:cNvSpPr>
          <p:nvPr>
            <p:ph type="dt" sz="half" idx="2"/>
          </p:nvPr>
        </p:nvSpPr>
        <p:spPr>
          <a:xfrm>
            <a:off x="1943100" y="6103938"/>
            <a:ext cx="952500"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A4BF0F24-9822-4852-94C5-14FFDA0157E7}"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7" name="Footer Placeholder 4"/>
          <p:cNvSpPr>
            <a:spLocks noGrp="1"/>
          </p:cNvSpPr>
          <p:nvPr>
            <p:ph type="ftr" sz="quarter" idx="3"/>
          </p:nvPr>
        </p:nvSpPr>
        <p:spPr>
          <a:xfrm>
            <a:off x="2895600" y="6103938"/>
            <a:ext cx="4876800"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38" name="Slide Number Placeholder 5"/>
          <p:cNvSpPr>
            <a:spLocks noGrp="1"/>
          </p:cNvSpPr>
          <p:nvPr>
            <p:ph type="sldNum" sz="quarter" idx="4"/>
          </p:nvPr>
        </p:nvSpPr>
        <p:spPr>
          <a:xfrm>
            <a:off x="7948613" y="6140450"/>
            <a:ext cx="776288" cy="365125"/>
          </a:xfrm>
          <a:prstGeom prst="rect">
            <a:avLst/>
          </a:prstGeom>
        </p:spPr>
        <p:txBody>
          <a:bodyPr vert="horz" wrap="square" lIns="91440" tIns="45720" rIns="91440" bIns="45720" numCol="1" rtlCol="0" anchor="ctr" anchorCtr="0" compatLnSpc="1"/>
          <a:lstStyle>
            <a:lvl1pPr algn="ctr" fontAlgn="auto">
              <a:spcBef>
                <a:spcPts val="0"/>
              </a:spcBef>
              <a:spcAft>
                <a:spcPts val="0"/>
              </a:spcAft>
              <a:defRPr lang="en-IN" sz="900" kern="1200">
                <a:solidFill>
                  <a:schemeClr val="tx1">
                    <a:tint val="75000"/>
                  </a:schemeClr>
                </a:solidFill>
                <a:latin typeface="+mn-lt"/>
                <a:ea typeface="+mn-ea"/>
                <a:cs typeface="+mn-cs"/>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4101" name="Freeform 11"/>
          <p:cNvSpPr/>
          <p:nvPr/>
        </p:nvSpPr>
        <p:spPr>
          <a:xfrm flipV="1">
            <a:off x="0" y="3167063"/>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Slide Number Placeholder 5"/>
          <p:cNvSpPr txBox="1"/>
          <p:nvPr/>
        </p:nvSpPr>
        <p:spPr>
          <a:xfrm>
            <a:off x="7948613" y="6140450"/>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4103" name="Picture 35"/>
          <p:cNvPicPr>
            <a:picLocks noChangeAspect="1"/>
          </p:cNvPicPr>
          <p:nvPr userDrawn="1"/>
        </p:nvPicPr>
        <p:blipFill>
          <a:blip r:embed="rId2"/>
          <a:stretch>
            <a:fillRect/>
          </a:stretch>
        </p:blipFill>
        <p:spPr>
          <a:xfrm>
            <a:off x="7467600" y="304800"/>
            <a:ext cx="1416050" cy="454025"/>
          </a:xfrm>
          <a:prstGeom prst="rect">
            <a:avLst/>
          </a:prstGeom>
          <a:noFill/>
          <a:ln w="9525">
            <a:noFill/>
          </a:ln>
        </p:spPr>
      </p:pic>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7" name="Date Placeholder 3"/>
          <p:cNvSpPr>
            <a:spLocks noGrp="1"/>
          </p:cNvSpPr>
          <p:nvPr>
            <p:ph type="dt" sz="half" idx="2"/>
          </p:nvPr>
        </p:nvSpPr>
        <p:spPr>
          <a:xfrm>
            <a:off x="1908175" y="6129338"/>
            <a:ext cx="766763"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C51EFF6-FB9F-4E88-846D-A0E2569634EA}"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8" name="Footer Placeholder 4"/>
          <p:cNvSpPr>
            <a:spLocks noGrp="1"/>
          </p:cNvSpPr>
          <p:nvPr>
            <p:ph type="ftr" sz="quarter" idx="3"/>
          </p:nvPr>
        </p:nvSpPr>
        <p:spPr>
          <a:xfrm>
            <a:off x="2674938" y="6129338"/>
            <a:ext cx="5173663"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39" name="Slide Number Placeholder 5"/>
          <p:cNvSpPr>
            <a:spLocks noGrp="1"/>
          </p:cNvSpPr>
          <p:nvPr>
            <p:ph type="sldNum" sz="quarter" idx="4"/>
          </p:nvPr>
        </p:nvSpPr>
        <p:spPr>
          <a:xfrm>
            <a:off x="511175" y="3244850"/>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5125"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Slide Number Placeholder 5"/>
          <p:cNvSpPr txBox="1"/>
          <p:nvPr/>
        </p:nvSpPr>
        <p:spPr>
          <a:xfrm>
            <a:off x="7948613" y="6140450"/>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5127" name="Picture 35"/>
          <p:cNvPicPr>
            <a:picLocks noChangeAspect="1"/>
          </p:cNvPicPr>
          <p:nvPr userDrawn="1"/>
        </p:nvPicPr>
        <p:blipFill>
          <a:blip r:embed="rId2"/>
          <a:stretch>
            <a:fillRect/>
          </a:stretch>
        </p:blipFill>
        <p:spPr>
          <a:xfrm>
            <a:off x="7627938" y="125413"/>
            <a:ext cx="1416050" cy="454025"/>
          </a:xfrm>
          <a:prstGeom prst="rect">
            <a:avLst/>
          </a:prstGeom>
          <a:noFill/>
          <a:ln w="9525">
            <a:noFill/>
          </a:ln>
        </p:spPr>
      </p:pic>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7" name="Date Placeholder 1"/>
          <p:cNvSpPr>
            <a:spLocks noGrp="1"/>
          </p:cNvSpPr>
          <p:nvPr>
            <p:ph type="dt" sz="half" idx="12"/>
          </p:nvPr>
        </p:nvSpPr>
        <p:spPr>
          <a:xfrm>
            <a:off x="1828800" y="6111875"/>
            <a:ext cx="766763"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297B91C6-A360-4486-920B-07236A69ECA6}"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8" name="Footer Placeholder 13"/>
          <p:cNvSpPr>
            <a:spLocks noGrp="1"/>
          </p:cNvSpPr>
          <p:nvPr>
            <p:ph type="ftr" sz="quarter" idx="3"/>
          </p:nvPr>
        </p:nvSpPr>
        <p:spPr>
          <a:xfrm>
            <a:off x="2595563" y="6135688"/>
            <a:ext cx="5064125" cy="365125"/>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39" name="Slide Number Placeholder 14"/>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6149"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Slide Number Placeholder 5"/>
          <p:cNvSpPr txBox="1"/>
          <p:nvPr/>
        </p:nvSpPr>
        <p:spPr>
          <a:xfrm>
            <a:off x="7948613" y="6140450"/>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6151" name="Picture 35"/>
          <p:cNvPicPr>
            <a:picLocks noChangeAspect="1"/>
          </p:cNvPicPr>
          <p:nvPr userDrawn="1"/>
        </p:nvPicPr>
        <p:blipFill>
          <a:blip r:embed="rId2"/>
          <a:stretch>
            <a:fillRect/>
          </a:stretch>
        </p:blipFill>
        <p:spPr>
          <a:xfrm>
            <a:off x="7467600" y="304800"/>
            <a:ext cx="1416050" cy="454025"/>
          </a:xfrm>
          <a:prstGeom prst="rect">
            <a:avLst/>
          </a:prstGeom>
          <a:noFill/>
          <a:ln w="9525">
            <a:noFill/>
          </a:ln>
        </p:spPr>
      </p:pic>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7" name="Slide Number Placeholder 5"/>
          <p:cNvSpPr>
            <a:spLocks noGrp="1"/>
          </p:cNvSpPr>
          <p:nvPr>
            <p:ph type="sldNum" sz="quarter" idx="14"/>
          </p:nvPr>
        </p:nvSpPr>
        <p:spPr>
          <a:xfrm>
            <a:off x="511175" y="787400"/>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
        <p:nvSpPr>
          <p:cNvPr id="38" name="Date Placeholder 1"/>
          <p:cNvSpPr>
            <a:spLocks noGrp="1"/>
          </p:cNvSpPr>
          <p:nvPr>
            <p:ph type="dt" sz="half" idx="12"/>
          </p:nvPr>
        </p:nvSpPr>
        <p:spPr>
          <a:xfrm>
            <a:off x="1943100" y="6156325"/>
            <a:ext cx="876300"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4EE97578-B622-4EDE-ADB7-90441716F8A5}"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9" name="Footer Placeholder 2"/>
          <p:cNvSpPr>
            <a:spLocks noGrp="1"/>
          </p:cNvSpPr>
          <p:nvPr>
            <p:ph type="ftr" sz="quarter" idx="13"/>
          </p:nvPr>
        </p:nvSpPr>
        <p:spPr>
          <a:xfrm>
            <a:off x="2819400" y="6156325"/>
            <a:ext cx="4876800"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7173"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pic>
        <p:nvPicPr>
          <p:cNvPr id="7174" name="Picture 34"/>
          <p:cNvPicPr>
            <a:picLocks noChangeAspect="1"/>
          </p:cNvPicPr>
          <p:nvPr userDrawn="1"/>
        </p:nvPicPr>
        <p:blipFill>
          <a:blip r:embed="rId2"/>
          <a:stretch>
            <a:fillRect/>
          </a:stretch>
        </p:blipFill>
        <p:spPr>
          <a:xfrm>
            <a:off x="7378700" y="165100"/>
            <a:ext cx="1416050" cy="454025"/>
          </a:xfrm>
          <a:prstGeom prst="rect">
            <a:avLst/>
          </a:prstGeom>
          <a:noFill/>
          <a:ln w="9525">
            <a:noFill/>
          </a:ln>
        </p:spPr>
      </p:pic>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6" name="Date Placeholder 1"/>
          <p:cNvSpPr>
            <a:spLocks noGrp="1"/>
          </p:cNvSpPr>
          <p:nvPr>
            <p:ph type="dt" sz="half" idx="2"/>
          </p:nvPr>
        </p:nvSpPr>
        <p:spPr>
          <a:xfrm>
            <a:off x="1943100" y="6156325"/>
            <a:ext cx="876300"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C9B03FA8-0D1D-4DBD-91FA-34D589472BD8}"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7" name="Footer Placeholder 2"/>
          <p:cNvSpPr>
            <a:spLocks noGrp="1"/>
          </p:cNvSpPr>
          <p:nvPr>
            <p:ph type="ftr" sz="quarter" idx="3"/>
          </p:nvPr>
        </p:nvSpPr>
        <p:spPr>
          <a:xfrm>
            <a:off x="2819400" y="6156325"/>
            <a:ext cx="4876800"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38" name="Slide Number Placeholder 5"/>
          <p:cNvSpPr>
            <a:spLocks noGrp="1"/>
          </p:cNvSpPr>
          <p:nvPr>
            <p:ph type="sldNum" sz="quarter" idx="4"/>
          </p:nvPr>
        </p:nvSpPr>
        <p:spPr>
          <a:xfrm>
            <a:off x="7948613" y="6140450"/>
            <a:ext cx="776288" cy="365125"/>
          </a:xfrm>
          <a:prstGeom prst="rect">
            <a:avLst/>
          </a:prstGeom>
        </p:spPr>
        <p:txBody>
          <a:bodyPr vert="horz" wrap="square" lIns="91440" tIns="45720" rIns="91440" bIns="45720" numCol="1" rtlCol="0" anchor="ctr" anchorCtr="0" compatLnSpc="1"/>
          <a:lstStyle>
            <a:lvl1pPr algn="ctr" fontAlgn="auto">
              <a:spcBef>
                <a:spcPts val="0"/>
              </a:spcBef>
              <a:spcAft>
                <a:spcPts val="0"/>
              </a:spcAft>
              <a:defRPr lang="en-IN" sz="900" kern="1200">
                <a:solidFill>
                  <a:schemeClr val="tx1">
                    <a:tint val="75000"/>
                  </a:schemeClr>
                </a:solidFill>
                <a:latin typeface="+mn-lt"/>
                <a:ea typeface="+mn-ea"/>
                <a:cs typeface="+mn-cs"/>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8197"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Slide Number Placeholder 5"/>
          <p:cNvSpPr txBox="1"/>
          <p:nvPr/>
        </p:nvSpPr>
        <p:spPr>
          <a:xfrm>
            <a:off x="7948613" y="6140450"/>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8199" name="Picture 35"/>
          <p:cNvPicPr>
            <a:picLocks noChangeAspect="1"/>
          </p:cNvPicPr>
          <p:nvPr userDrawn="1"/>
        </p:nvPicPr>
        <p:blipFill>
          <a:blip r:embed="rId2"/>
          <a:stretch>
            <a:fillRect/>
          </a:stretch>
        </p:blipFill>
        <p:spPr>
          <a:xfrm>
            <a:off x="7467600" y="304800"/>
            <a:ext cx="1416050" cy="454025"/>
          </a:xfrm>
          <a:prstGeom prst="rect">
            <a:avLst/>
          </a:prstGeom>
          <a:noFill/>
          <a:ln w="9525">
            <a:noFill/>
          </a:ln>
        </p:spPr>
      </p:pic>
      <p:sp>
        <p:nvSpPr>
          <p:cNvPr id="37" name="Date Placeholder 1"/>
          <p:cNvSpPr>
            <a:spLocks noGrp="1"/>
          </p:cNvSpPr>
          <p:nvPr>
            <p:ph type="dt" sz="half" idx="2"/>
          </p:nvPr>
        </p:nvSpPr>
        <p:spPr>
          <a:xfrm>
            <a:off x="1943100" y="6156325"/>
            <a:ext cx="876300"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296EC54A-439F-4F7D-B89E-D2B4329EC00F}"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8" name="Footer Placeholder 2"/>
          <p:cNvSpPr>
            <a:spLocks noGrp="1"/>
          </p:cNvSpPr>
          <p:nvPr>
            <p:ph type="ftr" sz="quarter" idx="3"/>
          </p:nvPr>
        </p:nvSpPr>
        <p:spPr>
          <a:xfrm>
            <a:off x="2819400" y="6156325"/>
            <a:ext cx="5029200"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39" name="Slide Number Placeholder 3"/>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9221"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Slide Number Placeholder 5"/>
          <p:cNvSpPr txBox="1"/>
          <p:nvPr/>
        </p:nvSpPr>
        <p:spPr>
          <a:xfrm>
            <a:off x="7948613" y="6140450"/>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9223" name="Picture 35"/>
          <p:cNvPicPr>
            <a:picLocks noChangeAspect="1"/>
          </p:cNvPicPr>
          <p:nvPr userDrawn="1"/>
        </p:nvPicPr>
        <p:blipFill>
          <a:blip r:embed="rId2"/>
          <a:stretch>
            <a:fillRect/>
          </a:stretch>
        </p:blipFill>
        <p:spPr>
          <a:xfrm>
            <a:off x="7627938" y="58738"/>
            <a:ext cx="1416050" cy="455612"/>
          </a:xfrm>
          <a:prstGeom prst="rect">
            <a:avLst/>
          </a:prstGeom>
          <a:noFill/>
          <a:ln w="9525">
            <a:noFill/>
          </a:ln>
        </p:spPr>
      </p:pic>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7" name="Slide Number Placeholder 6"/>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
        <p:nvSpPr>
          <p:cNvPr id="38" name="Date Placeholder 1"/>
          <p:cNvSpPr>
            <a:spLocks noGrp="1"/>
          </p:cNvSpPr>
          <p:nvPr>
            <p:ph type="dt" sz="half" idx="12"/>
          </p:nvPr>
        </p:nvSpPr>
        <p:spPr>
          <a:xfrm>
            <a:off x="1943100" y="6156325"/>
            <a:ext cx="876300"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290FA49-AE4E-4E10-8D9A-5AFC2F58E9D8}"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Footer Placeholder 2"/>
          <p:cNvSpPr>
            <a:spLocks noGrp="1"/>
          </p:cNvSpPr>
          <p:nvPr>
            <p:ph type="ftr" sz="quarter" idx="3"/>
          </p:nvPr>
        </p:nvSpPr>
        <p:spPr>
          <a:xfrm>
            <a:off x="2819400" y="6156325"/>
            <a:ext cx="5029200"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0245" name="Freeform 11"/>
          <p:cNvSpPr/>
          <p:nvPr/>
        </p:nvSpPr>
        <p:spPr>
          <a:xfrm flipV="1">
            <a:off x="0" y="4910138"/>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6"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p>
        </p:txBody>
      </p:sp>
      <p:sp>
        <p:nvSpPr>
          <p:cNvPr id="37"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vert="horz" wrap="square" lIns="91440" tIns="45720" rIns="91440" bIns="45720" numCol="1" rtlCol="0" anchor="t" anchorCtr="0" compatLnSpc="1">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marR="0" lvl="0" indent="0" algn="ctr" defTabSz="457200" rtl="0" eaLnBrk="0" fontAlgn="base" latinLnBrk="0" hangingPunct="0">
              <a:lnSpc>
                <a:spcPct val="100000"/>
              </a:lnSpc>
              <a:spcBef>
                <a:spcPts val="1000"/>
              </a:spcBef>
              <a:spcAft>
                <a:spcPct val="0"/>
              </a:spcAft>
              <a:buClr>
                <a:schemeClr val="accent1"/>
              </a:buClr>
              <a:buSzTx/>
              <a:buFont typeface="Wingdings 3" panose="05040102010807070707" pitchFamily="18" charset="2"/>
              <a:buNone/>
              <a:defRPr/>
            </a:pPr>
            <a:r>
              <a:rPr kumimoji="0" lang="en-US" sz="1600" b="0" i="0" u="none" strike="noStrike" kern="1200" cap="none" spc="0" normalizeH="0" baseline="0" noProof="0">
                <a:ln>
                  <a:noFill/>
                </a:ln>
                <a:solidFill>
                  <a:srgbClr val="404040"/>
                </a:solidFill>
                <a:effectLst/>
                <a:uLnTx/>
                <a:uFillTx/>
                <a:latin typeface="+mn-lt"/>
                <a:ea typeface="+mn-ea"/>
                <a:cs typeface="+mn-cs"/>
              </a:rPr>
              <a:t>Click icon to add picture</a:t>
            </a:r>
            <a:endParaRPr kumimoji="0" lang="en-US" sz="1600" b="0" i="0" u="none" strike="noStrike" kern="1200" cap="none" spc="0" normalizeH="0" baseline="0" noProof="0" dirty="0">
              <a:ln>
                <a:noFill/>
              </a:ln>
              <a:solidFill>
                <a:srgbClr val="404040"/>
              </a:solidFill>
              <a:effectLst/>
              <a:uLnTx/>
              <a:uFillTx/>
              <a:latin typeface="+mn-lt"/>
              <a:ea typeface="+mn-ea"/>
              <a:cs typeface="+mn-cs"/>
            </a:endParaRPr>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8" name="Slide Number Placeholder 6"/>
          <p:cNvSpPr>
            <a:spLocks noGrp="1"/>
          </p:cNvSpPr>
          <p:nvPr>
            <p:ph type="sldNum" sz="quarter" idx="4"/>
          </p:nvPr>
        </p:nvSpPr>
        <p:spPr>
          <a:xfrm>
            <a:off x="511175" y="4983163"/>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1269" name="Freeform 11"/>
          <p:cNvSpPr/>
          <p:nvPr/>
        </p:nvSpPr>
        <p:spPr>
          <a:xfrm flipV="1">
            <a:off x="0" y="3167063"/>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6"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p>
        </p:txBody>
      </p:sp>
      <p:sp>
        <p:nvSpPr>
          <p:cNvPr id="37"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11273" name="Picture 37"/>
          <p:cNvPicPr>
            <a:picLocks noChangeAspect="1"/>
          </p:cNvPicPr>
          <p:nvPr userDrawn="1"/>
        </p:nvPicPr>
        <p:blipFill>
          <a:blip r:embed="rId2"/>
          <a:stretch>
            <a:fillRect/>
          </a:stretch>
        </p:blipFill>
        <p:spPr>
          <a:xfrm>
            <a:off x="7315200" y="38100"/>
            <a:ext cx="1416050" cy="454025"/>
          </a:xfrm>
          <a:prstGeom prst="rect">
            <a:avLst/>
          </a:prstGeom>
          <a:noFill/>
          <a:ln w="9525">
            <a:noFill/>
          </a:ln>
        </p:spPr>
      </p:pic>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9" name="Slide Number Placeholder 5"/>
          <p:cNvSpPr>
            <a:spLocks noGrp="1"/>
          </p:cNvSpPr>
          <p:nvPr>
            <p:ph type="sldNum" sz="quarter" idx="4"/>
          </p:nvPr>
        </p:nvSpPr>
        <p:spPr>
          <a:xfrm>
            <a:off x="511175" y="3244850"/>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2293" name="Freeform 11"/>
          <p:cNvSpPr/>
          <p:nvPr/>
        </p:nvSpPr>
        <p:spPr>
          <a:xfrm flipV="1">
            <a:off x="0" y="3167063"/>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TextBox 34"/>
          <p:cNvSpPr txBox="1">
            <a:spLocks noChangeArrowheads="1"/>
          </p:cNvSpPr>
          <p:nvPr/>
        </p:nvSpPr>
        <p:spPr bwMode="auto">
          <a:xfrm>
            <a:off x="1808163" y="647700"/>
            <a:ext cx="457200" cy="585788"/>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rPr>
              <a:t>“</a:t>
            </a:r>
          </a:p>
        </p:txBody>
      </p:sp>
      <p:sp>
        <p:nvSpPr>
          <p:cNvPr id="36" name="TextBox 62"/>
          <p:cNvSpPr txBox="1">
            <a:spLocks noChangeArrowheads="1"/>
          </p:cNvSpPr>
          <p:nvPr/>
        </p:nvSpPr>
        <p:spPr bwMode="auto">
          <a:xfrm>
            <a:off x="8169275" y="2905125"/>
            <a:ext cx="457200" cy="584200"/>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rPr>
              <a:t>”</a:t>
            </a:r>
          </a:p>
        </p:txBody>
      </p:sp>
      <p:sp>
        <p:nvSpPr>
          <p:cNvPr id="37"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8"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p>
        </p:txBody>
      </p:sp>
      <p:sp>
        <p:nvSpPr>
          <p:cNvPr id="39"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12299" name="Picture 39"/>
          <p:cNvPicPr>
            <a:picLocks noChangeAspect="1"/>
          </p:cNvPicPr>
          <p:nvPr userDrawn="1"/>
        </p:nvPicPr>
        <p:blipFill>
          <a:blip r:embed="rId2"/>
          <a:stretch>
            <a:fillRect/>
          </a:stretch>
        </p:blipFill>
        <p:spPr>
          <a:xfrm>
            <a:off x="7315200" y="38100"/>
            <a:ext cx="1416050" cy="454025"/>
          </a:xfrm>
          <a:prstGeom prst="rect">
            <a:avLst/>
          </a:prstGeom>
          <a:noFill/>
          <a:ln w="9525">
            <a:noFill/>
          </a:ln>
        </p:spPr>
      </p:pic>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1" name="Slide Number Placeholder 5"/>
          <p:cNvSpPr>
            <a:spLocks noGrp="1"/>
          </p:cNvSpPr>
          <p:nvPr>
            <p:ph type="sldNum" sz="quarter" idx="4"/>
          </p:nvPr>
        </p:nvSpPr>
        <p:spPr>
          <a:xfrm>
            <a:off x="511175" y="3244850"/>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
        <p:nvSpPr>
          <p:cNvPr id="4" name="Date Placeholder 3"/>
          <p:cNvSpPr>
            <a:spLocks noGrp="1"/>
          </p:cNvSpPr>
          <p:nvPr>
            <p:ph type="dt" sz="half" idx="1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3317" name="Freeform 11"/>
          <p:cNvSpPr/>
          <p:nvPr/>
        </p:nvSpPr>
        <p:spPr>
          <a:xfrm flipV="1">
            <a:off x="0" y="4910138"/>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rtlCol="0">
            <a:normAutofit/>
          </a:bodyPr>
          <a:lstStyle>
            <a:lvl1pPr>
              <a:buNone/>
              <a:defRPr lang="en-US">
                <a:solidFill>
                  <a:schemeClr val="tx1">
                    <a:lumMod val="65000"/>
                    <a:lumOff val="35000"/>
                  </a:schemeClr>
                </a:solidFill>
              </a:defRPr>
            </a:lvl1pPr>
          </a:lstStyle>
          <a:p>
            <a:pPr lvl="0"/>
            <a:r>
              <a:rPr lang="en-US"/>
              <a:t>Click to edit Master text styles</a:t>
            </a:r>
          </a:p>
        </p:txBody>
      </p:sp>
      <p:sp>
        <p:nvSpPr>
          <p:cNvPr id="35" name="Slide Number Placeholder 6"/>
          <p:cNvSpPr>
            <a:spLocks noGrp="1"/>
          </p:cNvSpPr>
          <p:nvPr>
            <p:ph type="sldNum" sz="quarter" idx="4"/>
          </p:nvPr>
        </p:nvSpPr>
        <p:spPr>
          <a:xfrm>
            <a:off x="511175" y="4983163"/>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
        <p:nvSpPr>
          <p:cNvPr id="3" name="Date Placeholder 2"/>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4341" name="Freeform 11"/>
          <p:cNvSpPr/>
          <p:nvPr/>
        </p:nvSpPr>
        <p:spPr>
          <a:xfrm flipV="1">
            <a:off x="0" y="4910138"/>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TextBox 34"/>
          <p:cNvSpPr txBox="1">
            <a:spLocks noChangeArrowheads="1"/>
          </p:cNvSpPr>
          <p:nvPr/>
        </p:nvSpPr>
        <p:spPr bwMode="auto">
          <a:xfrm>
            <a:off x="1808163" y="647700"/>
            <a:ext cx="457200" cy="585788"/>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rPr>
              <a:t>“</a:t>
            </a:r>
          </a:p>
        </p:txBody>
      </p:sp>
      <p:sp>
        <p:nvSpPr>
          <p:cNvPr id="36" name="TextBox 62"/>
          <p:cNvSpPr txBox="1">
            <a:spLocks noChangeArrowheads="1"/>
          </p:cNvSpPr>
          <p:nvPr/>
        </p:nvSpPr>
        <p:spPr bwMode="auto">
          <a:xfrm>
            <a:off x="8169275" y="2905125"/>
            <a:ext cx="457200" cy="584200"/>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rPr>
              <a:t>”</a:t>
            </a:r>
          </a:p>
        </p:txBody>
      </p:sp>
      <p:sp>
        <p:nvSpPr>
          <p:cNvPr id="37"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8"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p>
        </p:txBody>
      </p:sp>
      <p:sp>
        <p:nvSpPr>
          <p:cNvPr id="39"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rtlCol="0">
            <a:normAutofit/>
          </a:bodyPr>
          <a:lstStyle>
            <a:lvl1pPr>
              <a:buNone/>
              <a:defRPr lang="en-US">
                <a:solidFill>
                  <a:schemeClr val="tx1">
                    <a:lumMod val="65000"/>
                    <a:lumOff val="35000"/>
                  </a:schemeClr>
                </a:solidFill>
              </a:defRPr>
            </a:lvl1pPr>
          </a:lstStyle>
          <a:p>
            <a:pPr lvl="0"/>
            <a:r>
              <a:rPr lang="en-US"/>
              <a:t>Click to edit Master text styles</a:t>
            </a:r>
          </a:p>
        </p:txBody>
      </p:sp>
      <p:sp>
        <p:nvSpPr>
          <p:cNvPr id="40" name="Slide Number Placeholder 6"/>
          <p:cNvSpPr>
            <a:spLocks noGrp="1"/>
          </p:cNvSpPr>
          <p:nvPr>
            <p:ph type="sldNum" sz="quarter" idx="4"/>
          </p:nvPr>
        </p:nvSpPr>
        <p:spPr>
          <a:xfrm>
            <a:off x="511175" y="4983163"/>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
        <p:nvSpPr>
          <p:cNvPr id="2" name="Date Placeholder 1"/>
          <p:cNvSpPr>
            <a:spLocks noGrp="1"/>
          </p:cNvSpPr>
          <p:nvPr>
            <p:ph type="dt" sz="half" idx="1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5365" name="Freeform 11"/>
          <p:cNvSpPr/>
          <p:nvPr/>
        </p:nvSpPr>
        <p:spPr>
          <a:xfrm flipV="1">
            <a:off x="0" y="4910138"/>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6"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p>
        </p:txBody>
      </p:sp>
      <p:sp>
        <p:nvSpPr>
          <p:cNvPr id="37"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rtlCol="0">
            <a:normAutofit/>
          </a:bodyPr>
          <a:lstStyle>
            <a:lvl1pPr>
              <a:buNone/>
              <a:defRPr lang="en-US">
                <a:solidFill>
                  <a:schemeClr val="tx1">
                    <a:lumMod val="65000"/>
                    <a:lumOff val="35000"/>
                  </a:schemeClr>
                </a:solidFill>
              </a:defRPr>
            </a:lvl1pPr>
          </a:lstStyle>
          <a:p>
            <a:pPr lvl="0"/>
            <a:r>
              <a:rPr lang="en-US"/>
              <a:t>Click to edit Master text styles</a:t>
            </a:r>
          </a:p>
        </p:txBody>
      </p:sp>
      <p:sp>
        <p:nvSpPr>
          <p:cNvPr id="38" name="Slide Number Placeholder 6"/>
          <p:cNvSpPr>
            <a:spLocks noGrp="1"/>
          </p:cNvSpPr>
          <p:nvPr>
            <p:ph type="sldNum" sz="quarter" idx="4"/>
          </p:nvPr>
        </p:nvSpPr>
        <p:spPr>
          <a:xfrm>
            <a:off x="511175" y="4983163"/>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
        <p:nvSpPr>
          <p:cNvPr id="3" name="Date Placeholder 2"/>
          <p:cNvSpPr>
            <a:spLocks noGrp="1"/>
          </p:cNvSpPr>
          <p:nvPr>
            <p:ph type="dt" sz="half" idx="1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6389"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6"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p>
        </p:txBody>
      </p:sp>
      <p:sp>
        <p:nvSpPr>
          <p:cNvPr id="37"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Slide Number Placeholder 5"/>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7413"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lstStyle/>
          <a:p>
            <a:endParaRPr lang="en-US"/>
          </a:p>
        </p:txBody>
      </p:sp>
      <p:sp>
        <p:nvSpPr>
          <p:cNvPr id="35"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6"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p>
        </p:txBody>
      </p:sp>
      <p:sp>
        <p:nvSpPr>
          <p:cNvPr id="37"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Slide Number Placeholder 5"/>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en-US" altLang="en-US" dirty="0"/>
              <a:t>‹#›</a:t>
            </a:fld>
            <a:endParaRPr lang="en-US" alt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grpSp>
        <p:nvGrpSpPr>
          <p:cNvPr id="1026" name="Group 35"/>
          <p:cNvGrpSpPr/>
          <p:nvPr/>
        </p:nvGrpSpPr>
        <p:grpSpPr>
          <a:xfrm>
            <a:off x="0" y="228600"/>
            <a:ext cx="1981200" cy="6638925"/>
            <a:chOff x="2487613" y="285750"/>
            <a:chExt cx="2428875" cy="5654676"/>
          </a:xfrm>
        </p:grpSpPr>
        <p:sp>
          <p:nvSpPr>
            <p:cNvPr id="1046" name="Freeform 11"/>
            <p:cNvSpPr/>
            <p:nvPr/>
          </p:nvSpPr>
          <p:spPr>
            <a:xfrm>
              <a:off x="2487613" y="2284413"/>
              <a:ext cx="85725" cy="533400"/>
            </a:xfrm>
            <a:custGeom>
              <a:avLst/>
              <a:gdLst/>
              <a:ahLst/>
              <a:cxnLst>
                <a:cxn ang="0">
                  <a:pos x="2147483647" y="2147483647"/>
                </a:cxn>
                <a:cxn ang="0">
                  <a:pos x="2147483647" y="2147483647"/>
                </a:cxn>
                <a:cxn ang="0">
                  <a:pos x="0" y="0"/>
                </a:cxn>
                <a:cxn ang="0">
                  <a:pos x="0" y="2147483647"/>
                </a:cxn>
                <a:cxn ang="0">
                  <a:pos x="2147483647" y="2147483647"/>
                </a:cxn>
                <a:cxn ang="0">
                  <a:pos x="2147483647" y="2147483647"/>
                </a:cxn>
              </a:cxnLst>
              <a:rect l="0" t="0" r="0" b="0"/>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9525">
              <a:noFill/>
            </a:ln>
          </p:spPr>
          <p:txBody>
            <a:bodyPr/>
            <a:lstStyle/>
            <a:p>
              <a:endParaRPr lang="en-US"/>
            </a:p>
          </p:txBody>
        </p:sp>
        <p:sp>
          <p:nvSpPr>
            <p:cNvPr id="1047" name="Freeform 12"/>
            <p:cNvSpPr/>
            <p:nvPr/>
          </p:nvSpPr>
          <p:spPr>
            <a:xfrm>
              <a:off x="2597151" y="2779713"/>
              <a:ext cx="550863" cy="1978025"/>
            </a:xfrm>
            <a:custGeom>
              <a:avLst/>
              <a:gdLst/>
              <a:ahLst/>
              <a:cxnLst>
                <a:cxn ang="0">
                  <a:pos x="2147483647" y="2147483647"/>
                </a:cxn>
                <a:cxn ang="0">
                  <a:pos x="2147483647" y="2147483647"/>
                </a:cxn>
                <a:cxn ang="0">
                  <a:pos x="2147483647" y="2147483647"/>
                </a:cxn>
                <a:cxn ang="0">
                  <a:pos x="2147483647" y="2147483647"/>
                </a:cxn>
                <a:cxn ang="0">
                  <a:pos x="0" y="0"/>
                </a:cxn>
                <a:cxn ang="0">
                  <a:pos x="2147483647" y="2147483647"/>
                </a:cxn>
                <a:cxn ang="0">
                  <a:pos x="2147483647" y="2147483647"/>
                </a:cxn>
              </a:cxnLst>
              <a:rect l="0" t="0" r="0" b="0"/>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9525">
              <a:noFill/>
            </a:ln>
          </p:spPr>
          <p:txBody>
            <a:bodyPr/>
            <a:lstStyle/>
            <a:p>
              <a:endParaRPr lang="en-US"/>
            </a:p>
          </p:txBody>
        </p:sp>
        <p:sp>
          <p:nvSpPr>
            <p:cNvPr id="1048" name="Freeform 13"/>
            <p:cNvSpPr/>
            <p:nvPr/>
          </p:nvSpPr>
          <p:spPr>
            <a:xfrm>
              <a:off x="3175001" y="4730750"/>
              <a:ext cx="519113" cy="1209675"/>
            </a:xfrm>
            <a:custGeom>
              <a:avLst/>
              <a:gdLst/>
              <a:ahLst/>
              <a:cxnLst>
                <a:cxn ang="0">
                  <a:pos x="2147483647" y="2147483647"/>
                </a:cxn>
                <a:cxn ang="0">
                  <a:pos x="0" y="0"/>
                </a:cxn>
                <a:cxn ang="0">
                  <a:pos x="0"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9525">
              <a:noFill/>
            </a:ln>
          </p:spPr>
          <p:txBody>
            <a:bodyPr/>
            <a:lstStyle/>
            <a:p>
              <a:endParaRPr lang="en-US"/>
            </a:p>
          </p:txBody>
        </p:sp>
        <p:sp>
          <p:nvSpPr>
            <p:cNvPr id="1049" name="Freeform 14"/>
            <p:cNvSpPr/>
            <p:nvPr/>
          </p:nvSpPr>
          <p:spPr>
            <a:xfrm>
              <a:off x="3305176" y="5630863"/>
              <a:ext cx="146050" cy="309563"/>
            </a:xfrm>
            <a:custGeom>
              <a:avLst/>
              <a:gdLst/>
              <a:ahLst/>
              <a:cxnLst>
                <a:cxn ang="0">
                  <a:pos x="2147483647" y="2147483647"/>
                </a:cxn>
                <a:cxn ang="0">
                  <a:pos x="2147483647" y="2147483647"/>
                </a:cxn>
                <a:cxn ang="0">
                  <a:pos x="0" y="0"/>
                </a:cxn>
                <a:cxn ang="0">
                  <a:pos x="2147483647" y="2147483647"/>
                </a:cxn>
              </a:cxnLst>
              <a:rect l="0" t="0" r="0" b="0"/>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9525">
              <a:noFill/>
            </a:ln>
          </p:spPr>
          <p:txBody>
            <a:bodyPr/>
            <a:lstStyle/>
            <a:p>
              <a:endParaRPr lang="en-US"/>
            </a:p>
          </p:txBody>
        </p:sp>
        <p:sp>
          <p:nvSpPr>
            <p:cNvPr id="1050" name="Freeform 15"/>
            <p:cNvSpPr/>
            <p:nvPr/>
          </p:nvSpPr>
          <p:spPr>
            <a:xfrm>
              <a:off x="2573338" y="2817813"/>
              <a:ext cx="700088" cy="2835275"/>
            </a:xfrm>
            <a:custGeom>
              <a:avLst/>
              <a:gdLst/>
              <a:ahLst/>
              <a:cxnLst>
                <a:cxn ang="0">
                  <a:pos x="2147483647" y="2147483647"/>
                </a:cxn>
                <a:cxn ang="0">
                  <a:pos x="2147483647" y="2147483647"/>
                </a:cxn>
                <a:cxn ang="0">
                  <a:pos x="2147483647" y="2147483647"/>
                </a:cxn>
                <a:cxn ang="0">
                  <a:pos x="2147483647" y="2147483647"/>
                </a:cxn>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9525">
              <a:noFill/>
            </a:ln>
          </p:spPr>
          <p:txBody>
            <a:bodyPr/>
            <a:lstStyle/>
            <a:p>
              <a:endParaRPr lang="en-US"/>
            </a:p>
          </p:txBody>
        </p:sp>
        <p:sp>
          <p:nvSpPr>
            <p:cNvPr id="1051" name="Freeform 16"/>
            <p:cNvSpPr/>
            <p:nvPr/>
          </p:nvSpPr>
          <p:spPr>
            <a:xfrm>
              <a:off x="2506663" y="285750"/>
              <a:ext cx="90488" cy="249396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0"/>
                </a:cxn>
                <a:cxn ang="0">
                  <a:pos x="2147483647" y="2147483647"/>
                </a:cxn>
                <a:cxn ang="0">
                  <a:pos x="2147483647" y="2147483647"/>
                </a:cxn>
              </a:cxnLst>
              <a:rect l="0" t="0" r="0" b="0"/>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9525">
              <a:noFill/>
            </a:ln>
          </p:spPr>
          <p:txBody>
            <a:bodyPr/>
            <a:lstStyle/>
            <a:p>
              <a:endParaRPr lang="en-US"/>
            </a:p>
          </p:txBody>
        </p:sp>
        <p:sp>
          <p:nvSpPr>
            <p:cNvPr id="1052" name="Freeform 17"/>
            <p:cNvSpPr/>
            <p:nvPr/>
          </p:nvSpPr>
          <p:spPr>
            <a:xfrm>
              <a:off x="2554288" y="2598738"/>
              <a:ext cx="66675" cy="420688"/>
            </a:xfrm>
            <a:custGeom>
              <a:avLst/>
              <a:gdLst/>
              <a:ahLst/>
              <a:cxnLst>
                <a:cxn ang="0">
                  <a:pos x="0" y="0"/>
                </a:cxn>
                <a:cxn ang="0">
                  <a:pos x="2147483647" y="2147483647"/>
                </a:cxn>
                <a:cxn ang="0">
                  <a:pos x="2147483647" y="2147483647"/>
                </a:cxn>
                <a:cxn ang="0">
                  <a:pos x="2147483647" y="2147483647"/>
                </a:cxn>
                <a:cxn ang="0">
                  <a:pos x="2147483647" y="2147483647"/>
                </a:cxn>
                <a:cxn ang="0">
                  <a:pos x="0" y="0"/>
                </a:cxn>
              </a:cxnLst>
              <a:rect l="0" t="0" r="0" b="0"/>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9525">
              <a:noFill/>
            </a:ln>
          </p:spPr>
          <p:txBody>
            <a:bodyPr/>
            <a:lstStyle/>
            <a:p>
              <a:endParaRPr lang="en-US"/>
            </a:p>
          </p:txBody>
        </p:sp>
        <p:sp>
          <p:nvSpPr>
            <p:cNvPr id="1053" name="Freeform 18"/>
            <p:cNvSpPr/>
            <p:nvPr/>
          </p:nvSpPr>
          <p:spPr>
            <a:xfrm>
              <a:off x="3143251" y="4757738"/>
              <a:ext cx="161925" cy="873125"/>
            </a:xfrm>
            <a:custGeom>
              <a:avLst/>
              <a:gdLst/>
              <a:ahLst/>
              <a:cxnLst>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0"/>
                </a:cxn>
              </a:cxnLst>
              <a:rect l="0" t="0" r="0" b="0"/>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9525">
              <a:noFill/>
            </a:ln>
          </p:spPr>
          <p:txBody>
            <a:bodyPr/>
            <a:lstStyle/>
            <a:p>
              <a:endParaRPr lang="en-US"/>
            </a:p>
          </p:txBody>
        </p:sp>
        <p:sp>
          <p:nvSpPr>
            <p:cNvPr id="1054" name="Freeform 19"/>
            <p:cNvSpPr/>
            <p:nvPr/>
          </p:nvSpPr>
          <p:spPr>
            <a:xfrm>
              <a:off x="3148013" y="1282700"/>
              <a:ext cx="1768475" cy="34480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Lst>
              <a:rect l="0" t="0" r="0" b="0"/>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9525">
              <a:noFill/>
            </a:ln>
          </p:spPr>
          <p:txBody>
            <a:bodyPr/>
            <a:lstStyle/>
            <a:p>
              <a:endParaRPr lang="en-US"/>
            </a:p>
          </p:txBody>
        </p:sp>
        <p:sp>
          <p:nvSpPr>
            <p:cNvPr id="1055" name="Freeform 20"/>
            <p:cNvSpPr/>
            <p:nvPr/>
          </p:nvSpPr>
          <p:spPr>
            <a:xfrm>
              <a:off x="3273426" y="5653088"/>
              <a:ext cx="138113" cy="287338"/>
            </a:xfrm>
            <a:custGeom>
              <a:avLst/>
              <a:gdLst/>
              <a:ahLst/>
              <a:cxnLst>
                <a:cxn ang="0">
                  <a:pos x="0" y="0"/>
                </a:cxn>
                <a:cxn ang="0">
                  <a:pos x="2147483647" y="2147483647"/>
                </a:cxn>
                <a:cxn ang="0">
                  <a:pos x="2147483647" y="2147483647"/>
                </a:cxn>
                <a:cxn ang="0">
                  <a:pos x="0" y="0"/>
                </a:cxn>
              </a:cxnLst>
              <a:rect l="0" t="0" r="0" b="0"/>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9525">
              <a:noFill/>
            </a:ln>
          </p:spPr>
          <p:txBody>
            <a:bodyPr/>
            <a:lstStyle/>
            <a:p>
              <a:endParaRPr lang="en-US"/>
            </a:p>
          </p:txBody>
        </p:sp>
        <p:sp>
          <p:nvSpPr>
            <p:cNvPr id="1056" name="Freeform 21"/>
            <p:cNvSpPr/>
            <p:nvPr/>
          </p:nvSpPr>
          <p:spPr>
            <a:xfrm>
              <a:off x="3143251" y="4656138"/>
              <a:ext cx="31750" cy="188913"/>
            </a:xfrm>
            <a:custGeom>
              <a:avLst/>
              <a:gdLst/>
              <a:ahLst/>
              <a:cxnLst>
                <a:cxn ang="0">
                  <a:pos x="2147483647" y="2147483647"/>
                </a:cxn>
                <a:cxn ang="0">
                  <a:pos x="2147483647" y="2147483647"/>
                </a:cxn>
                <a:cxn ang="0">
                  <a:pos x="2147483647" y="2147483647"/>
                </a:cxn>
                <a:cxn ang="0">
                  <a:pos x="2147483647" y="0"/>
                </a:cxn>
                <a:cxn ang="0">
                  <a:pos x="0" y="2147483647"/>
                </a:cxn>
                <a:cxn ang="0">
                  <a:pos x="2147483647" y="2147483647"/>
                </a:cxn>
              </a:cxnLst>
              <a:rect l="0" t="0" r="0" b="0"/>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9525">
              <a:noFill/>
            </a:ln>
          </p:spPr>
          <p:txBody>
            <a:bodyPr/>
            <a:lstStyle/>
            <a:p>
              <a:endParaRPr lang="en-US"/>
            </a:p>
          </p:txBody>
        </p:sp>
        <p:sp>
          <p:nvSpPr>
            <p:cNvPr id="1057" name="Freeform 22"/>
            <p:cNvSpPr/>
            <p:nvPr/>
          </p:nvSpPr>
          <p:spPr>
            <a:xfrm>
              <a:off x="3211513" y="5410200"/>
              <a:ext cx="203200" cy="530225"/>
            </a:xfrm>
            <a:custGeom>
              <a:avLst/>
              <a:gdLst/>
              <a:ahLst/>
              <a:cxnLst>
                <a:cxn ang="0">
                  <a:pos x="2147483647" y="2147483647"/>
                </a:cxn>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9525">
              <a:noFill/>
            </a:ln>
          </p:spPr>
          <p:txBody>
            <a:bodyPr/>
            <a:lstStyle/>
            <a:p>
              <a:endParaRPr lang="en-US"/>
            </a:p>
          </p:txBody>
        </p:sp>
      </p:grpSp>
      <p:grpSp>
        <p:nvGrpSpPr>
          <p:cNvPr id="1027" name="Group 48"/>
          <p:cNvGrpSpPr/>
          <p:nvPr/>
        </p:nvGrpSpPr>
        <p:grpSpPr>
          <a:xfrm>
            <a:off x="20638" y="0"/>
            <a:ext cx="1952625" cy="6853238"/>
            <a:chOff x="6627813" y="196102"/>
            <a:chExt cx="1952625" cy="5677649"/>
          </a:xfrm>
        </p:grpSpPr>
        <p:sp>
          <p:nvSpPr>
            <p:cNvPr id="1034" name="Freeform 27"/>
            <p:cNvSpPr/>
            <p:nvPr/>
          </p:nvSpPr>
          <p:spPr>
            <a:xfrm>
              <a:off x="6627813" y="196102"/>
              <a:ext cx="409575" cy="3646488"/>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0" y="0"/>
                </a:cxn>
                <a:cxn ang="0">
                  <a:pos x="2147483647" y="2147483647"/>
                </a:cxn>
                <a:cxn ang="0">
                  <a:pos x="2147483647" y="2147483647"/>
                </a:cxn>
              </a:cxnLst>
              <a:rect l="0" t="0" r="0" b="0"/>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alpha val="100000"/>
              </a:schemeClr>
            </a:solidFill>
            <a:ln w="9525">
              <a:noFill/>
            </a:ln>
          </p:spPr>
          <p:txBody>
            <a:bodyPr/>
            <a:lstStyle/>
            <a:p>
              <a:endParaRPr lang="en-US"/>
            </a:p>
          </p:txBody>
        </p:sp>
        <p:sp>
          <p:nvSpPr>
            <p:cNvPr id="1035" name="Freeform 28"/>
            <p:cNvSpPr/>
            <p:nvPr/>
          </p:nvSpPr>
          <p:spPr>
            <a:xfrm>
              <a:off x="7061201" y="3771900"/>
              <a:ext cx="350838" cy="1309688"/>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0" y="0"/>
                </a:cxn>
                <a:cxn ang="0">
                  <a:pos x="2147483647" y="2147483647"/>
                </a:cxn>
                <a:cxn ang="0">
                  <a:pos x="2147483647" y="2147483647"/>
                </a:cxn>
              </a:cxnLst>
              <a:rect l="0" t="0" r="0" b="0"/>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alpha val="100000"/>
              </a:schemeClr>
            </a:solidFill>
            <a:ln w="9525">
              <a:noFill/>
            </a:ln>
          </p:spPr>
          <p:txBody>
            <a:bodyPr/>
            <a:lstStyle/>
            <a:p>
              <a:endParaRPr lang="en-US"/>
            </a:p>
          </p:txBody>
        </p:sp>
        <p:sp>
          <p:nvSpPr>
            <p:cNvPr id="1036" name="Freeform 29"/>
            <p:cNvSpPr/>
            <p:nvPr/>
          </p:nvSpPr>
          <p:spPr>
            <a:xfrm>
              <a:off x="7439026" y="5053013"/>
              <a:ext cx="357188" cy="820738"/>
            </a:xfrm>
            <a:custGeom>
              <a:avLst/>
              <a:gdLst/>
              <a:ahLst/>
              <a:cxnLst>
                <a:cxn ang="0">
                  <a:pos x="2147483647" y="2147483647"/>
                </a:cxn>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alpha val="100000"/>
              </a:schemeClr>
            </a:solidFill>
            <a:ln w="9525">
              <a:noFill/>
            </a:ln>
          </p:spPr>
          <p:txBody>
            <a:bodyPr/>
            <a:lstStyle/>
            <a:p>
              <a:endParaRPr lang="en-US"/>
            </a:p>
          </p:txBody>
        </p:sp>
        <p:sp>
          <p:nvSpPr>
            <p:cNvPr id="1037" name="Freeform 30"/>
            <p:cNvSpPr/>
            <p:nvPr/>
          </p:nvSpPr>
          <p:spPr>
            <a:xfrm>
              <a:off x="7037388" y="3811588"/>
              <a:ext cx="457200" cy="1852613"/>
            </a:xfrm>
            <a:custGeom>
              <a:avLst/>
              <a:gdLst/>
              <a:ahLst/>
              <a:cxnLst>
                <a:cxn ang="0">
                  <a:pos x="2147483647" y="2147483647"/>
                </a:cxn>
                <a:cxn ang="0">
                  <a:pos x="2147483647" y="2147483647"/>
                </a:cxn>
                <a:cxn ang="0">
                  <a:pos x="2147483647" y="2147483647"/>
                </a:cxn>
                <a:cxn ang="0">
                  <a:pos x="2147483647" y="2147483647"/>
                </a:cxn>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alpha val="100000"/>
              </a:schemeClr>
            </a:solidFill>
            <a:ln w="9525">
              <a:noFill/>
            </a:ln>
          </p:spPr>
          <p:txBody>
            <a:bodyPr/>
            <a:lstStyle/>
            <a:p>
              <a:endParaRPr lang="en-US"/>
            </a:p>
          </p:txBody>
        </p:sp>
        <p:sp>
          <p:nvSpPr>
            <p:cNvPr id="1038" name="Freeform 31"/>
            <p:cNvSpPr/>
            <p:nvPr/>
          </p:nvSpPr>
          <p:spPr>
            <a:xfrm>
              <a:off x="6992938" y="1263650"/>
              <a:ext cx="144463" cy="25082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alpha val="100000"/>
              </a:schemeClr>
            </a:solidFill>
            <a:ln w="9525">
              <a:noFill/>
            </a:ln>
          </p:spPr>
          <p:txBody>
            <a:bodyPr/>
            <a:lstStyle/>
            <a:p>
              <a:endParaRPr lang="en-US"/>
            </a:p>
          </p:txBody>
        </p:sp>
        <p:sp>
          <p:nvSpPr>
            <p:cNvPr id="1039" name="Freeform 32"/>
            <p:cNvSpPr/>
            <p:nvPr/>
          </p:nvSpPr>
          <p:spPr>
            <a:xfrm>
              <a:off x="7526338" y="5640388"/>
              <a:ext cx="111125" cy="233363"/>
            </a:xfrm>
            <a:custGeom>
              <a:avLst/>
              <a:gdLst/>
              <a:ahLst/>
              <a:cxnLst>
                <a:cxn ang="0">
                  <a:pos x="2147483647" y="2147483647"/>
                </a:cxn>
                <a:cxn ang="0">
                  <a:pos x="2147483647" y="2147483647"/>
                </a:cxn>
                <a:cxn ang="0">
                  <a:pos x="0" y="0"/>
                </a:cxn>
                <a:cxn ang="0">
                  <a:pos x="2147483647" y="2147483647"/>
                </a:cxn>
              </a:cxnLst>
              <a:rect l="0" t="0" r="0" b="0"/>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alpha val="100000"/>
              </a:schemeClr>
            </a:solidFill>
            <a:ln w="9525">
              <a:noFill/>
            </a:ln>
          </p:spPr>
          <p:txBody>
            <a:bodyPr/>
            <a:lstStyle/>
            <a:p>
              <a:endParaRPr lang="en-US"/>
            </a:p>
          </p:txBody>
        </p:sp>
        <p:sp>
          <p:nvSpPr>
            <p:cNvPr id="1040" name="Freeform 33"/>
            <p:cNvSpPr/>
            <p:nvPr/>
          </p:nvSpPr>
          <p:spPr>
            <a:xfrm>
              <a:off x="7021513" y="3598863"/>
              <a:ext cx="68263" cy="423863"/>
            </a:xfrm>
            <a:custGeom>
              <a:avLst/>
              <a:gdLst/>
              <a:ahLst/>
              <a:cxnLst>
                <a:cxn ang="0">
                  <a:pos x="2147483647" y="2147483647"/>
                </a:cxn>
                <a:cxn ang="0">
                  <a:pos x="2147483647" y="2147483647"/>
                </a:cxn>
                <a:cxn ang="0">
                  <a:pos x="2147483647" y="2147483647"/>
                </a:cxn>
                <a:cxn ang="0">
                  <a:pos x="2147483647" y="2147483647"/>
                </a:cxn>
                <a:cxn ang="0">
                  <a:pos x="0" y="0"/>
                </a:cxn>
                <a:cxn ang="0">
                  <a:pos x="0" y="2147483647"/>
                </a:cxn>
                <a:cxn ang="0">
                  <a:pos x="2147483647" y="2147483647"/>
                </a:cxn>
              </a:cxnLst>
              <a:rect l="0" t="0" r="0" b="0"/>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alpha val="100000"/>
              </a:schemeClr>
            </a:solidFill>
            <a:ln w="9525">
              <a:noFill/>
            </a:ln>
          </p:spPr>
          <p:txBody>
            <a:bodyPr/>
            <a:lstStyle/>
            <a:p>
              <a:endParaRPr lang="en-US"/>
            </a:p>
          </p:txBody>
        </p:sp>
        <p:sp>
          <p:nvSpPr>
            <p:cNvPr id="1041" name="Freeform 34"/>
            <p:cNvSpPr/>
            <p:nvPr/>
          </p:nvSpPr>
          <p:spPr>
            <a:xfrm>
              <a:off x="7412038" y="2801938"/>
              <a:ext cx="1168400" cy="22510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Lst>
              <a:rect l="0" t="0" r="0" b="0"/>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alpha val="100000"/>
              </a:schemeClr>
            </a:solidFill>
            <a:ln w="9525">
              <a:noFill/>
            </a:ln>
          </p:spPr>
          <p:txBody>
            <a:bodyPr/>
            <a:lstStyle/>
            <a:p>
              <a:endParaRPr lang="en-US"/>
            </a:p>
          </p:txBody>
        </p:sp>
        <p:sp>
          <p:nvSpPr>
            <p:cNvPr id="1042" name="Freeform 35"/>
            <p:cNvSpPr/>
            <p:nvPr/>
          </p:nvSpPr>
          <p:spPr>
            <a:xfrm>
              <a:off x="7494588" y="5664200"/>
              <a:ext cx="100013" cy="209550"/>
            </a:xfrm>
            <a:custGeom>
              <a:avLst/>
              <a:gdLst/>
              <a:ahLst/>
              <a:cxnLst>
                <a:cxn ang="0">
                  <a:pos x="0" y="0"/>
                </a:cxn>
                <a:cxn ang="0">
                  <a:pos x="2147483647" y="2147483647"/>
                </a:cxn>
                <a:cxn ang="0">
                  <a:pos x="2147483647" y="2147483647"/>
                </a:cxn>
                <a:cxn ang="0">
                  <a:pos x="0" y="0"/>
                </a:cxn>
              </a:cxnLst>
              <a:rect l="0" t="0" r="0" b="0"/>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alpha val="100000"/>
              </a:schemeClr>
            </a:solidFill>
            <a:ln w="9525">
              <a:noFill/>
            </a:ln>
          </p:spPr>
          <p:txBody>
            <a:bodyPr/>
            <a:lstStyle/>
            <a:p>
              <a:endParaRPr lang="en-US"/>
            </a:p>
          </p:txBody>
        </p:sp>
        <p:sp>
          <p:nvSpPr>
            <p:cNvPr id="1043" name="Freeform 36"/>
            <p:cNvSpPr/>
            <p:nvPr/>
          </p:nvSpPr>
          <p:spPr>
            <a:xfrm>
              <a:off x="7412038" y="5081588"/>
              <a:ext cx="114300" cy="558800"/>
            </a:xfrm>
            <a:custGeom>
              <a:avLst/>
              <a:gdLst/>
              <a:ahLst/>
              <a:cxnLst>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0"/>
                </a:cxn>
              </a:cxnLst>
              <a:rect l="0" t="0" r="0" b="0"/>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alpha val="100000"/>
              </a:schemeClr>
            </a:solidFill>
            <a:ln w="9525">
              <a:noFill/>
            </a:ln>
          </p:spPr>
          <p:txBody>
            <a:bodyPr/>
            <a:lstStyle/>
            <a:p>
              <a:endParaRPr lang="en-US"/>
            </a:p>
          </p:txBody>
        </p:sp>
        <p:sp>
          <p:nvSpPr>
            <p:cNvPr id="1044" name="Freeform 37"/>
            <p:cNvSpPr/>
            <p:nvPr/>
          </p:nvSpPr>
          <p:spPr>
            <a:xfrm>
              <a:off x="7412038" y="4978400"/>
              <a:ext cx="31750" cy="188913"/>
            </a:xfrm>
            <a:custGeom>
              <a:avLst/>
              <a:gdLst/>
              <a:ahLst/>
              <a:cxnLst>
                <a:cxn ang="0">
                  <a:pos x="0" y="2147483647"/>
                </a:cxn>
                <a:cxn ang="0">
                  <a:pos x="2147483647" y="2147483647"/>
                </a:cxn>
                <a:cxn ang="0">
                  <a:pos x="2147483647" y="2147483647"/>
                </a:cxn>
                <a:cxn ang="0">
                  <a:pos x="2147483647" y="2147483647"/>
                </a:cxn>
                <a:cxn ang="0">
                  <a:pos x="0" y="0"/>
                </a:cxn>
                <a:cxn ang="0">
                  <a:pos x="0" y="2147483647"/>
                </a:cxn>
                <a:cxn ang="0">
                  <a:pos x="0" y="2147483647"/>
                </a:cxn>
              </a:cxnLst>
              <a:rect l="0" t="0" r="0" b="0"/>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alpha val="100000"/>
              </a:schemeClr>
            </a:solidFill>
            <a:ln w="9525">
              <a:noFill/>
            </a:ln>
          </p:spPr>
          <p:txBody>
            <a:bodyPr/>
            <a:lstStyle/>
            <a:p>
              <a:endParaRPr lang="en-US"/>
            </a:p>
          </p:txBody>
        </p:sp>
        <p:sp>
          <p:nvSpPr>
            <p:cNvPr id="1045" name="Freeform 38"/>
            <p:cNvSpPr/>
            <p:nvPr/>
          </p:nvSpPr>
          <p:spPr>
            <a:xfrm>
              <a:off x="7439026" y="5434013"/>
              <a:ext cx="174625" cy="439738"/>
            </a:xfrm>
            <a:custGeom>
              <a:avLst/>
              <a:gdLst/>
              <a:ahLst/>
              <a:cxnLst>
                <a:cxn ang="0">
                  <a:pos x="2147483647" y="2147483647"/>
                </a:cxn>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alpha val="100000"/>
              </a:schemeClr>
            </a:solidFill>
            <a:ln w="9525">
              <a:noFill/>
            </a:ln>
          </p:spPr>
          <p:txBody>
            <a:bodyPr/>
            <a:lstStyle/>
            <a:p>
              <a:endParaRPr lang="en-US"/>
            </a:p>
          </p:txBody>
        </p:sp>
      </p:grpSp>
      <p:sp>
        <p:nvSpPr>
          <p:cNvPr id="62" name="Rectangle 61"/>
          <p:cNvSpPr/>
          <p:nvPr/>
        </p:nvSpPr>
        <p:spPr>
          <a:xfrm>
            <a:off x="0" y="0"/>
            <a:ext cx="182563"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29" name="Title Placeholder 1"/>
          <p:cNvSpPr>
            <a:spLocks noGrp="1"/>
          </p:cNvSpPr>
          <p:nvPr>
            <p:ph type="title"/>
          </p:nvPr>
        </p:nvSpPr>
        <p:spPr>
          <a:xfrm>
            <a:off x="1944688" y="623888"/>
            <a:ext cx="6589712" cy="1281112"/>
          </a:xfrm>
          <a:prstGeom prst="rect">
            <a:avLst/>
          </a:prstGeom>
          <a:noFill/>
          <a:ln w="9525">
            <a:noFill/>
          </a:ln>
        </p:spPr>
        <p:txBody>
          <a:bodyPr/>
          <a:lstStyle/>
          <a:p>
            <a:pPr lvl="0"/>
            <a:r>
              <a:rPr lang="en-US" altLang="en-US" dirty="0"/>
              <a:t>Click to edit Master title style</a:t>
            </a:r>
          </a:p>
        </p:txBody>
      </p:sp>
      <p:sp>
        <p:nvSpPr>
          <p:cNvPr id="1030" name="Text Placeholder 2"/>
          <p:cNvSpPr>
            <a:spLocks noGrp="1"/>
          </p:cNvSpPr>
          <p:nvPr>
            <p:ph type="body" idx="1"/>
          </p:nvPr>
        </p:nvSpPr>
        <p:spPr>
          <a:xfrm>
            <a:off x="1943100" y="2133600"/>
            <a:ext cx="6591300" cy="3886200"/>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7772400" y="6135688"/>
            <a:ext cx="766763" cy="369888"/>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1943100" y="6135688"/>
            <a:ext cx="5716588"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6" name="Slide Number Placeholder 5"/>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lstStyle>
            <a:lvl1pPr algn="r">
              <a:defRPr sz="2000">
                <a:solidFill>
                  <a:srgbClr val="FEFFFF"/>
                </a:solidFill>
              </a:defRPr>
            </a:lvl1pPr>
          </a:lstStyle>
          <a:p>
            <a:pPr lvl="0" eaLnBrk="1" hangingPunct="1"/>
            <a:fld id="{9A0DB2DC-4C9A-4742-B13C-FB6460FD3503}" type="slidenum">
              <a:rPr lang="en-US" altLang="en-US" dirty="0">
                <a:latin typeface="Century Gothic" panose="020B0502020202020204" pitchFamily="34" charset="0"/>
              </a:rPr>
              <a:t>‹#›</a:t>
            </a:fld>
            <a:endParaRPr lang="en-US" altLang="en-US" dirty="0">
              <a:latin typeface="Century Gothic" panose="020B0502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p:txStyles>
    <p:titleStyle>
      <a:lvl1pPr algn="l" defTabSz="457200" rtl="0" eaLnBrk="0" fontAlgn="base" hangingPunct="0">
        <a:spcBef>
          <a:spcPct val="0"/>
        </a:spcBef>
        <a:spcAft>
          <a:spcPct val="0"/>
        </a:spcAft>
        <a:defRPr sz="3600" kern="1200">
          <a:solidFill>
            <a:srgbClr val="1581AA"/>
          </a:solidFill>
          <a:latin typeface="+mj-lt"/>
          <a:ea typeface="+mj-ea"/>
          <a:cs typeface="+mj-cs"/>
        </a:defRPr>
      </a:lvl1pPr>
      <a:lvl2pPr algn="l" defTabSz="457200" rtl="0" eaLnBrk="0" fontAlgn="base" hangingPunct="0">
        <a:spcBef>
          <a:spcPct val="0"/>
        </a:spcBef>
        <a:spcAft>
          <a:spcPct val="0"/>
        </a:spcAft>
        <a:defRPr sz="3600">
          <a:solidFill>
            <a:srgbClr val="1581AA"/>
          </a:solidFill>
          <a:latin typeface="Century Gothic" panose="020B0502020202020204" pitchFamily="34" charset="0"/>
        </a:defRPr>
      </a:lvl2pPr>
      <a:lvl3pPr algn="l" defTabSz="457200" rtl="0" eaLnBrk="0" fontAlgn="base" hangingPunct="0">
        <a:spcBef>
          <a:spcPct val="0"/>
        </a:spcBef>
        <a:spcAft>
          <a:spcPct val="0"/>
        </a:spcAft>
        <a:defRPr sz="3600">
          <a:solidFill>
            <a:srgbClr val="1581AA"/>
          </a:solidFill>
          <a:latin typeface="Century Gothic" panose="020B0502020202020204" pitchFamily="34" charset="0"/>
        </a:defRPr>
      </a:lvl3pPr>
      <a:lvl4pPr algn="l" defTabSz="457200" rtl="0" eaLnBrk="0" fontAlgn="base" hangingPunct="0">
        <a:spcBef>
          <a:spcPct val="0"/>
        </a:spcBef>
        <a:spcAft>
          <a:spcPct val="0"/>
        </a:spcAft>
        <a:defRPr sz="3600">
          <a:solidFill>
            <a:srgbClr val="1581AA"/>
          </a:solidFill>
          <a:latin typeface="Century Gothic" panose="020B0502020202020204" pitchFamily="34" charset="0"/>
        </a:defRPr>
      </a:lvl4pPr>
      <a:lvl5pPr algn="l" defTabSz="457200" rtl="0" eaLnBrk="0" fontAlgn="base" hangingPunct="0">
        <a:spcBef>
          <a:spcPct val="0"/>
        </a:spcBef>
        <a:spcAft>
          <a:spcPct val="0"/>
        </a:spcAft>
        <a:defRPr sz="3600">
          <a:solidFill>
            <a:srgbClr val="1581AA"/>
          </a:solidFill>
          <a:latin typeface="Century Gothic" panose="020B0502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0" fontAlgn="base" hangingPunct="0">
        <a:spcBef>
          <a:spcPts val="1000"/>
        </a:spcBef>
        <a:spcAft>
          <a:spcPct val="0"/>
        </a:spcAft>
        <a:buClr>
          <a:schemeClr val="accent1"/>
        </a:buClr>
        <a:buFont typeface="Wingdings 3" panose="05040102010807070707" pitchFamily="18" charset="2"/>
        <a:buChar char=""/>
        <a:defRPr kern="1200">
          <a:solidFill>
            <a:srgbClr val="404040"/>
          </a:solidFill>
          <a:latin typeface="+mn-lt"/>
          <a:ea typeface="+mn-ea"/>
          <a:cs typeface="+mn-cs"/>
        </a:defRPr>
      </a:lvl1pPr>
      <a:lvl2pPr marL="742950" indent="-285750" algn="l" defTabSz="457200" rtl="0" eaLnBrk="0" fontAlgn="base" hangingPunct="0">
        <a:spcBef>
          <a:spcPts val="1000"/>
        </a:spcBef>
        <a:spcAft>
          <a:spcPct val="0"/>
        </a:spcAft>
        <a:buClr>
          <a:schemeClr val="accent1"/>
        </a:buClr>
        <a:buFont typeface="Wingdings 3" panose="05040102010807070707" pitchFamily="18" charset="2"/>
        <a:buChar char=""/>
        <a:defRPr sz="1600" kern="1200">
          <a:solidFill>
            <a:srgbClr val="404040"/>
          </a:solidFill>
          <a:latin typeface="+mn-lt"/>
          <a:ea typeface="+mn-ea"/>
          <a:cs typeface="+mn-cs"/>
        </a:defRPr>
      </a:lvl2pPr>
      <a:lvl3pPr marL="1143000" indent="-228600" algn="l" defTabSz="457200" rtl="0" eaLnBrk="0" fontAlgn="base" hangingPunct="0">
        <a:spcBef>
          <a:spcPts val="1000"/>
        </a:spcBef>
        <a:spcAft>
          <a:spcPct val="0"/>
        </a:spcAft>
        <a:buClr>
          <a:schemeClr val="accent1"/>
        </a:buClr>
        <a:buFont typeface="Wingdings 3" panose="05040102010807070707" pitchFamily="18" charset="2"/>
        <a:buChar char=""/>
        <a:defRPr sz="1400" kern="1200">
          <a:solidFill>
            <a:srgbClr val="404040"/>
          </a:solidFill>
          <a:latin typeface="+mn-lt"/>
          <a:ea typeface="+mn-ea"/>
          <a:cs typeface="+mn-cs"/>
        </a:defRPr>
      </a:lvl3pPr>
      <a:lvl4pPr marL="1600200" indent="-228600" algn="l" defTabSz="457200" rtl="0" eaLnBrk="0" fontAlgn="base" hangingPunct="0">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4pPr>
      <a:lvl5pPr marL="2057400" indent="-228600" algn="l" defTabSz="457200" rtl="0" eaLnBrk="0" fontAlgn="base" hangingPunct="0">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pitchFamily="18"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pitchFamily="18"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pitchFamily="18"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pitchFamily="18"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876300" y="42863"/>
            <a:ext cx="8153400" cy="858838"/>
          </a:xfrm>
          <a:prstGeom prst="rect">
            <a:avLst/>
          </a:prstGeom>
          <a:solidFill>
            <a:schemeClr val="bg1"/>
          </a:solidFill>
          <a:ln>
            <a:noFill/>
          </a:ln>
          <a:effectLst/>
        </p:spPr>
        <p:txBody>
          <a:bodyPr/>
          <a:lstStyle>
            <a:lvl1pPr marL="0" indent="0" algn="l" rtl="0" eaLnBrk="0" fontAlgn="base" hangingPunct="0">
              <a:spcBef>
                <a:spcPct val="20000"/>
              </a:spcBef>
              <a:spcAft>
                <a:spcPct val="0"/>
              </a:spcAft>
              <a:buClr>
                <a:schemeClr val="accent1"/>
              </a:buClr>
              <a:buSzPct val="65000"/>
              <a:buFont typeface="Wingdings" panose="05000000000000000000" pitchFamily="2" charset="2"/>
              <a:buNone/>
              <a:defRPr sz="2800" kern="12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defRPr/>
            </a:pPr>
            <a:endParaRPr kumimoji="0" lang="en-US" altLang="en-US" sz="2800" b="0" i="0" u="none" strike="noStrike" kern="1200" cap="none" spc="0" normalizeH="0" baseline="0" noProof="0" dirty="0">
              <a:ln>
                <a:noFill/>
              </a:ln>
              <a:solidFill>
                <a:schemeClr val="accent2">
                  <a:lumMod val="50000"/>
                </a:schemeClr>
              </a:solidFill>
              <a:effectLst/>
              <a:uLnTx/>
              <a:uFillTx/>
              <a:latin typeface="+mn-lt"/>
              <a:ea typeface="+mn-ea"/>
              <a:cs typeface="+mn-cs"/>
            </a:endParaRPr>
          </a:p>
        </p:txBody>
      </p:sp>
      <p:sp>
        <p:nvSpPr>
          <p:cNvPr id="18435" name="Rectangle 3"/>
          <p:cNvSpPr>
            <a:spLocks noGrp="1"/>
          </p:cNvSpPr>
          <p:nvPr>
            <p:ph type="subTitle" idx="1"/>
          </p:nvPr>
        </p:nvSpPr>
        <p:spPr>
          <a:xfrm>
            <a:off x="822960" y="2514600"/>
            <a:ext cx="7498079" cy="1325880"/>
          </a:xfrm>
          <a:ln/>
        </p:spPr>
        <p:txBody>
          <a:bodyPr vert="horz" wrap="square" lIns="91440" tIns="45720" rIns="91440" bIns="45720" anchor="ctr" anchorCtr="0">
            <a:noAutofit/>
          </a:bodyPr>
          <a:lstStyle/>
          <a:p>
            <a:pPr algn="ctr" defTabSz="457200" eaLnBrk="1" hangingPunct="1">
              <a:spcAft>
                <a:spcPts val="600"/>
              </a:spcAft>
              <a:buSzTx/>
            </a:pPr>
            <a:r>
              <a:rPr sz="2200" b="1">
                <a:solidFill>
                  <a:srgbClr val="4A0A0A"/>
                </a:solidFill>
                <a:latin typeface="Calibri"/>
              </a:rPr>
              <a:t>SELF-CALIBRATING MULTI-MODAL EDGE AI NODE FOR INDUSTRIAL MACHINE ANOMALY DETECTION</a:t>
            </a:r>
            <a:endParaRPr lang="en-US" altLang="en-US" sz="2800" b="1" kern="1200" dirty="0">
              <a:solidFill>
                <a:srgbClr val="420408"/>
              </a:solidFill>
              <a:latin typeface="Calibri" panose="020F0502020204030204" pitchFamily="34" charset="0"/>
              <a:ea typeface="+mn-ea"/>
              <a:cs typeface="Calibri" panose="020F0502020204030204" pitchFamily="34" charset="0"/>
            </a:endParaRPr>
          </a:p>
          <a:p>
            <a:pPr algn="ctr">
              <a:spcAft>
                <a:spcPts val="600"/>
              </a:spcAft>
            </a:pPr>
            <a:r>
              <a:rPr sz="2000" b="1">
                <a:solidFill>
                  <a:srgbClr val="4A0A0A"/>
                </a:solidFill>
                <a:latin typeface="Calibri"/>
              </a:rPr>
              <a:t>Team No : 163</a:t>
            </a:r>
          </a:p>
        </p:txBody>
      </p:sp>
      <p:sp>
        <p:nvSpPr>
          <p:cNvPr id="18436" name="TextBox 1"/>
          <p:cNvSpPr txBox="1"/>
          <p:nvPr/>
        </p:nvSpPr>
        <p:spPr>
          <a:xfrm>
            <a:off x="2148840" y="4892040"/>
            <a:ext cx="4846320" cy="1371600"/>
          </a:xfrm>
          <a:prstGeom prst="rect">
            <a:avLst/>
          </a:prstGeom>
          <a:noFill/>
          <a:ln w="9525">
            <a:noFill/>
          </a:ln>
        </p:spPr>
        <p:txBody>
          <a:bodyPr>
            <a:spAutoFit/>
          </a:bodyPr>
          <a:lstStyle/>
          <a:p>
            <a:pPr algn="ctr" eaLnBrk="1" hangingPunct="1">
              <a:spcAft>
                <a:spcPts val="0"/>
              </a:spcAft>
            </a:pPr>
            <a:r>
              <a:rPr sz="1400" b="1">
                <a:solidFill>
                  <a:srgbClr val="26323F"/>
                </a:solidFill>
                <a:latin typeface="Calibri"/>
              </a:rPr>
              <a:t>Presented By:</a:t>
            </a:r>
            <a:endParaRPr lang="en-IN" altLang="en-US" b="1" dirty="0">
              <a:latin typeface="Arial" panose="020B0604020202020204" pitchFamily="34" charset="0"/>
            </a:endParaRPr>
          </a:p>
          <a:p>
            <a:pPr algn="ctr">
              <a:spcAft>
                <a:spcPts val="0"/>
              </a:spcAft>
            </a:pPr>
            <a:r>
              <a:rPr sz="1400" b="1">
                <a:solidFill>
                  <a:srgbClr val="26323F"/>
                </a:solidFill>
                <a:latin typeface="Calibri"/>
              </a:rPr>
              <a:t>Nikitha D (ENG23CS0384)</a:t>
            </a:r>
          </a:p>
          <a:p>
            <a:pPr algn="ctr">
              <a:spcAft>
                <a:spcPts val="0"/>
              </a:spcAft>
            </a:pPr>
            <a:r>
              <a:rPr sz="1400" b="1">
                <a:solidFill>
                  <a:srgbClr val="26323F"/>
                </a:solidFill>
                <a:latin typeface="Calibri"/>
              </a:rPr>
              <a:t>Rajika Saha (ENG23CS0415)</a:t>
            </a:r>
          </a:p>
          <a:p>
            <a:pPr algn="ctr">
              <a:spcAft>
                <a:spcPts val="0"/>
              </a:spcAft>
            </a:pPr>
            <a:r>
              <a:rPr sz="1400" b="1">
                <a:solidFill>
                  <a:srgbClr val="26323F"/>
                </a:solidFill>
                <a:latin typeface="Calibri"/>
              </a:rPr>
              <a:t>Monalisa (ENG23CS0368)</a:t>
            </a:r>
          </a:p>
          <a:p>
            <a:pPr algn="ctr">
              <a:spcAft>
                <a:spcPts val="0"/>
              </a:spcAft>
            </a:pPr>
            <a:r>
              <a:rPr sz="1400" b="1">
                <a:solidFill>
                  <a:srgbClr val="26323F"/>
                </a:solidFill>
                <a:latin typeface="Calibri"/>
              </a:rPr>
              <a:t>Sunand P Chowdary (ENG23CS0387)</a:t>
            </a:r>
          </a:p>
        </p:txBody>
      </p:sp>
      <p:sp>
        <p:nvSpPr>
          <p:cNvPr id="18437" name="TextBox 5"/>
          <p:cNvSpPr txBox="1"/>
          <p:nvPr/>
        </p:nvSpPr>
        <p:spPr>
          <a:xfrm>
            <a:off x="1619250" y="2084388"/>
            <a:ext cx="5905500" cy="461962"/>
          </a:xfrm>
          <a:prstGeom prst="rect">
            <a:avLst/>
          </a:prstGeom>
          <a:noFill/>
          <a:ln w="9525">
            <a:noFill/>
          </a:ln>
        </p:spPr>
        <p:txBody>
          <a:bodyPr>
            <a:spAutoFit/>
          </a:bodyPr>
          <a:lstStyle/>
          <a:p>
            <a:pPr algn="ctr" eaLnBrk="1" hangingPunct="1"/>
            <a:r>
              <a:rPr lang="en-IN" altLang="en-US" sz="2400" b="1" dirty="0">
                <a:solidFill>
                  <a:srgbClr val="0070C0"/>
                </a:solidFill>
                <a:latin typeface="Calibri" panose="020F0502020204030204" pitchFamily="34" charset="0"/>
                <a:cs typeface="Calibri" panose="020F0502020204030204" pitchFamily="34" charset="0"/>
              </a:rPr>
              <a:t>Major Project Phase-I</a:t>
            </a:r>
            <a:endParaRPr lang="en-IN" altLang="en-US" sz="2400" b="1" dirty="0">
              <a:solidFill>
                <a:srgbClr val="0070C0"/>
              </a:solidFill>
              <a:latin typeface="Calibri" panose="020F0502020204030204" pitchFamily="34" charset="0"/>
              <a:ea typeface="Calibri" panose="020F0502020204030204" pitchFamily="34" charset="0"/>
            </a:endParaRPr>
          </a:p>
        </p:txBody>
      </p:sp>
      <p:sp>
        <p:nvSpPr>
          <p:cNvPr id="18438" name="Rectangle 3"/>
          <p:cNvSpPr txBox="1"/>
          <p:nvPr/>
        </p:nvSpPr>
        <p:spPr>
          <a:xfrm>
            <a:off x="381000" y="1319213"/>
            <a:ext cx="8763000" cy="731837"/>
          </a:xfrm>
          <a:prstGeom prst="rect">
            <a:avLst/>
          </a:prstGeom>
          <a:noFill/>
          <a:ln w="9525">
            <a:noFill/>
          </a:ln>
        </p:spPr>
        <p:txBody>
          <a:bodyPr/>
          <a:lstStyle/>
          <a:p>
            <a:pPr algn="ctr" eaLnBrk="1" hangingPunct="1">
              <a:spcBef>
                <a:spcPct val="20000"/>
              </a:spcBef>
              <a:buClr>
                <a:schemeClr val="accent1"/>
              </a:buClr>
              <a:buSzPct val="65000"/>
              <a:buFont typeface="Wingdings" panose="05000000000000000000" pitchFamily="2" charset="2"/>
            </a:pPr>
            <a:r>
              <a:rPr lang="en-US" altLang="en-US" sz="2800" b="1" dirty="0">
                <a:solidFill>
                  <a:srgbClr val="0D0D47"/>
                </a:solidFill>
                <a:latin typeface="Calibri" panose="020F0502020204030204" pitchFamily="34" charset="0"/>
                <a:cs typeface="Calibri" panose="020F0502020204030204" pitchFamily="34" charset="0"/>
              </a:rPr>
              <a:t>Department of </a:t>
            </a:r>
            <a:r>
              <a:rPr lang="en-IN" altLang="en-US" sz="2800" b="1" dirty="0">
                <a:solidFill>
                  <a:srgbClr val="0D0D47"/>
                </a:solidFill>
                <a:latin typeface="Calibri" panose="020F0502020204030204" pitchFamily="34" charset="0"/>
                <a:cs typeface="Calibri" panose="020F0502020204030204" pitchFamily="34" charset="0"/>
              </a:rPr>
              <a:t>Computer Science an</a:t>
            </a:r>
            <a:r>
              <a:rPr lang="en-US" altLang="en-IN" sz="2800" b="1" dirty="0">
                <a:solidFill>
                  <a:srgbClr val="0D0D47"/>
                </a:solidFill>
                <a:latin typeface="Calibri" panose="020F0502020204030204" pitchFamily="34" charset="0"/>
                <a:cs typeface="Calibri" panose="020F0502020204030204" pitchFamily="34" charset="0"/>
              </a:rPr>
              <a:t>d Engineering</a:t>
            </a:r>
            <a:endParaRPr lang="en-US" altLang="en-IN" sz="2800" b="1" dirty="0">
              <a:solidFill>
                <a:srgbClr val="0D0D47"/>
              </a:solidFill>
              <a:latin typeface="Calibri" panose="020F0502020204030204" pitchFamily="34" charset="0"/>
              <a:ea typeface="Calibri" panose="020F0502020204030204" pitchFamily="34" charset="0"/>
              <a:cs typeface="Calibri" panose="020F0502020204030204" pitchFamily="34" charset="0"/>
            </a:endParaRPr>
          </a:p>
        </p:txBody>
      </p:sp>
      <p:sp>
        <p:nvSpPr>
          <p:cNvPr id="18439" name="TextBox 5"/>
          <p:cNvSpPr txBox="1"/>
          <p:nvPr/>
        </p:nvSpPr>
        <p:spPr>
          <a:xfrm>
            <a:off x="1737360" y="3977639"/>
            <a:ext cx="5669280" cy="822960"/>
          </a:xfrm>
          <a:prstGeom prst="rect">
            <a:avLst/>
          </a:prstGeom>
          <a:noFill/>
          <a:ln w="9525">
            <a:noFill/>
          </a:ln>
        </p:spPr>
        <p:txBody>
          <a:bodyPr>
            <a:spAutoFit/>
          </a:bodyPr>
          <a:lstStyle/>
          <a:p>
            <a:pPr algn="ctr" eaLnBrk="1" hangingPunct="1">
              <a:spcAft>
                <a:spcPts val="0"/>
              </a:spcAft>
            </a:pPr>
            <a:r>
              <a:rPr sz="1600" b="1">
                <a:solidFill>
                  <a:srgbClr val="0B3D1A"/>
                </a:solidFill>
                <a:latin typeface="Calibri"/>
              </a:rPr>
              <a:t>Under the Supervision Of</a:t>
            </a:r>
            <a:endParaRPr lang="en-IN" altLang="en-US" sz="2000" b="1" dirty="0">
              <a:solidFill>
                <a:srgbClr val="003217"/>
              </a:solidFill>
              <a:latin typeface="Calibri" panose="020F0502020204030204" pitchFamily="34" charset="0"/>
              <a:cs typeface="Calibri" panose="020F0502020204030204" pitchFamily="34" charset="0"/>
            </a:endParaRPr>
          </a:p>
          <a:p>
            <a:pPr algn="ctr">
              <a:spcAft>
                <a:spcPts val="0"/>
              </a:spcAft>
            </a:pPr>
            <a:r>
              <a:rPr sz="1600" b="1">
                <a:solidFill>
                  <a:srgbClr val="0B3D1A"/>
                </a:solidFill>
                <a:latin typeface="Calibri"/>
              </a:rPr>
              <a:t>Dr. Meenakshi Malhotra</a:t>
            </a:r>
          </a:p>
        </p:txBody>
      </p:sp>
      <p:sp>
        <p:nvSpPr>
          <p:cNvPr id="18440" name="Slide Number Placeholder 3"/>
          <p:cNvSpPr txBox="1">
            <a:spLocks noGrp="1"/>
          </p:cNvSpPr>
          <p:nvPr>
            <p:ph type="sldNum" sz="quarter" idx="4"/>
          </p:nvPr>
        </p:nvSpPr>
        <p:spPr>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r" eaLnBrk="1" hangingPunct="1"/>
            <a:fld id="{9A0DB2DC-4C9A-4742-B13C-FB6460FD3503}" type="slidenum">
              <a:rPr lang="en-US" altLang="en-US" sz="2000" dirty="0">
                <a:solidFill>
                  <a:srgbClr val="FEFFFF"/>
                </a:solidFill>
              </a:rPr>
              <a:t>1</a:t>
            </a:fld>
            <a:endParaRPr lang="en-US" altLang="en-US" sz="2000" dirty="0">
              <a:solidFill>
                <a:srgbClr val="FEFFFF"/>
              </a:solidFill>
            </a:endParaRPr>
          </a:p>
        </p:txBody>
      </p:sp>
      <p:pic>
        <p:nvPicPr>
          <p:cNvPr id="2" name="Picture 1" descr="WhatsApp Image 2026-10-21 at 13.31.11"/>
          <p:cNvPicPr>
            <a:picLocks noChangeAspect="1"/>
          </p:cNvPicPr>
          <p:nvPr/>
        </p:nvPicPr>
        <p:blipFill>
          <a:blip r:embed="rId3"/>
          <a:stretch>
            <a:fillRect/>
          </a:stretch>
        </p:blipFill>
        <p:spPr>
          <a:xfrm>
            <a:off x="304800" y="-10160"/>
            <a:ext cx="2409825" cy="1162050"/>
          </a:xfrm>
          <a:prstGeom prst="rect">
            <a:avLst/>
          </a:prstGeom>
        </p:spPr>
      </p:pic>
      <p:pic>
        <p:nvPicPr>
          <p:cNvPr id="3" name="Picture 2" descr="WhatsApp Image 2026-10-21 at 13.31.13"/>
          <p:cNvPicPr>
            <a:picLocks noChangeAspect="1"/>
          </p:cNvPicPr>
          <p:nvPr/>
        </p:nvPicPr>
        <p:blipFill>
          <a:blip r:embed="rId4"/>
          <a:stretch>
            <a:fillRect/>
          </a:stretch>
        </p:blipFill>
        <p:spPr>
          <a:xfrm>
            <a:off x="6019800" y="152400"/>
            <a:ext cx="2571750" cy="904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234440" y="475488"/>
            <a:ext cx="6492240" cy="777240"/>
          </a:xfrm>
          <a:ln/>
        </p:spPr>
        <p:txBody>
          <a:bodyPr vert="horz" wrap="square" lIns="91440" tIns="45720" rIns="91440" bIns="45720" anchor="ctr" anchorCtr="0">
            <a:noAutofit/>
          </a:bodyPr>
          <a:lstStyle/>
          <a:p>
            <a:pPr algn="ctr" eaLnBrk="1" hangingPunct="1"/>
            <a:r>
              <a:rPr sz="3000">
                <a:latin typeface="Calibri"/>
              </a:rPr>
              <a:t>Overview</a:t>
            </a:r>
            <a:endParaRPr lang="en-IN" altLang="en-US" b="1"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xfrm>
            <a:off x="950913" y="6165850"/>
            <a:ext cx="1066800" cy="369888"/>
          </a:xfrm>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C15839E0-7EC2-48C7-B32E-2EBA9045D97E}"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19462"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2</a:t>
            </a:fld>
            <a:r>
              <a:rPr lang="en-US" altLang="en-US" sz="900" dirty="0">
                <a:solidFill>
                  <a:srgbClr val="898989"/>
                </a:solidFill>
              </a:rPr>
              <a:t> of 21</a:t>
            </a:r>
          </a:p>
        </p:txBody>
      </p:sp>
      <p:sp>
        <p:nvSpPr>
          <p:cNvPr id="19463" name="TextBox 19462"/>
          <p:cNvSpPr txBox="1"/>
          <p:nvPr/>
        </p:nvSpPr>
        <p:spPr>
          <a:xfrm>
            <a:off x="1463040" y="1508760"/>
            <a:ext cx="6766560" cy="4389120"/>
          </a:xfrm>
          <a:prstGeom prst="rect">
            <a:avLst/>
          </a:prstGeom>
          <a:noFill/>
        </p:spPr>
        <p:txBody>
          <a:bodyPr wrap="square" lIns="54864" tIns="27432" rIns="54864" bIns="27432" anchor="t">
            <a:noAutofit/>
          </a:bodyPr>
          <a:lstStyle/>
          <a:p>
            <a:pPr algn="l">
              <a:spcAft>
                <a:spcPts val="700"/>
              </a:spcAft>
            </a:pPr>
            <a:r>
              <a:rPr sz="1800" b="1" i="0">
                <a:solidFill>
                  <a:srgbClr val="25578F"/>
                </a:solidFill>
                <a:latin typeface="Calibri"/>
              </a:rPr>
              <a:t>1.  </a:t>
            </a:r>
            <a:r>
              <a:rPr sz="1800" b="0" i="0">
                <a:solidFill>
                  <a:srgbClr val="26323F"/>
                </a:solidFill>
                <a:latin typeface="Calibri"/>
              </a:rPr>
              <a:t>Abstract</a:t>
            </a:r>
          </a:p>
          <a:p>
            <a:pPr algn="l">
              <a:spcAft>
                <a:spcPts val="700"/>
              </a:spcAft>
            </a:pPr>
            <a:r>
              <a:rPr sz="1800" b="1" i="0">
                <a:solidFill>
                  <a:srgbClr val="25578F"/>
                </a:solidFill>
                <a:latin typeface="Calibri"/>
              </a:rPr>
              <a:t>2.  </a:t>
            </a:r>
            <a:r>
              <a:rPr sz="1800" b="0" i="0">
                <a:solidFill>
                  <a:srgbClr val="26323F"/>
                </a:solidFill>
                <a:latin typeface="Calibri"/>
              </a:rPr>
              <a:t>Project Objectives and Requirement Specification</a:t>
            </a:r>
          </a:p>
          <a:p>
            <a:pPr algn="l">
              <a:spcAft>
                <a:spcPts val="700"/>
              </a:spcAft>
            </a:pPr>
            <a:r>
              <a:rPr sz="1800" b="1" i="0">
                <a:solidFill>
                  <a:srgbClr val="25578F"/>
                </a:solidFill>
                <a:latin typeface="Calibri"/>
              </a:rPr>
              <a:t>3.  </a:t>
            </a:r>
            <a:r>
              <a:rPr sz="1800" b="0" i="0">
                <a:solidFill>
                  <a:srgbClr val="26323F"/>
                </a:solidFill>
                <a:latin typeface="Calibri"/>
              </a:rPr>
              <a:t>Innovation &amp; Potential Impact</a:t>
            </a:r>
          </a:p>
          <a:p>
            <a:pPr algn="l">
              <a:spcAft>
                <a:spcPts val="700"/>
              </a:spcAft>
            </a:pPr>
            <a:r>
              <a:rPr sz="1800" b="1" i="0">
                <a:solidFill>
                  <a:srgbClr val="25578F"/>
                </a:solidFill>
                <a:latin typeface="Calibri"/>
              </a:rPr>
              <a:t>4.  </a:t>
            </a:r>
            <a:r>
              <a:rPr sz="1800" b="0" i="0">
                <a:solidFill>
                  <a:srgbClr val="26323F"/>
                </a:solidFill>
                <a:latin typeface="Calibri"/>
              </a:rPr>
              <a:t>Literature Survey and Research Gap</a:t>
            </a:r>
          </a:p>
          <a:p>
            <a:pPr algn="l">
              <a:spcAft>
                <a:spcPts val="700"/>
              </a:spcAft>
            </a:pPr>
            <a:r>
              <a:rPr sz="1800" b="1" i="0">
                <a:solidFill>
                  <a:srgbClr val="25578F"/>
                </a:solidFill>
                <a:latin typeface="Calibri"/>
              </a:rPr>
              <a:t>5.  </a:t>
            </a:r>
            <a:r>
              <a:rPr sz="1800" b="0" i="0">
                <a:solidFill>
                  <a:srgbClr val="26323F"/>
                </a:solidFill>
                <a:latin typeface="Calibri"/>
              </a:rPr>
              <a:t>Proposed Methodology &amp; High-Level Design</a:t>
            </a:r>
          </a:p>
          <a:p>
            <a:pPr algn="l">
              <a:spcAft>
                <a:spcPts val="700"/>
              </a:spcAft>
            </a:pPr>
            <a:r>
              <a:rPr sz="1800" b="1" i="0">
                <a:solidFill>
                  <a:srgbClr val="25578F"/>
                </a:solidFill>
                <a:latin typeface="Calibri"/>
              </a:rPr>
              <a:t>6.  </a:t>
            </a:r>
            <a:r>
              <a:rPr sz="1800" b="0" i="0">
                <a:solidFill>
                  <a:srgbClr val="26323F"/>
                </a:solidFill>
                <a:latin typeface="Calibri"/>
              </a:rPr>
              <a:t>Implementation Progress (about 40%)</a:t>
            </a:r>
          </a:p>
          <a:p>
            <a:pPr algn="l">
              <a:spcAft>
                <a:spcPts val="700"/>
              </a:spcAft>
            </a:pPr>
            <a:r>
              <a:rPr sz="1800" b="1" i="0">
                <a:solidFill>
                  <a:srgbClr val="25578F"/>
                </a:solidFill>
                <a:latin typeface="Calibri"/>
              </a:rPr>
              <a:t>7.  </a:t>
            </a:r>
            <a:r>
              <a:rPr sz="1800" b="0" i="0">
                <a:solidFill>
                  <a:srgbClr val="26323F"/>
                </a:solidFill>
                <a:latin typeface="Calibri"/>
              </a:rPr>
              <a:t>Results and Implementation Screenshots</a:t>
            </a:r>
          </a:p>
          <a:p>
            <a:pPr algn="l">
              <a:spcAft>
                <a:spcPts val="700"/>
              </a:spcAft>
            </a:pPr>
            <a:r>
              <a:rPr sz="1800" b="1" i="0">
                <a:solidFill>
                  <a:srgbClr val="25578F"/>
                </a:solidFill>
                <a:latin typeface="Calibri"/>
              </a:rPr>
              <a:t>8.  </a:t>
            </a:r>
            <a:r>
              <a:rPr sz="1800" b="0" i="0">
                <a:solidFill>
                  <a:srgbClr val="26323F"/>
                </a:solidFill>
                <a:latin typeface="Calibri"/>
              </a:rPr>
              <a:t>Challenges, Mitigation and Future Plan</a:t>
            </a:r>
          </a:p>
          <a:p>
            <a:pPr algn="l">
              <a:spcAft>
                <a:spcPts val="700"/>
              </a:spcAft>
            </a:pPr>
            <a:r>
              <a:rPr sz="1800" b="1" i="0">
                <a:solidFill>
                  <a:srgbClr val="25578F"/>
                </a:solidFill>
                <a:latin typeface="Calibri"/>
              </a:rPr>
              <a:t>9.  </a:t>
            </a:r>
            <a:r>
              <a:rPr sz="1800" b="0" i="0">
                <a:solidFill>
                  <a:srgbClr val="26323F"/>
                </a:solidFill>
                <a:latin typeface="Calibri"/>
              </a:rPr>
              <a:t>Team Contribution and Deliverables</a:t>
            </a:r>
          </a:p>
          <a:p>
            <a:pPr algn="l">
              <a:spcAft>
                <a:spcPts val="700"/>
              </a:spcAft>
            </a:pPr>
            <a:r>
              <a:rPr sz="1800" b="1" i="0">
                <a:solidFill>
                  <a:srgbClr val="25578F"/>
                </a:solidFill>
                <a:latin typeface="Calibri"/>
              </a:rPr>
              <a:t>10.  </a:t>
            </a:r>
            <a:r>
              <a:rPr sz="1800" b="0" i="0">
                <a:solidFill>
                  <a:srgbClr val="26323F"/>
                </a:solidFill>
                <a:latin typeface="Calibri"/>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234440" y="475488"/>
            <a:ext cx="6492240" cy="777240"/>
          </a:xfrm>
          <a:ln/>
        </p:spPr>
        <p:txBody>
          <a:bodyPr vert="horz" wrap="square" lIns="91440" tIns="45720" rIns="91440" bIns="45720" anchor="ctr" anchorCtr="0">
            <a:noAutofit/>
          </a:bodyPr>
          <a:lstStyle/>
          <a:p>
            <a:pPr algn="ctr" eaLnBrk="1" hangingPunct="1"/>
            <a:r>
              <a:rPr sz="3000">
                <a:latin typeface="Calibri"/>
              </a:rPr>
              <a:t>Abstract</a:t>
            </a:r>
            <a:endParaRPr lang="en-IN" altLang="en-US" b="1" dirty="0">
              <a:latin typeface="Calibri" panose="020F0502020204030204" pitchFamily="34" charset="0"/>
              <a:ea typeface="Calibri" panose="020F0502020204030204" pitchFamily="34" charset="0"/>
            </a:endParaRP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3</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p>
        </p:txBody>
      </p:sp>
      <p:sp>
        <p:nvSpPr>
          <p:cNvPr id="20485" name="TextBox 20484"/>
          <p:cNvSpPr txBox="1"/>
          <p:nvPr/>
        </p:nvSpPr>
        <p:spPr>
          <a:xfrm>
            <a:off x="1143000" y="1417320"/>
            <a:ext cx="7589520" cy="4480560"/>
          </a:xfrm>
          <a:prstGeom prst="rect">
            <a:avLst/>
          </a:prstGeom>
          <a:noFill/>
        </p:spPr>
        <p:txBody>
          <a:bodyPr wrap="square" lIns="54864" tIns="27432" rIns="54864" bIns="27432" anchor="t">
            <a:noAutofit/>
          </a:bodyPr>
          <a:lstStyle/>
          <a:p>
            <a:pPr>
              <a:spcAft>
                <a:spcPts val="1000"/>
              </a:spcAft>
            </a:pPr>
            <a:r>
              <a:rPr lang="en-IN" sz="1600" dirty="0">
                <a:latin typeface="Calibri" panose="020F0502020204030204" pitchFamily="34" charset="0"/>
                <a:ea typeface="Calibri" panose="020F0502020204030204" pitchFamily="34" charset="0"/>
                <a:cs typeface="Calibri" panose="020F0502020204030204" pitchFamily="34" charset="0"/>
              </a:rPr>
              <a:t>Small and medium enterprises (SMEs) run fans, pumps and slide rails until they break, because faults usually go unnoticed until the machine fails or stops. A sudden failure can injure workers, halt production for days, waste broken products, and waste energy and resources, which harms the environment. Existing monitoring systems are costly and need cloud connectivity. We are therefore building a low-cost edge AI device (ESP32-S3 microcontroller, digital microphone and vibration sensor) around a small unsupervised autoencoder that learns what a machine sounds like when it is healthy and raises an alert when the sound changes. However, factories use many types and brands of fans, so training one model for all of them is inefficient. At installation, 60 healthy clips (about 10 minutes) calibrate the device to its own machine: they set the feature levels and the alert level, with no retraining and no fault examples.</a:t>
            </a:r>
          </a:p>
          <a:p>
            <a:pPr>
              <a:spcAft>
                <a:spcPts val="1000"/>
              </a:spcAft>
            </a:pPr>
            <a:r>
              <a:rPr sz="1600" b="0" i="0" dirty="0">
                <a:solidFill>
                  <a:srgbClr val="26323F"/>
                </a:solidFill>
                <a:latin typeface="Calibri"/>
              </a:rPr>
              <a:t>On the public MIMII dataset, tested on machines the model never heard, calibration lifts AUC from near chance (fans, pumps) to 0.92-0.96 for fans, pumps and sliders at 6 dB, and models of 2.4k-6.9k parameters match a 50k-parameter baseline. Valves and heavy noise are not solved</a:t>
            </a:r>
            <a:r>
              <a:rPr lang="en-IN" sz="1600" b="0" i="0" dirty="0">
                <a:solidFill>
                  <a:srgbClr val="26323F"/>
                </a:solidFill>
                <a:latin typeface="Calibri"/>
              </a:rPr>
              <a:t> because of impracticality</a:t>
            </a:r>
            <a:r>
              <a:rPr sz="1600" b="0" i="0" dirty="0">
                <a:solidFill>
                  <a:srgbClr val="26323F"/>
                </a:solidFill>
                <a:latin typeface="Calibri"/>
              </a:rPr>
              <a:t>. Hardware, sound-vibration fusion and the energy and noise estimate are the next phase.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440" y="475488"/>
            <a:ext cx="6492240" cy="777240"/>
          </a:xfrm>
        </p:spPr>
        <p:txBody>
          <a:bodyPr vert="horz" wrap="square" lIns="91440" tIns="45720" rIns="91440" bIns="45720" numCol="1" rtlCol="0" anchor="ctr" anchorCtr="0" compatLnSpc="1">
            <a:noAutofit/>
          </a:bodyPr>
          <a:lstStyle/>
          <a:p>
            <a:pPr marL="0" marR="0" lvl="0" indent="0" algn="ctr" defTabSz="457200" rtl="0" eaLnBrk="1" fontAlgn="auto" latinLnBrk="0" hangingPunct="1">
              <a:lnSpc>
                <a:spcPct val="100000"/>
              </a:lnSpc>
              <a:spcBef>
                <a:spcPct val="0"/>
              </a:spcBef>
              <a:spcAft>
                <a:spcPts val="0"/>
              </a:spcAft>
              <a:buClrTx/>
              <a:buSzTx/>
              <a:buFontTx/>
              <a:buNone/>
              <a:defRPr/>
            </a:pPr>
            <a:r>
              <a:rPr sz="3000">
                <a:latin typeface="Calibri"/>
              </a:rPr>
              <a:t>Project Objectives</a:t>
            </a:r>
            <a:endParaRPr kumimoji="0" lang="en-IN" sz="3600" b="1" i="0" u="none" strike="noStrike" kern="1200" cap="none" spc="0" normalizeH="0" baseline="0" noProof="0" dirty="0">
              <a:ln>
                <a:noFill/>
              </a:ln>
              <a:solidFill>
                <a:schemeClr val="accent2">
                  <a:lumMod val="75000"/>
                </a:schemeClr>
              </a:solidFill>
              <a:effectLst/>
              <a:uLnTx/>
              <a:uFillTx/>
              <a:latin typeface="Calibri" panose="020F0502020204030204" pitchFamily="34" charset="0"/>
              <a:ea typeface="+mj-ea"/>
              <a:cs typeface="Calibri" panose="020F0502020204030204" pitchFamily="34" charset="0"/>
            </a:endParaRPr>
          </a:p>
        </p:txBody>
      </p:sp>
      <p:sp>
        <p:nvSpPr>
          <p:cNvPr id="21507" name="Slide Number Placeholder 2"/>
          <p:cNvSpPr txBox="1">
            <a:spLocks noGrp="1"/>
          </p:cNvSpPr>
          <p:nvPr>
            <p:ph type="sldNum" sz="quarter" idx="4"/>
          </p:nvPr>
        </p:nvSpPr>
        <p:spPr>
          <a:xfrm>
            <a:off x="8243888" y="6156325"/>
            <a:ext cx="5857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4</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5FB05B1B-9762-4603-A45F-B5AA1F1781ED}"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257800"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p>
        </p:txBody>
      </p:sp>
      <p:sp>
        <p:nvSpPr>
          <p:cNvPr id="21508" name="Rectangle 21507"/>
          <p:cNvSpPr/>
          <p:nvPr/>
        </p:nvSpPr>
        <p:spPr>
          <a:xfrm>
            <a:off x="1143000" y="1371600"/>
            <a:ext cx="1828800" cy="1024128"/>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FFFFF"/>
                </a:solidFill>
                <a:latin typeface="Calibri"/>
              </a:rPr>
              <a:t>Purpose and Objectives</a:t>
            </a:r>
          </a:p>
        </p:txBody>
      </p:sp>
      <p:sp>
        <p:nvSpPr>
          <p:cNvPr id="21509" name="Rectangle 21508"/>
          <p:cNvSpPr/>
          <p:nvPr/>
        </p:nvSpPr>
        <p:spPr>
          <a:xfrm>
            <a:off x="2971800" y="1371600"/>
            <a:ext cx="5760720" cy="1024128"/>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1510" name="TextBox 21509"/>
          <p:cNvSpPr txBox="1"/>
          <p:nvPr/>
        </p:nvSpPr>
        <p:spPr>
          <a:xfrm>
            <a:off x="3017520" y="1389888"/>
            <a:ext cx="5669280" cy="987552"/>
          </a:xfrm>
          <a:prstGeom prst="rect">
            <a:avLst/>
          </a:prstGeom>
          <a:noFill/>
        </p:spPr>
        <p:txBody>
          <a:bodyPr wrap="square" lIns="54864" tIns="27432" rIns="54864" bIns="27432" anchor="ctr">
            <a:noAutofit/>
          </a:bodyPr>
          <a:lstStyle/>
          <a:p>
            <a:pPr algn="l">
              <a:spcAft>
                <a:spcPts val="0"/>
              </a:spcAft>
            </a:pPr>
            <a:r>
              <a:rPr sz="1300" b="0" i="0" dirty="0">
                <a:solidFill>
                  <a:srgbClr val="26323F"/>
                </a:solidFill>
                <a:latin typeface="Calibri"/>
              </a:rPr>
              <a:t>Build a low-cost, offline edge node that detects machine faults from sound, adapts to each machine by calibration, and estimates the extra energy and noise a fault causes. Targets: ROC-AUC above 0.90, no cloud, no retraining per machine.</a:t>
            </a:r>
          </a:p>
        </p:txBody>
      </p:sp>
      <p:sp>
        <p:nvSpPr>
          <p:cNvPr id="21511" name="Rectangle 21510"/>
          <p:cNvSpPr/>
          <p:nvPr/>
        </p:nvSpPr>
        <p:spPr>
          <a:xfrm>
            <a:off x="1143000" y="2505456"/>
            <a:ext cx="1828800" cy="1024128"/>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FFFFF"/>
                </a:solidFill>
                <a:latin typeface="Calibri"/>
              </a:rPr>
              <a:t>Problem and relevance</a:t>
            </a:r>
          </a:p>
        </p:txBody>
      </p:sp>
      <p:sp>
        <p:nvSpPr>
          <p:cNvPr id="21512" name="Rectangle 21511"/>
          <p:cNvSpPr/>
          <p:nvPr/>
        </p:nvSpPr>
        <p:spPr>
          <a:xfrm>
            <a:off x="2971800" y="2505456"/>
            <a:ext cx="5760720" cy="1024128"/>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1513" name="TextBox 21512"/>
          <p:cNvSpPr txBox="1"/>
          <p:nvPr/>
        </p:nvSpPr>
        <p:spPr>
          <a:xfrm>
            <a:off x="3017520" y="2523744"/>
            <a:ext cx="5669280" cy="987552"/>
          </a:xfrm>
          <a:prstGeom prst="rect">
            <a:avLst/>
          </a:prstGeom>
          <a:noFill/>
        </p:spPr>
        <p:txBody>
          <a:bodyPr wrap="square" lIns="54864" tIns="27432" rIns="54864" bIns="27432" anchor="ctr">
            <a:noAutofit/>
          </a:bodyPr>
          <a:lstStyle/>
          <a:p>
            <a:pPr algn="l">
              <a:spcAft>
                <a:spcPts val="0"/>
              </a:spcAft>
            </a:pPr>
            <a:r>
              <a:rPr sz="1300" b="0" i="0" dirty="0">
                <a:solidFill>
                  <a:srgbClr val="26323F"/>
                </a:solidFill>
                <a:latin typeface="Calibri"/>
              </a:rPr>
              <a:t>Small factories (MSMEs) notice failures late; commercial monitors cost more and need cloud. Faulty motors also waste power. SIH theme: Smart Industrial Automation. SDG 7, 9, 12.</a:t>
            </a:r>
          </a:p>
        </p:txBody>
      </p:sp>
      <p:sp>
        <p:nvSpPr>
          <p:cNvPr id="21514" name="Rectangle 21513"/>
          <p:cNvSpPr/>
          <p:nvPr/>
        </p:nvSpPr>
        <p:spPr>
          <a:xfrm>
            <a:off x="1143000" y="3639312"/>
            <a:ext cx="1828800" cy="1024128"/>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FFFFF"/>
                </a:solidFill>
                <a:latin typeface="Calibri"/>
              </a:rPr>
              <a:t>Scope boundaries</a:t>
            </a:r>
          </a:p>
        </p:txBody>
      </p:sp>
      <p:sp>
        <p:nvSpPr>
          <p:cNvPr id="21515" name="Rectangle 21514"/>
          <p:cNvSpPr/>
          <p:nvPr/>
        </p:nvSpPr>
        <p:spPr>
          <a:xfrm>
            <a:off x="2971800" y="3639312"/>
            <a:ext cx="5760720" cy="1024128"/>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1516" name="TextBox 21515"/>
          <p:cNvSpPr txBox="1"/>
          <p:nvPr/>
        </p:nvSpPr>
        <p:spPr>
          <a:xfrm>
            <a:off x="3017520" y="3657600"/>
            <a:ext cx="5669280" cy="987552"/>
          </a:xfrm>
          <a:prstGeom prst="rect">
            <a:avLst/>
          </a:prstGeom>
          <a:noFill/>
        </p:spPr>
        <p:txBody>
          <a:bodyPr wrap="square" lIns="54864" tIns="27432" rIns="54864" bIns="27432" anchor="ctr">
            <a:noAutofit/>
          </a:bodyPr>
          <a:lstStyle/>
          <a:p>
            <a:pPr algn="l">
              <a:spcAft>
                <a:spcPts val="0"/>
              </a:spcAft>
            </a:pPr>
            <a:r>
              <a:rPr sz="1300" b="0" i="0" dirty="0">
                <a:solidFill>
                  <a:srgbClr val="26323F"/>
                </a:solidFill>
                <a:latin typeface="Calibri"/>
              </a:rPr>
              <a:t>In scope: sound-based detection, calibration, tiny models, laptop simulation now, ESP32-S3 next. Not yet: valves, fault-type diagnosis, thermal sensing, a formal environmental impact assessment.</a:t>
            </a:r>
          </a:p>
        </p:txBody>
      </p:sp>
      <p:sp>
        <p:nvSpPr>
          <p:cNvPr id="21517" name="Rectangle 21516"/>
          <p:cNvSpPr/>
          <p:nvPr/>
        </p:nvSpPr>
        <p:spPr>
          <a:xfrm>
            <a:off x="1143000" y="4773168"/>
            <a:ext cx="1828800" cy="1024128"/>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FFFFF"/>
                </a:solidFill>
                <a:latin typeface="Calibri"/>
              </a:rPr>
              <a:t>Key Deliverables</a:t>
            </a:r>
          </a:p>
        </p:txBody>
      </p:sp>
      <p:sp>
        <p:nvSpPr>
          <p:cNvPr id="21518" name="Rectangle 21517"/>
          <p:cNvSpPr/>
          <p:nvPr/>
        </p:nvSpPr>
        <p:spPr>
          <a:xfrm>
            <a:off x="2971800" y="4773168"/>
            <a:ext cx="5760720" cy="1024128"/>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1519" name="TextBox 21518"/>
          <p:cNvSpPr txBox="1"/>
          <p:nvPr/>
        </p:nvSpPr>
        <p:spPr>
          <a:xfrm>
            <a:off x="3017520" y="4791456"/>
            <a:ext cx="5669280" cy="987552"/>
          </a:xfrm>
          <a:prstGeom prst="rect">
            <a:avLst/>
          </a:prstGeom>
          <a:noFill/>
        </p:spPr>
        <p:txBody>
          <a:bodyPr wrap="square" lIns="54864" tIns="27432" rIns="54864" bIns="27432" anchor="ctr">
            <a:noAutofit/>
          </a:bodyPr>
          <a:lstStyle/>
          <a:p>
            <a:pPr algn="l">
              <a:spcAft>
                <a:spcPts val="0"/>
              </a:spcAft>
            </a:pPr>
            <a:r>
              <a:rPr sz="1300" b="0" i="0">
                <a:solidFill>
                  <a:srgbClr val="26323F"/>
                </a:solidFill>
                <a:latin typeface="Calibri"/>
              </a:rPr>
              <a:t>Calibrated detector with evaluation suite and dashboard (done); ESP32-S3 prototype; test-rig results with sound, vibration and temperature; research paper; patent filing.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234440" y="475488"/>
            <a:ext cx="6492240" cy="777240"/>
          </a:xfrm>
          <a:ln/>
        </p:spPr>
        <p:txBody>
          <a:bodyPr vert="horz" wrap="square" lIns="91440" tIns="45720" rIns="91440" bIns="45720" anchor="ctr" anchorCtr="0">
            <a:noAutofit/>
          </a:bodyPr>
          <a:lstStyle/>
          <a:p>
            <a:pPr algn="ctr" eaLnBrk="1" hangingPunct="1"/>
            <a:r>
              <a:rPr sz="2800">
                <a:latin typeface="Calibri"/>
              </a:rPr>
              <a:t>Requirement Specification &amp; Validation</a:t>
            </a:r>
            <a:endParaRPr lang="en-IN" altLang="en-US" dirty="0">
              <a:latin typeface="Calibri" panose="020F0502020204030204" pitchFamily="34" charset="0"/>
              <a:ea typeface="Calibri" panose="020F0502020204030204" pitchFamily="34" charset="0"/>
            </a:endParaRPr>
          </a:p>
        </p:txBody>
      </p:sp>
      <p:sp>
        <p:nvSpPr>
          <p:cNvPr id="22532"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5</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CA46945-D6FD-4D2B-A870-C7080251F0A1}"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22533" name="Rectangle 22532"/>
          <p:cNvSpPr/>
          <p:nvPr/>
        </p:nvSpPr>
        <p:spPr>
          <a:xfrm>
            <a:off x="1143000" y="1371600"/>
            <a:ext cx="2011680" cy="82296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FFFFF"/>
                </a:solidFill>
                <a:latin typeface="Calibri"/>
              </a:rPr>
              <a:t>Target users</a:t>
            </a:r>
          </a:p>
        </p:txBody>
      </p:sp>
      <p:sp>
        <p:nvSpPr>
          <p:cNvPr id="22534" name="Rectangle 22533"/>
          <p:cNvSpPr/>
          <p:nvPr/>
        </p:nvSpPr>
        <p:spPr>
          <a:xfrm>
            <a:off x="3154680" y="1371600"/>
            <a:ext cx="5577840" cy="82296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2535" name="TextBox 22534"/>
          <p:cNvSpPr txBox="1"/>
          <p:nvPr/>
        </p:nvSpPr>
        <p:spPr>
          <a:xfrm>
            <a:off x="3200400" y="1380744"/>
            <a:ext cx="5486400" cy="804672"/>
          </a:xfrm>
          <a:prstGeom prst="rect">
            <a:avLst/>
          </a:prstGeom>
          <a:noFill/>
        </p:spPr>
        <p:txBody>
          <a:bodyPr wrap="square" lIns="54864" tIns="27432" rIns="54864" bIns="27432" anchor="ctr">
            <a:noAutofit/>
          </a:bodyPr>
          <a:lstStyle/>
          <a:p>
            <a:pPr algn="l">
              <a:spcAft>
                <a:spcPts val="0"/>
              </a:spcAft>
            </a:pPr>
            <a:r>
              <a:rPr sz="1250" b="0" i="0">
                <a:solidFill>
                  <a:srgbClr val="26323F"/>
                </a:solidFill>
                <a:latin typeface="Calibri"/>
              </a:rPr>
              <a:t>Small and medium factories running fans, pumps, slide rails and valves; maintenance staff without data-science skills.</a:t>
            </a:r>
          </a:p>
        </p:txBody>
      </p:sp>
      <p:sp>
        <p:nvSpPr>
          <p:cNvPr id="22536" name="Rectangle 22535"/>
          <p:cNvSpPr/>
          <p:nvPr/>
        </p:nvSpPr>
        <p:spPr>
          <a:xfrm>
            <a:off x="1143000" y="2276856"/>
            <a:ext cx="2011680" cy="82296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FFFFF"/>
                </a:solidFill>
                <a:latin typeface="Calibri"/>
              </a:rPr>
              <a:t>Expected outcomes and goals</a:t>
            </a:r>
          </a:p>
        </p:txBody>
      </p:sp>
      <p:sp>
        <p:nvSpPr>
          <p:cNvPr id="22537" name="Rectangle 22536"/>
          <p:cNvSpPr/>
          <p:nvPr/>
        </p:nvSpPr>
        <p:spPr>
          <a:xfrm>
            <a:off x="3154680" y="2276856"/>
            <a:ext cx="5577840" cy="82296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2538" name="TextBox 22537"/>
          <p:cNvSpPr txBox="1"/>
          <p:nvPr/>
        </p:nvSpPr>
        <p:spPr>
          <a:xfrm>
            <a:off x="3200400" y="2286000"/>
            <a:ext cx="5486400" cy="804672"/>
          </a:xfrm>
          <a:prstGeom prst="rect">
            <a:avLst/>
          </a:prstGeom>
          <a:noFill/>
        </p:spPr>
        <p:txBody>
          <a:bodyPr wrap="square" lIns="54864" tIns="27432" rIns="54864" bIns="27432" anchor="ctr">
            <a:noAutofit/>
          </a:bodyPr>
          <a:lstStyle/>
          <a:p>
            <a:pPr algn="l">
              <a:spcAft>
                <a:spcPts val="0"/>
              </a:spcAft>
            </a:pPr>
            <a:r>
              <a:rPr sz="1250" b="0" i="0">
                <a:solidFill>
                  <a:srgbClr val="26323F"/>
                </a:solidFill>
                <a:latin typeface="Calibri"/>
              </a:rPr>
              <a:t>Offline green/red alert on the device; setup on a new machine after about 10 minutes of healthy sound; ROC-AUC above 0.90 (met for fans and sliders at 6 dB so far).</a:t>
            </a:r>
          </a:p>
        </p:txBody>
      </p:sp>
      <p:sp>
        <p:nvSpPr>
          <p:cNvPr id="22539" name="Rectangle 22538"/>
          <p:cNvSpPr/>
          <p:nvPr/>
        </p:nvSpPr>
        <p:spPr>
          <a:xfrm>
            <a:off x="1143000" y="3182112"/>
            <a:ext cx="2011680" cy="82296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FFFFF"/>
                </a:solidFill>
                <a:latin typeface="Calibri"/>
              </a:rPr>
              <a:t>Tech / tools</a:t>
            </a:r>
          </a:p>
        </p:txBody>
      </p:sp>
      <p:sp>
        <p:nvSpPr>
          <p:cNvPr id="22540" name="Rectangle 22539"/>
          <p:cNvSpPr/>
          <p:nvPr/>
        </p:nvSpPr>
        <p:spPr>
          <a:xfrm>
            <a:off x="3154680" y="3182112"/>
            <a:ext cx="5577840" cy="82296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2541" name="TextBox 22540"/>
          <p:cNvSpPr txBox="1"/>
          <p:nvPr/>
        </p:nvSpPr>
        <p:spPr>
          <a:xfrm>
            <a:off x="3200400" y="3191256"/>
            <a:ext cx="5486400" cy="804672"/>
          </a:xfrm>
          <a:prstGeom prst="rect">
            <a:avLst/>
          </a:prstGeom>
          <a:noFill/>
        </p:spPr>
        <p:txBody>
          <a:bodyPr wrap="square" lIns="54864" tIns="27432" rIns="54864" bIns="27432" anchor="ctr">
            <a:noAutofit/>
          </a:bodyPr>
          <a:lstStyle/>
          <a:p>
            <a:pPr algn="l">
              <a:spcAft>
                <a:spcPts val="0"/>
              </a:spcAft>
            </a:pPr>
            <a:r>
              <a:rPr sz="1250" b="0" i="0">
                <a:solidFill>
                  <a:srgbClr val="26323F"/>
                </a:solidFill>
                <a:latin typeface="Calibri"/>
              </a:rPr>
              <a:t>Python, PyTorch, librosa, scikit-learn; MIMII (sound) and CWRU (vibration) datasets. Planned: ESP32-S3, INMP441 microphone, MPU6050, C++ firmware.</a:t>
            </a:r>
          </a:p>
        </p:txBody>
      </p:sp>
      <p:sp>
        <p:nvSpPr>
          <p:cNvPr id="22542" name="Rectangle 22541"/>
          <p:cNvSpPr/>
          <p:nvPr/>
        </p:nvSpPr>
        <p:spPr>
          <a:xfrm>
            <a:off x="1143000" y="4087368"/>
            <a:ext cx="2011680" cy="82296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FFFFF"/>
                </a:solidFill>
                <a:latin typeface="Calibri"/>
              </a:rPr>
              <a:t>Assumptions &amp; constraints</a:t>
            </a:r>
          </a:p>
        </p:txBody>
      </p:sp>
      <p:sp>
        <p:nvSpPr>
          <p:cNvPr id="22543" name="Rectangle 22542"/>
          <p:cNvSpPr/>
          <p:nvPr/>
        </p:nvSpPr>
        <p:spPr>
          <a:xfrm>
            <a:off x="3154680" y="4087368"/>
            <a:ext cx="5577840" cy="82296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2544" name="TextBox 22543"/>
          <p:cNvSpPr txBox="1"/>
          <p:nvPr/>
        </p:nvSpPr>
        <p:spPr>
          <a:xfrm>
            <a:off x="3200400" y="4096512"/>
            <a:ext cx="5486400" cy="804672"/>
          </a:xfrm>
          <a:prstGeom prst="rect">
            <a:avLst/>
          </a:prstGeom>
          <a:noFill/>
        </p:spPr>
        <p:txBody>
          <a:bodyPr wrap="square" lIns="54864" tIns="27432" rIns="54864" bIns="27432" anchor="ctr">
            <a:noAutofit/>
          </a:bodyPr>
          <a:lstStyle/>
          <a:p>
            <a:pPr algn="l">
              <a:spcAft>
                <a:spcPts val="0"/>
              </a:spcAft>
            </a:pPr>
            <a:r>
              <a:rPr sz="1250" b="0" i="0">
                <a:solidFill>
                  <a:srgbClr val="26323F"/>
                </a:solidFill>
                <a:latin typeface="Calibri"/>
              </a:rPr>
              <a:t>Machine is healthy during calibration; calibrate in the noise the machine runs in; one microphone; no hardware in hand yet, so all results are laptop simulations.</a:t>
            </a:r>
          </a:p>
        </p:txBody>
      </p:sp>
      <p:sp>
        <p:nvSpPr>
          <p:cNvPr id="22545" name="Rectangle 22544"/>
          <p:cNvSpPr/>
          <p:nvPr/>
        </p:nvSpPr>
        <p:spPr>
          <a:xfrm>
            <a:off x="1143000" y="4992624"/>
            <a:ext cx="2011680" cy="82296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FFFFF"/>
                </a:solidFill>
                <a:latin typeface="Calibri"/>
              </a:rPr>
              <a:t>Validation</a:t>
            </a:r>
          </a:p>
        </p:txBody>
      </p:sp>
      <p:sp>
        <p:nvSpPr>
          <p:cNvPr id="22546" name="Rectangle 22545"/>
          <p:cNvSpPr/>
          <p:nvPr/>
        </p:nvSpPr>
        <p:spPr>
          <a:xfrm>
            <a:off x="3154680" y="4992624"/>
            <a:ext cx="5577840" cy="82296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2547" name="TextBox 22546"/>
          <p:cNvSpPr txBox="1"/>
          <p:nvPr/>
        </p:nvSpPr>
        <p:spPr>
          <a:xfrm>
            <a:off x="3200400" y="5001768"/>
            <a:ext cx="5486400" cy="804672"/>
          </a:xfrm>
          <a:prstGeom prst="rect">
            <a:avLst/>
          </a:prstGeom>
          <a:noFill/>
        </p:spPr>
        <p:txBody>
          <a:bodyPr wrap="square" lIns="54864" tIns="27432" rIns="54864" bIns="27432" anchor="ctr">
            <a:noAutofit/>
          </a:bodyPr>
          <a:lstStyle/>
          <a:p>
            <a:pPr algn="l">
              <a:spcAft>
                <a:spcPts val="0"/>
              </a:spcAft>
            </a:pPr>
            <a:r>
              <a:rPr sz="1250" b="0" i="0">
                <a:solidFill>
                  <a:srgbClr val="26323F"/>
                </a:solidFill>
                <a:latin typeface="Calibri"/>
              </a:rPr>
              <a:t>Leave-one-machine-out test with one machine (ID 06) sealed from all design choices; 3 random seeds; AUC, precision, recall, F1, false-alarm rate; own-recording test.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234440" y="475488"/>
            <a:ext cx="6492240" cy="777240"/>
          </a:xfrm>
          <a:ln/>
        </p:spPr>
        <p:txBody>
          <a:bodyPr vert="horz" wrap="square" lIns="91440" tIns="45720" rIns="91440" bIns="45720" anchor="ctr" anchorCtr="0">
            <a:noAutofit/>
          </a:bodyPr>
          <a:lstStyle/>
          <a:p>
            <a:pPr algn="ctr" eaLnBrk="1" hangingPunct="1"/>
            <a:r>
              <a:rPr sz="3000">
                <a:latin typeface="Calibri"/>
              </a:rPr>
              <a:t>Innovation &amp; Potential Impact</a:t>
            </a:r>
            <a:endParaRPr lang="en-IN" altLang="en-US" dirty="0">
              <a:latin typeface="Calibri" panose="020F0502020204030204" pitchFamily="34" charset="0"/>
              <a:ea typeface="Calibri" panose="020F0502020204030204" pitchFamily="34" charset="0"/>
            </a:endParaRPr>
          </a:p>
        </p:txBody>
      </p:sp>
      <p:sp>
        <p:nvSpPr>
          <p:cNvPr id="23556"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6</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266F013C-0AF5-409F-B760-D3BF1868ADB5}"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23557" name="Rectangle 23556"/>
          <p:cNvSpPr/>
          <p:nvPr/>
        </p:nvSpPr>
        <p:spPr>
          <a:xfrm>
            <a:off x="1143000" y="1325880"/>
            <a:ext cx="2286000" cy="493776"/>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FFFFFF"/>
                </a:solidFill>
                <a:latin typeface="Calibri"/>
              </a:rPr>
              <a:t>Innovation aspects</a:t>
            </a:r>
          </a:p>
        </p:txBody>
      </p:sp>
      <p:sp>
        <p:nvSpPr>
          <p:cNvPr id="23558" name="Rectangle 23557"/>
          <p:cNvSpPr/>
          <p:nvPr/>
        </p:nvSpPr>
        <p:spPr>
          <a:xfrm>
            <a:off x="3429000" y="1325880"/>
            <a:ext cx="5303520" cy="493776"/>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3559" name="TextBox 23558"/>
          <p:cNvSpPr txBox="1"/>
          <p:nvPr/>
        </p:nvSpPr>
        <p:spPr>
          <a:xfrm>
            <a:off x="3474720" y="1325880"/>
            <a:ext cx="5212080" cy="493776"/>
          </a:xfrm>
          <a:prstGeom prst="rect">
            <a:avLst/>
          </a:prstGeom>
          <a:noFill/>
        </p:spPr>
        <p:txBody>
          <a:bodyPr wrap="square" lIns="54864" tIns="27432" rIns="54864" bIns="27432" anchor="ctr">
            <a:noAutofit/>
          </a:bodyPr>
          <a:lstStyle/>
          <a:p>
            <a:pPr algn="l">
              <a:spcAft>
                <a:spcPts val="0"/>
              </a:spcAft>
            </a:pPr>
            <a:r>
              <a:rPr sz="1200" b="0" i="0">
                <a:solidFill>
                  <a:srgbClr val="26323F"/>
                </a:solidFill>
                <a:latin typeface="Calibri"/>
              </a:rPr>
              <a:t>Adapts to a new machine from about 10 minutes of healthy sound: no retraining, no fault examples.</a:t>
            </a:r>
          </a:p>
        </p:txBody>
      </p:sp>
      <p:sp>
        <p:nvSpPr>
          <p:cNvPr id="23560" name="Rectangle 23559"/>
          <p:cNvSpPr/>
          <p:nvPr/>
        </p:nvSpPr>
        <p:spPr>
          <a:xfrm>
            <a:off x="1143000" y="1874519"/>
            <a:ext cx="2286000" cy="493776"/>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FFFFFF"/>
                </a:solidFill>
                <a:latin typeface="Calibri"/>
              </a:rPr>
              <a:t>Differentiators</a:t>
            </a:r>
          </a:p>
        </p:txBody>
      </p:sp>
      <p:sp>
        <p:nvSpPr>
          <p:cNvPr id="23561" name="Rectangle 23560"/>
          <p:cNvSpPr/>
          <p:nvPr/>
        </p:nvSpPr>
        <p:spPr>
          <a:xfrm>
            <a:off x="3429000" y="1874519"/>
            <a:ext cx="5303520" cy="493776"/>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3562" name="TextBox 23561"/>
          <p:cNvSpPr txBox="1"/>
          <p:nvPr/>
        </p:nvSpPr>
        <p:spPr>
          <a:xfrm>
            <a:off x="3474720" y="1874519"/>
            <a:ext cx="5212080" cy="493776"/>
          </a:xfrm>
          <a:prstGeom prst="rect">
            <a:avLst/>
          </a:prstGeom>
          <a:noFill/>
        </p:spPr>
        <p:txBody>
          <a:bodyPr wrap="square" lIns="54864" tIns="27432" rIns="54864" bIns="27432" anchor="ctr">
            <a:noAutofit/>
          </a:bodyPr>
          <a:lstStyle/>
          <a:p>
            <a:pPr algn="l">
              <a:spcAft>
                <a:spcPts val="0"/>
              </a:spcAft>
            </a:pPr>
            <a:r>
              <a:rPr sz="1200" b="0" i="0">
                <a:solidFill>
                  <a:srgbClr val="26323F"/>
                </a:solidFill>
                <a:latin typeface="Calibri"/>
              </a:rPr>
              <a:t>Tiny models (2.4k-6.9k parameters); tested on machines never seen in training, with failures reported.</a:t>
            </a:r>
          </a:p>
        </p:txBody>
      </p:sp>
      <p:sp>
        <p:nvSpPr>
          <p:cNvPr id="23563" name="Rectangle 23562"/>
          <p:cNvSpPr/>
          <p:nvPr/>
        </p:nvSpPr>
        <p:spPr>
          <a:xfrm>
            <a:off x="1143000" y="2423160"/>
            <a:ext cx="2286000" cy="493776"/>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FFFFFF"/>
                </a:solidFill>
                <a:latin typeface="Calibri"/>
              </a:rPr>
              <a:t>Creative problem solving</a:t>
            </a:r>
          </a:p>
        </p:txBody>
      </p:sp>
      <p:sp>
        <p:nvSpPr>
          <p:cNvPr id="23564" name="Rectangle 23563"/>
          <p:cNvSpPr/>
          <p:nvPr/>
        </p:nvSpPr>
        <p:spPr>
          <a:xfrm>
            <a:off x="3429000" y="2423160"/>
            <a:ext cx="5303520" cy="493776"/>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3565" name="TextBox 23564"/>
          <p:cNvSpPr txBox="1"/>
          <p:nvPr/>
        </p:nvSpPr>
        <p:spPr>
          <a:xfrm>
            <a:off x="3474720" y="2423160"/>
            <a:ext cx="5212080" cy="493776"/>
          </a:xfrm>
          <a:prstGeom prst="rect">
            <a:avLst/>
          </a:prstGeom>
          <a:noFill/>
        </p:spPr>
        <p:txBody>
          <a:bodyPr wrap="square" lIns="54864" tIns="27432" rIns="54864" bIns="27432" anchor="ctr">
            <a:noAutofit/>
          </a:bodyPr>
          <a:lstStyle/>
          <a:p>
            <a:pPr algn="l">
              <a:spcAft>
                <a:spcPts val="0"/>
              </a:spcAft>
            </a:pPr>
            <a:r>
              <a:rPr sz="1200" b="0" i="0">
                <a:solidFill>
                  <a:srgbClr val="26323F"/>
                </a:solidFill>
                <a:latin typeface="Calibri"/>
              </a:rPr>
              <a:t>Per-machine feature standardisation plus a per-machine alert level; ablation shows both are needed.</a:t>
            </a:r>
          </a:p>
        </p:txBody>
      </p:sp>
      <p:sp>
        <p:nvSpPr>
          <p:cNvPr id="23566" name="Rectangle 23565"/>
          <p:cNvSpPr/>
          <p:nvPr/>
        </p:nvSpPr>
        <p:spPr>
          <a:xfrm>
            <a:off x="1143000" y="2971800"/>
            <a:ext cx="2286000" cy="493776"/>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FFFFFF"/>
                </a:solidFill>
                <a:latin typeface="Calibri"/>
              </a:rPr>
              <a:t>Potential impact</a:t>
            </a:r>
          </a:p>
        </p:txBody>
      </p:sp>
      <p:sp>
        <p:nvSpPr>
          <p:cNvPr id="23567" name="Rectangle 23566"/>
          <p:cNvSpPr/>
          <p:nvPr/>
        </p:nvSpPr>
        <p:spPr>
          <a:xfrm>
            <a:off x="3429000" y="2971800"/>
            <a:ext cx="5303520" cy="493776"/>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3568" name="TextBox 23567"/>
          <p:cNvSpPr txBox="1"/>
          <p:nvPr/>
        </p:nvSpPr>
        <p:spPr>
          <a:xfrm>
            <a:off x="3474720" y="2971800"/>
            <a:ext cx="5212080" cy="493776"/>
          </a:xfrm>
          <a:prstGeom prst="rect">
            <a:avLst/>
          </a:prstGeom>
          <a:noFill/>
        </p:spPr>
        <p:txBody>
          <a:bodyPr wrap="square" lIns="54864" tIns="27432" rIns="54864" bIns="27432" anchor="ctr">
            <a:noAutofit/>
          </a:bodyPr>
          <a:lstStyle/>
          <a:p>
            <a:pPr algn="l">
              <a:spcAft>
                <a:spcPts val="0"/>
              </a:spcAft>
            </a:pPr>
            <a:r>
              <a:rPr sz="1200" b="0" i="0">
                <a:solidFill>
                  <a:srgbClr val="26323F"/>
                </a:solidFill>
                <a:latin typeface="Calibri"/>
              </a:rPr>
              <a:t>Earlier fault detection in small factories: less downtime, scrap and wasted power.</a:t>
            </a:r>
          </a:p>
        </p:txBody>
      </p:sp>
      <p:sp>
        <p:nvSpPr>
          <p:cNvPr id="23569" name="Rectangle 23568"/>
          <p:cNvSpPr/>
          <p:nvPr/>
        </p:nvSpPr>
        <p:spPr>
          <a:xfrm>
            <a:off x="1143000" y="3520440"/>
            <a:ext cx="2286000" cy="493776"/>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FFFFFF"/>
                </a:solidFill>
                <a:latin typeface="Calibri"/>
              </a:rPr>
              <a:t>SDG alignment</a:t>
            </a:r>
          </a:p>
        </p:txBody>
      </p:sp>
      <p:sp>
        <p:nvSpPr>
          <p:cNvPr id="23570" name="Rectangle 23569"/>
          <p:cNvSpPr/>
          <p:nvPr/>
        </p:nvSpPr>
        <p:spPr>
          <a:xfrm>
            <a:off x="3429000" y="3520440"/>
            <a:ext cx="5303520" cy="493776"/>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3571" name="TextBox 23570"/>
          <p:cNvSpPr txBox="1"/>
          <p:nvPr/>
        </p:nvSpPr>
        <p:spPr>
          <a:xfrm>
            <a:off x="3474720" y="3520440"/>
            <a:ext cx="5212080" cy="493776"/>
          </a:xfrm>
          <a:prstGeom prst="rect">
            <a:avLst/>
          </a:prstGeom>
          <a:noFill/>
        </p:spPr>
        <p:txBody>
          <a:bodyPr wrap="square" lIns="54864" tIns="27432" rIns="54864" bIns="27432" anchor="ctr">
            <a:noAutofit/>
          </a:bodyPr>
          <a:lstStyle/>
          <a:p>
            <a:pPr algn="l">
              <a:spcAft>
                <a:spcPts val="0"/>
              </a:spcAft>
            </a:pPr>
            <a:r>
              <a:rPr sz="1200" b="0" i="0">
                <a:solidFill>
                  <a:srgbClr val="26323F"/>
                </a:solidFill>
                <a:latin typeface="Calibri"/>
              </a:rPr>
              <a:t>SDG 7 (affordable and clean energy), SDG 9 (industry, innovation), SDG 12 (responsible production).</a:t>
            </a:r>
          </a:p>
        </p:txBody>
      </p:sp>
      <p:sp>
        <p:nvSpPr>
          <p:cNvPr id="23572" name="Rectangle 23571"/>
          <p:cNvSpPr/>
          <p:nvPr/>
        </p:nvSpPr>
        <p:spPr>
          <a:xfrm>
            <a:off x="1143000" y="4069080"/>
            <a:ext cx="2286000" cy="493776"/>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FFFFFF"/>
                </a:solidFill>
                <a:latin typeface="Calibri"/>
              </a:rPr>
              <a:t>Scalability and future scope</a:t>
            </a:r>
          </a:p>
        </p:txBody>
      </p:sp>
      <p:sp>
        <p:nvSpPr>
          <p:cNvPr id="23573" name="Rectangle 23572"/>
          <p:cNvSpPr/>
          <p:nvPr/>
        </p:nvSpPr>
        <p:spPr>
          <a:xfrm>
            <a:off x="3429000" y="4069080"/>
            <a:ext cx="5303520" cy="493776"/>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3574" name="TextBox 23573"/>
          <p:cNvSpPr txBox="1"/>
          <p:nvPr/>
        </p:nvSpPr>
        <p:spPr>
          <a:xfrm>
            <a:off x="3474720" y="4069080"/>
            <a:ext cx="5212080" cy="493776"/>
          </a:xfrm>
          <a:prstGeom prst="rect">
            <a:avLst/>
          </a:prstGeom>
          <a:noFill/>
        </p:spPr>
        <p:txBody>
          <a:bodyPr wrap="square" lIns="54864" tIns="27432" rIns="54864" bIns="27432" anchor="ctr">
            <a:noAutofit/>
          </a:bodyPr>
          <a:lstStyle/>
          <a:p>
            <a:pPr algn="l">
              <a:spcAft>
                <a:spcPts val="0"/>
              </a:spcAft>
            </a:pPr>
            <a:r>
              <a:rPr sz="1200" b="0" i="0">
                <a:solidFill>
                  <a:srgbClr val="26323F"/>
                </a:solidFill>
                <a:latin typeface="Calibri"/>
              </a:rPr>
              <a:t>Same pipeline for other machine types; add vibration and temperature; many low-cost nodes.</a:t>
            </a:r>
          </a:p>
        </p:txBody>
      </p:sp>
      <p:sp>
        <p:nvSpPr>
          <p:cNvPr id="23575" name="Rectangle 23574"/>
          <p:cNvSpPr/>
          <p:nvPr/>
        </p:nvSpPr>
        <p:spPr>
          <a:xfrm>
            <a:off x="1143000" y="4617720"/>
            <a:ext cx="2286000" cy="493776"/>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FFFFFF"/>
                </a:solidFill>
                <a:latin typeface="Calibri"/>
              </a:rPr>
              <a:t>Commercialization / deployment</a:t>
            </a:r>
          </a:p>
        </p:txBody>
      </p:sp>
      <p:sp>
        <p:nvSpPr>
          <p:cNvPr id="23576" name="Rectangle 23575"/>
          <p:cNvSpPr/>
          <p:nvPr/>
        </p:nvSpPr>
        <p:spPr>
          <a:xfrm>
            <a:off x="3429000" y="4617720"/>
            <a:ext cx="5303520" cy="493776"/>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3577" name="TextBox 23576"/>
          <p:cNvSpPr txBox="1"/>
          <p:nvPr/>
        </p:nvSpPr>
        <p:spPr>
          <a:xfrm>
            <a:off x="3474720" y="4617720"/>
            <a:ext cx="5212080" cy="493776"/>
          </a:xfrm>
          <a:prstGeom prst="rect">
            <a:avLst/>
          </a:prstGeom>
          <a:noFill/>
        </p:spPr>
        <p:txBody>
          <a:bodyPr wrap="square" lIns="54864" tIns="27432" rIns="54864" bIns="27432" anchor="ctr">
            <a:noAutofit/>
          </a:bodyPr>
          <a:lstStyle/>
          <a:p>
            <a:pPr algn="l">
              <a:spcAft>
                <a:spcPts val="0"/>
              </a:spcAft>
            </a:pPr>
            <a:r>
              <a:rPr sz="1200" b="0" i="0">
                <a:solidFill>
                  <a:srgbClr val="26323F"/>
                </a:solidFill>
                <a:latin typeface="Calibri"/>
              </a:rPr>
              <a:t>Target about Rs 1,500 hardware per node (proposal estimate); patent filing planned.</a:t>
            </a:r>
          </a:p>
        </p:txBody>
      </p:sp>
      <p:sp>
        <p:nvSpPr>
          <p:cNvPr id="23578" name="Rectangle 23577"/>
          <p:cNvSpPr/>
          <p:nvPr/>
        </p:nvSpPr>
        <p:spPr>
          <a:xfrm>
            <a:off x="1143000" y="5166359"/>
            <a:ext cx="2286000" cy="493776"/>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FFFFFF"/>
                </a:solidFill>
                <a:latin typeface="Calibri"/>
              </a:rPr>
              <a:t>Academic &amp; research contribution</a:t>
            </a:r>
          </a:p>
        </p:txBody>
      </p:sp>
      <p:sp>
        <p:nvSpPr>
          <p:cNvPr id="23579" name="Rectangle 23578"/>
          <p:cNvSpPr/>
          <p:nvPr/>
        </p:nvSpPr>
        <p:spPr>
          <a:xfrm>
            <a:off x="3429000" y="5166359"/>
            <a:ext cx="5303520" cy="493776"/>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3580" name="TextBox 23579"/>
          <p:cNvSpPr txBox="1"/>
          <p:nvPr/>
        </p:nvSpPr>
        <p:spPr>
          <a:xfrm>
            <a:off x="3474720" y="5166359"/>
            <a:ext cx="5212080" cy="493776"/>
          </a:xfrm>
          <a:prstGeom prst="rect">
            <a:avLst/>
          </a:prstGeom>
          <a:noFill/>
        </p:spPr>
        <p:txBody>
          <a:bodyPr wrap="square" lIns="54864" tIns="27432" rIns="54864" bIns="27432" anchor="ctr">
            <a:noAutofit/>
          </a:bodyPr>
          <a:lstStyle/>
          <a:p>
            <a:pPr algn="l">
              <a:spcAft>
                <a:spcPts val="0"/>
              </a:spcAft>
            </a:pPr>
            <a:r>
              <a:rPr sz="1200" b="0" i="0">
                <a:solidFill>
                  <a:srgbClr val="26323F"/>
                </a:solidFill>
                <a:latin typeface="Calibri"/>
              </a:rPr>
              <a:t>Leave-one-machine-out calibration study on MIMII with open scripts and results; paper planned.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234440" y="475488"/>
            <a:ext cx="6492240" cy="777240"/>
          </a:xfrm>
          <a:ln/>
        </p:spPr>
        <p:txBody>
          <a:bodyPr vert="horz" wrap="square" lIns="91440" tIns="45720" rIns="91440" bIns="45720" anchor="ctr" anchorCtr="0">
            <a:noAutofit/>
          </a:bodyPr>
          <a:lstStyle/>
          <a:p>
            <a:pPr algn="ctr" eaLnBrk="1" hangingPunct="1"/>
            <a:r>
              <a:rPr sz="3000">
                <a:latin typeface="Calibri"/>
              </a:rPr>
              <a:t>Literature Survey</a:t>
            </a:r>
            <a:endParaRPr lang="en-IN" altLang="en-US" b="1"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xfrm>
            <a:off x="1657350" y="6091238"/>
            <a:ext cx="1066800" cy="365125"/>
          </a:xfrm>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6EE6738C-772C-4E73-838E-B24548ECEE9B}"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24607" name="Slide Number Placeholder 2"/>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7</a:t>
            </a:fld>
            <a:r>
              <a:rPr lang="en-US" altLang="en-US" sz="900" dirty="0">
                <a:solidFill>
                  <a:srgbClr val="898989"/>
                </a:solidFill>
              </a:rPr>
              <a:t> of 21</a:t>
            </a:r>
          </a:p>
        </p:txBody>
      </p:sp>
      <p:graphicFrame>
        <p:nvGraphicFramePr>
          <p:cNvPr id="24608" name="Table 24607"/>
          <p:cNvGraphicFramePr>
            <a:graphicFrameLocks noGrp="1"/>
          </p:cNvGraphicFramePr>
          <p:nvPr/>
        </p:nvGraphicFramePr>
        <p:xfrm>
          <a:off x="1005840" y="1371600"/>
          <a:ext cx="7726680" cy="4041648"/>
        </p:xfrm>
        <a:graphic>
          <a:graphicData uri="http://schemas.openxmlformats.org/drawingml/2006/table">
            <a:tbl>
              <a:tblPr>
                <a:tableStyleId>{2D5ABB26-0587-4C30-8999-92F81FD0307C}</a:tableStyleId>
              </a:tblPr>
              <a:tblGrid>
                <a:gridCol w="1600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384048">
                <a:tc>
                  <a:txBody>
                    <a:bodyPr/>
                    <a:lstStyle/>
                    <a:p>
                      <a:r>
                        <a:rPr sz="1100" b="1">
                          <a:solidFill>
                            <a:srgbClr val="FFFFFF"/>
                          </a:solidFill>
                          <a:latin typeface="Calibri"/>
                        </a:rPr>
                        <a:t>Author / Paper</a:t>
                      </a:r>
                    </a:p>
                  </a:txBody>
                  <a:tcPr marL="54864" marR="54864" marT="27432" marB="27432" anchor="ctr">
                    <a:solidFill>
                      <a:srgbClr val="25578F"/>
                    </a:solidFill>
                  </a:tcPr>
                </a:tc>
                <a:tc>
                  <a:txBody>
                    <a:bodyPr/>
                    <a:lstStyle/>
                    <a:p>
                      <a:r>
                        <a:rPr sz="1100" b="1">
                          <a:solidFill>
                            <a:srgbClr val="FFFFFF"/>
                          </a:solidFill>
                          <a:latin typeface="Calibri"/>
                        </a:rPr>
                        <a:t>Venue, year</a:t>
                      </a:r>
                    </a:p>
                  </a:txBody>
                  <a:tcPr marL="54864" marR="54864" marT="27432" marB="27432" anchor="ctr">
                    <a:solidFill>
                      <a:srgbClr val="25578F"/>
                    </a:solidFill>
                  </a:tcPr>
                </a:tc>
                <a:tc>
                  <a:txBody>
                    <a:bodyPr/>
                    <a:lstStyle/>
                    <a:p>
                      <a:r>
                        <a:rPr sz="1100" b="1">
                          <a:solidFill>
                            <a:srgbClr val="FFFFFF"/>
                          </a:solidFill>
                          <a:latin typeface="Calibri"/>
                        </a:rPr>
                        <a:t>Technology / design</a:t>
                      </a:r>
                    </a:p>
                  </a:txBody>
                  <a:tcPr marL="54864" marR="54864" marT="27432" marB="27432" anchor="ctr">
                    <a:solidFill>
                      <a:srgbClr val="25578F"/>
                    </a:solidFill>
                  </a:tcPr>
                </a:tc>
                <a:tc>
                  <a:txBody>
                    <a:bodyPr/>
                    <a:lstStyle/>
                    <a:p>
                      <a:r>
                        <a:rPr sz="1100" b="1">
                          <a:solidFill>
                            <a:srgbClr val="FFFFFF"/>
                          </a:solidFill>
                          <a:latin typeface="Calibri"/>
                        </a:rPr>
                        <a:t>Results shared by author</a:t>
                      </a:r>
                    </a:p>
                  </a:txBody>
                  <a:tcPr marL="54864" marR="54864" marT="27432" marB="27432" anchor="ctr">
                    <a:solidFill>
                      <a:srgbClr val="25578F"/>
                    </a:solidFill>
                  </a:tcPr>
                </a:tc>
                <a:tc>
                  <a:txBody>
                    <a:bodyPr/>
                    <a:lstStyle/>
                    <a:p>
                      <a:r>
                        <a:rPr sz="1100" b="1">
                          <a:solidFill>
                            <a:srgbClr val="FFFFFF"/>
                          </a:solidFill>
                          <a:latin typeface="Calibri"/>
                        </a:rPr>
                        <a:t>What we infer</a:t>
                      </a:r>
                    </a:p>
                  </a:txBody>
                  <a:tcPr marL="54864" marR="54864" marT="27432" marB="27432" anchor="ctr">
                    <a:solidFill>
                      <a:srgbClr val="25578F"/>
                    </a:solidFill>
                  </a:tcPr>
                </a:tc>
                <a:extLst>
                  <a:ext uri="{0D108BD9-81ED-4DB2-BD59-A6C34878D82A}">
                    <a16:rowId xmlns:a16="http://schemas.microsoft.com/office/drawing/2014/main" val="10000"/>
                  </a:ext>
                </a:extLst>
              </a:tr>
              <a:tr h="731520">
                <a:tc>
                  <a:txBody>
                    <a:bodyPr/>
                    <a:lstStyle/>
                    <a:p>
                      <a:r>
                        <a:rPr sz="1000" b="0">
                          <a:solidFill>
                            <a:srgbClr val="26323F"/>
                          </a:solidFill>
                          <a:latin typeface="Calibri"/>
                        </a:rPr>
                        <a:t>Purohit et al., MIMII Dataset [1]</a:t>
                      </a:r>
                    </a:p>
                  </a:txBody>
                  <a:tcPr marL="54864" marR="54864" marT="27432" marB="27432" anchor="ctr">
                    <a:solidFill>
                      <a:srgbClr val="E6EEF7"/>
                    </a:solidFill>
                  </a:tcPr>
                </a:tc>
                <a:tc>
                  <a:txBody>
                    <a:bodyPr/>
                    <a:lstStyle/>
                    <a:p>
                      <a:r>
                        <a:rPr sz="1000" b="0">
                          <a:solidFill>
                            <a:srgbClr val="26323F"/>
                          </a:solidFill>
                          <a:latin typeface="Calibri"/>
                        </a:rPr>
                        <a:t>DCASE Workshop 2019</a:t>
                      </a:r>
                    </a:p>
                  </a:txBody>
                  <a:tcPr marL="54864" marR="54864" marT="27432" marB="27432" anchor="ctr">
                    <a:solidFill>
                      <a:srgbClr val="E6EEF7"/>
                    </a:solidFill>
                  </a:tcPr>
                </a:tc>
                <a:tc>
                  <a:txBody>
                    <a:bodyPr/>
                    <a:lstStyle/>
                    <a:p>
                      <a:r>
                        <a:rPr sz="1000" b="0">
                          <a:solidFill>
                            <a:srgbClr val="26323F"/>
                          </a:solidFill>
                          <a:latin typeface="Calibri"/>
                        </a:rPr>
                        <a:t>8-microphone array; dense autoencoder baseline</a:t>
                      </a:r>
                    </a:p>
                  </a:txBody>
                  <a:tcPr marL="54864" marR="54864" marT="27432" marB="27432" anchor="ctr">
                    <a:solidFill>
                      <a:srgbClr val="E6EEF7"/>
                    </a:solidFill>
                  </a:tcPr>
                </a:tc>
                <a:tc>
                  <a:txBody>
                    <a:bodyPr/>
                    <a:lstStyle/>
                    <a:p>
                      <a:r>
                        <a:rPr sz="1000" b="0">
                          <a:solidFill>
                            <a:srgbClr val="26323F"/>
                          </a:solidFill>
                          <a:latin typeface="Calibri"/>
                        </a:rPr>
                        <a:t>AUC 0.45-0.99 per machine; 6 dB averages: fan 0.91, pump 0.81, slider 0.88, valve 0.67</a:t>
                      </a:r>
                    </a:p>
                  </a:txBody>
                  <a:tcPr marL="54864" marR="54864" marT="27432" marB="27432" anchor="ctr">
                    <a:solidFill>
                      <a:srgbClr val="E6EEF7"/>
                    </a:solidFill>
                  </a:tcPr>
                </a:tc>
                <a:tc>
                  <a:txBody>
                    <a:bodyPr/>
                    <a:lstStyle/>
                    <a:p>
                      <a:r>
                        <a:rPr sz="1000" b="0">
                          <a:solidFill>
                            <a:srgbClr val="26323F"/>
                          </a:solidFill>
                          <a:latin typeface="Calibri"/>
                        </a:rPr>
                        <a:t>Our benchmark. Per-machine training; no adaptation to a new machine</a:t>
                      </a:r>
                    </a:p>
                  </a:txBody>
                  <a:tcPr marL="54864" marR="54864" marT="27432" marB="27432" anchor="ctr">
                    <a:solidFill>
                      <a:srgbClr val="E6EEF7"/>
                    </a:solidFill>
                  </a:tcPr>
                </a:tc>
                <a:extLst>
                  <a:ext uri="{0D108BD9-81ED-4DB2-BD59-A6C34878D82A}">
                    <a16:rowId xmlns:a16="http://schemas.microsoft.com/office/drawing/2014/main" val="10001"/>
                  </a:ext>
                </a:extLst>
              </a:tr>
              <a:tr h="731520">
                <a:tc>
                  <a:txBody>
                    <a:bodyPr/>
                    <a:lstStyle/>
                    <a:p>
                      <a:r>
                        <a:rPr sz="1000" b="0">
                          <a:solidFill>
                            <a:srgbClr val="26323F"/>
                          </a:solidFill>
                          <a:latin typeface="Calibri"/>
                        </a:rPr>
                        <a:t>Abbasi et al., OutlierNets [2]</a:t>
                      </a:r>
                    </a:p>
                  </a:txBody>
                  <a:tcPr marL="54864" marR="54864" marT="27432" marB="27432" anchor="ctr">
                    <a:solidFill>
                      <a:srgbClr val="F6F9FC"/>
                    </a:solidFill>
                  </a:tcPr>
                </a:tc>
                <a:tc>
                  <a:txBody>
                    <a:bodyPr/>
                    <a:lstStyle/>
                    <a:p>
                      <a:r>
                        <a:rPr sz="1000" b="0">
                          <a:solidFill>
                            <a:srgbClr val="26323F"/>
                          </a:solidFill>
                          <a:latin typeface="Calibri"/>
                        </a:rPr>
                        <a:t>arXiv 2021</a:t>
                      </a:r>
                    </a:p>
                  </a:txBody>
                  <a:tcPr marL="54864" marR="54864" marT="27432" marB="27432" anchor="ctr">
                    <a:solidFill>
                      <a:srgbClr val="F6F9FC"/>
                    </a:solidFill>
                  </a:tcPr>
                </a:tc>
                <a:tc>
                  <a:txBody>
                    <a:bodyPr/>
                    <a:lstStyle/>
                    <a:p>
                      <a:r>
                        <a:rPr sz="1000" b="0">
                          <a:solidFill>
                            <a:srgbClr val="26323F"/>
                          </a:solidFill>
                          <a:latin typeface="Calibri"/>
                        </a:rPr>
                        <a:t>Compact autoencoders, as few as 686 parameters (2.7 KB)</a:t>
                      </a:r>
                    </a:p>
                  </a:txBody>
                  <a:tcPr marL="54864" marR="54864" marT="27432" marB="27432" anchor="ctr">
                    <a:solidFill>
                      <a:srgbClr val="F6F9FC"/>
                    </a:solidFill>
                  </a:tcPr>
                </a:tc>
                <a:tc>
                  <a:txBody>
                    <a:bodyPr/>
                    <a:lstStyle/>
                    <a:p>
                      <a:r>
                        <a:rPr sz="1000" b="0">
                          <a:solidFill>
                            <a:srgbClr val="26323F"/>
                          </a:solidFill>
                          <a:latin typeface="Calibri"/>
                        </a:rPr>
                        <a:t>Accuracy comparable to much larger models; up to 21x lower CPU latency</a:t>
                      </a:r>
                    </a:p>
                  </a:txBody>
                  <a:tcPr marL="54864" marR="54864" marT="27432" marB="27432" anchor="ctr">
                    <a:solidFill>
                      <a:srgbClr val="F6F9FC"/>
                    </a:solidFill>
                  </a:tcPr>
                </a:tc>
                <a:tc>
                  <a:txBody>
                    <a:bodyPr/>
                    <a:lstStyle/>
                    <a:p>
                      <a:r>
                        <a:rPr sz="1000" b="0">
                          <a:solidFill>
                            <a:srgbClr val="26323F"/>
                          </a:solidFill>
                          <a:latin typeface="Calibri"/>
                        </a:rPr>
                        <a:t>Tiny models exist; no adaptation to a new machine, no vibration</a:t>
                      </a:r>
                    </a:p>
                  </a:txBody>
                  <a:tcPr marL="54864" marR="54864" marT="27432" marB="27432" anchor="ctr">
                    <a:solidFill>
                      <a:srgbClr val="F6F9FC"/>
                    </a:solidFill>
                  </a:tcPr>
                </a:tc>
                <a:extLst>
                  <a:ext uri="{0D108BD9-81ED-4DB2-BD59-A6C34878D82A}">
                    <a16:rowId xmlns:a16="http://schemas.microsoft.com/office/drawing/2014/main" val="10002"/>
                  </a:ext>
                </a:extLst>
              </a:tr>
              <a:tr h="731520">
                <a:tc>
                  <a:txBody>
                    <a:bodyPr/>
                    <a:lstStyle/>
                    <a:p>
                      <a:r>
                        <a:rPr sz="1000" b="0">
                          <a:solidFill>
                            <a:srgbClr val="26323F"/>
                          </a:solidFill>
                          <a:latin typeface="Calibri"/>
                        </a:rPr>
                        <a:t>Kolok et al., Low-Cost IoT Predictive Maintenance [3]</a:t>
                      </a:r>
                    </a:p>
                  </a:txBody>
                  <a:tcPr marL="54864" marR="54864" marT="27432" marB="27432" anchor="ctr">
                    <a:solidFill>
                      <a:srgbClr val="E6EEF7"/>
                    </a:solidFill>
                  </a:tcPr>
                </a:tc>
                <a:tc>
                  <a:txBody>
                    <a:bodyPr/>
                    <a:lstStyle/>
                    <a:p>
                      <a:r>
                        <a:rPr sz="1000" b="0">
                          <a:solidFill>
                            <a:srgbClr val="26323F"/>
                          </a:solidFill>
                          <a:latin typeface="Calibri"/>
                        </a:rPr>
                        <a:t>Sensors 2025</a:t>
                      </a:r>
                    </a:p>
                  </a:txBody>
                  <a:tcPr marL="54864" marR="54864" marT="27432" marB="27432" anchor="ctr">
                    <a:solidFill>
                      <a:srgbClr val="E6EEF7"/>
                    </a:solidFill>
                  </a:tcPr>
                </a:tc>
                <a:tc>
                  <a:txBody>
                    <a:bodyPr/>
                    <a:lstStyle/>
                    <a:p>
                      <a:r>
                        <a:rPr sz="1000" b="0">
                          <a:solidFill>
                            <a:srgbClr val="26323F"/>
                          </a:solidFill>
                          <a:latin typeface="Calibri"/>
                        </a:rPr>
                        <a:t>ESP32 + MPU6050 + INMP441; Isolation Forest on a laptop</a:t>
                      </a:r>
                    </a:p>
                  </a:txBody>
                  <a:tcPr marL="54864" marR="54864" marT="27432" marB="27432" anchor="ctr">
                    <a:solidFill>
                      <a:srgbClr val="E6EEF7"/>
                    </a:solidFill>
                  </a:tcPr>
                </a:tc>
                <a:tc>
                  <a:txBody>
                    <a:bodyPr/>
                    <a:lstStyle/>
                    <a:p>
                      <a:r>
                        <a:rPr sz="1000" b="0">
                          <a:solidFill>
                            <a:srgbClr val="26323F"/>
                          </a:solidFill>
                          <a:latin typeface="Calibri"/>
                        </a:rPr>
                        <a:t>ROC-AUC 0.78, accuracy 0.73 (paper also quotes 93.4%)</a:t>
                      </a:r>
                    </a:p>
                  </a:txBody>
                  <a:tcPr marL="54864" marR="54864" marT="27432" marB="27432" anchor="ctr">
                    <a:solidFill>
                      <a:srgbClr val="E6EEF7"/>
                    </a:solidFill>
                  </a:tcPr>
                </a:tc>
                <a:tc>
                  <a:txBody>
                    <a:bodyPr/>
                    <a:lstStyle/>
                    <a:p>
                      <a:r>
                        <a:rPr sz="1000" b="0">
                          <a:solidFill>
                            <a:srgbClr val="26323F"/>
                          </a:solidFill>
                          <a:latin typeface="Calibri"/>
                        </a:rPr>
                        <a:t>Vibration only, one fault type; microphone not used; figures inconsistent</a:t>
                      </a:r>
                    </a:p>
                  </a:txBody>
                  <a:tcPr marL="54864" marR="54864" marT="27432" marB="27432" anchor="ctr">
                    <a:solidFill>
                      <a:srgbClr val="E6EEF7"/>
                    </a:solidFill>
                  </a:tcPr>
                </a:tc>
                <a:extLst>
                  <a:ext uri="{0D108BD9-81ED-4DB2-BD59-A6C34878D82A}">
                    <a16:rowId xmlns:a16="http://schemas.microsoft.com/office/drawing/2014/main" val="10003"/>
                  </a:ext>
                </a:extLst>
              </a:tr>
              <a:tr h="731520">
                <a:tc>
                  <a:txBody>
                    <a:bodyPr/>
                    <a:lstStyle/>
                    <a:p>
                      <a:r>
                        <a:rPr sz="1000" b="0">
                          <a:solidFill>
                            <a:srgbClr val="26323F"/>
                          </a:solidFill>
                          <a:latin typeface="Calibri"/>
                        </a:rPr>
                        <a:t>Yamaguchi et al., AdaFlow [4]</a:t>
                      </a:r>
                    </a:p>
                  </a:txBody>
                  <a:tcPr marL="54864" marR="54864" marT="27432" marB="27432" anchor="ctr">
                    <a:solidFill>
                      <a:srgbClr val="F6F9FC"/>
                    </a:solidFill>
                  </a:tcPr>
                </a:tc>
                <a:tc>
                  <a:txBody>
                    <a:bodyPr/>
                    <a:lstStyle/>
                    <a:p>
                      <a:r>
                        <a:rPr sz="1000" b="0">
                          <a:solidFill>
                            <a:srgbClr val="26323F"/>
                          </a:solidFill>
                          <a:latin typeface="Calibri"/>
                        </a:rPr>
                        <a:t>ICASSP 2019</a:t>
                      </a:r>
                    </a:p>
                  </a:txBody>
                  <a:tcPr marL="54864" marR="54864" marT="27432" marB="27432" anchor="ctr">
                    <a:solidFill>
                      <a:srgbClr val="F6F9FC"/>
                    </a:solidFill>
                  </a:tcPr>
                </a:tc>
                <a:tc>
                  <a:txBody>
                    <a:bodyPr/>
                    <a:lstStyle/>
                    <a:p>
                      <a:r>
                        <a:rPr sz="1000" b="0">
                          <a:solidFill>
                            <a:srgbClr val="26323F"/>
                          </a:solidFill>
                          <a:latin typeface="Calibri"/>
                        </a:rPr>
                        <a:t>Density model with adaptive batch normalisation</a:t>
                      </a:r>
                    </a:p>
                  </a:txBody>
                  <a:tcPr marL="54864" marR="54864" marT="27432" marB="27432" anchor="ctr">
                    <a:solidFill>
                      <a:srgbClr val="F6F9FC"/>
                    </a:solidFill>
                  </a:tcPr>
                </a:tc>
                <a:tc>
                  <a:txBody>
                    <a:bodyPr/>
                    <a:lstStyle/>
                    <a:p>
                      <a:r>
                        <a:rPr sz="1000" b="0">
                          <a:solidFill>
                            <a:srgbClr val="26323F"/>
                          </a:solidFill>
                          <a:latin typeface="Calibri"/>
                        </a:rPr>
                        <a:t>Adapts to a new distribution in one pass (abstract); no numbers noted</a:t>
                      </a:r>
                    </a:p>
                  </a:txBody>
                  <a:tcPr marL="54864" marR="54864" marT="27432" marB="27432" anchor="ctr">
                    <a:solidFill>
                      <a:srgbClr val="F6F9FC"/>
                    </a:solidFill>
                  </a:tcPr>
                </a:tc>
                <a:tc>
                  <a:txBody>
                    <a:bodyPr/>
                    <a:lstStyle/>
                    <a:p>
                      <a:r>
                        <a:rPr sz="1000" b="0">
                          <a:solidFill>
                            <a:srgbClr val="26323F"/>
                          </a:solidFill>
                          <a:latin typeface="Calibri"/>
                        </a:rPr>
                        <a:t>Closest idea to our calibration; we have read the abstract only</a:t>
                      </a:r>
                    </a:p>
                  </a:txBody>
                  <a:tcPr marL="54864" marR="54864" marT="27432" marB="27432" anchor="ctr">
                    <a:solidFill>
                      <a:srgbClr val="F6F9FC"/>
                    </a:solidFill>
                  </a:tcPr>
                </a:tc>
                <a:extLst>
                  <a:ext uri="{0D108BD9-81ED-4DB2-BD59-A6C34878D82A}">
                    <a16:rowId xmlns:a16="http://schemas.microsoft.com/office/drawing/2014/main" val="10004"/>
                  </a:ext>
                </a:extLst>
              </a:tr>
              <a:tr h="731520">
                <a:tc>
                  <a:txBody>
                    <a:bodyPr/>
                    <a:lstStyle/>
                    <a:p>
                      <a:r>
                        <a:rPr sz="1000" b="0">
                          <a:solidFill>
                            <a:srgbClr val="26323F"/>
                          </a:solidFill>
                          <a:latin typeface="Calibri"/>
                        </a:rPr>
                        <a:t>Chen, Bondi, Das, few-shot adaptation [5]</a:t>
                      </a:r>
                    </a:p>
                  </a:txBody>
                  <a:tcPr marL="54864" marR="54864" marT="27432" marB="27432" anchor="ctr">
                    <a:solidFill>
                      <a:srgbClr val="E6EEF7"/>
                    </a:solidFill>
                  </a:tcPr>
                </a:tc>
                <a:tc>
                  <a:txBody>
                    <a:bodyPr/>
                    <a:lstStyle/>
                    <a:p>
                      <a:r>
                        <a:rPr sz="1000" b="0">
                          <a:solidFill>
                            <a:srgbClr val="26323F"/>
                          </a:solidFill>
                          <a:latin typeface="Calibri"/>
                        </a:rPr>
                        <a:t>arXiv 2022</a:t>
                      </a:r>
                    </a:p>
                  </a:txBody>
                  <a:tcPr marL="54864" marR="54864" marT="27432" marB="27432" anchor="ctr">
                    <a:solidFill>
                      <a:srgbClr val="E6EEF7"/>
                    </a:solidFill>
                  </a:tcPr>
                </a:tc>
                <a:tc>
                  <a:txBody>
                    <a:bodyPr/>
                    <a:lstStyle/>
                    <a:p>
                      <a:r>
                        <a:rPr sz="1000" b="0">
                          <a:solidFill>
                            <a:srgbClr val="26323F"/>
                          </a:solidFill>
                          <a:latin typeface="Calibri"/>
                        </a:rPr>
                        <a:t>Meta-learning for new machine conditions from few samples</a:t>
                      </a:r>
                    </a:p>
                  </a:txBody>
                  <a:tcPr marL="54864" marR="54864" marT="27432" marB="27432" anchor="ctr">
                    <a:solidFill>
                      <a:srgbClr val="E6EEF7"/>
                    </a:solidFill>
                  </a:tcPr>
                </a:tc>
                <a:tc>
                  <a:txBody>
                    <a:bodyPr/>
                    <a:lstStyle/>
                    <a:p>
                      <a:r>
                        <a:rPr sz="1000" b="0">
                          <a:solidFill>
                            <a:srgbClr val="26323F"/>
                          </a:solidFill>
                          <a:latin typeface="Calibri"/>
                        </a:rPr>
                        <a:t>Not stated on the abstract page</a:t>
                      </a:r>
                    </a:p>
                  </a:txBody>
                  <a:tcPr marL="54864" marR="54864" marT="27432" marB="27432" anchor="ctr">
                    <a:solidFill>
                      <a:srgbClr val="E6EEF7"/>
                    </a:solidFill>
                  </a:tcPr>
                </a:tc>
                <a:tc>
                  <a:txBody>
                    <a:bodyPr/>
                    <a:lstStyle/>
                    <a:p>
                      <a:r>
                        <a:rPr sz="1000" b="0">
                          <a:solidFill>
                            <a:srgbClr val="26323F"/>
                          </a:solidFill>
                          <a:latin typeface="Calibri"/>
                        </a:rPr>
                        <a:t>Adapts from few samples, with a heavier method than ours</a:t>
                      </a:r>
                    </a:p>
                  </a:txBody>
                  <a:tcPr marL="54864" marR="54864" marT="27432" marB="27432" anchor="ctr">
                    <a:solidFill>
                      <a:srgbClr val="E6EEF7"/>
                    </a:solidFill>
                  </a:tcPr>
                </a:tc>
                <a:extLst>
                  <a:ext uri="{0D108BD9-81ED-4DB2-BD59-A6C34878D82A}">
                    <a16:rowId xmlns:a16="http://schemas.microsoft.com/office/drawing/2014/main" val="10005"/>
                  </a:ext>
                </a:extLst>
              </a:tr>
            </a:tbl>
          </a:graphicData>
        </a:graphic>
      </p:graphicFrame>
      <p:sp>
        <p:nvSpPr>
          <p:cNvPr id="24609" name="TextBox 24608"/>
          <p:cNvSpPr txBox="1"/>
          <p:nvPr/>
        </p:nvSpPr>
        <p:spPr>
          <a:xfrm>
            <a:off x="1005840" y="5577840"/>
            <a:ext cx="7772400" cy="457200"/>
          </a:xfrm>
          <a:prstGeom prst="rect">
            <a:avLst/>
          </a:prstGeom>
          <a:noFill/>
        </p:spPr>
        <p:txBody>
          <a:bodyPr wrap="square" lIns="54864" tIns="27432" rIns="54864" bIns="27432" anchor="t">
            <a:noAutofit/>
          </a:bodyPr>
          <a:lstStyle/>
          <a:p>
            <a:pPr algn="l">
              <a:spcAft>
                <a:spcPts val="400"/>
              </a:spcAft>
            </a:pPr>
            <a:r>
              <a:rPr sz="1050" b="0" i="1">
                <a:solidFill>
                  <a:srgbClr val="6B7580"/>
                </a:solidFill>
                <a:latin typeface="Calibri"/>
              </a:rPr>
              <a:t>Only papers whose abstract or full text we opened are listed. Numbers are the authors' own and are not directly comparable with ours.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Research Gap</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8</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20485" name="Rectangle 20484"/>
          <p:cNvSpPr/>
          <p:nvPr/>
        </p:nvSpPr>
        <p:spPr>
          <a:xfrm>
            <a:off x="1143000" y="1371600"/>
            <a:ext cx="3657600" cy="384048"/>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FFFFF"/>
                </a:solidFill>
                <a:latin typeface="Calibri"/>
              </a:rPr>
              <a:t>What exists</a:t>
            </a:r>
          </a:p>
        </p:txBody>
      </p:sp>
      <p:sp>
        <p:nvSpPr>
          <p:cNvPr id="20486" name="TextBox 20485"/>
          <p:cNvSpPr txBox="1"/>
          <p:nvPr/>
        </p:nvSpPr>
        <p:spPr>
          <a:xfrm>
            <a:off x="1143000" y="1828800"/>
            <a:ext cx="3657600" cy="2926080"/>
          </a:xfrm>
          <a:prstGeom prst="rect">
            <a:avLst/>
          </a:prstGeom>
          <a:noFill/>
        </p:spPr>
        <p:txBody>
          <a:bodyPr wrap="square" lIns="54864" tIns="27432" rIns="54864" bIns="27432" anchor="t">
            <a:noAutofit/>
          </a:bodyPr>
          <a:lstStyle/>
          <a:p>
            <a:pPr marL="182880" indent="-182880" algn="l">
              <a:spcAft>
                <a:spcPts val="700"/>
              </a:spcAft>
              <a:buFont typeface="Arial"/>
              <a:buChar char="•"/>
            </a:pPr>
            <a:r>
              <a:rPr sz="1350" b="0" i="0">
                <a:solidFill>
                  <a:srgbClr val="26323F"/>
                </a:solidFill>
                <a:latin typeface="Calibri"/>
              </a:rPr>
              <a:t>Machine-sound benchmarks (MIMII, DCASE) train one model per machine or use large models.</a:t>
            </a:r>
          </a:p>
          <a:p>
            <a:pPr marL="182880" indent="-182880" algn="l">
              <a:spcAft>
                <a:spcPts val="700"/>
              </a:spcAft>
              <a:buFont typeface="Arial"/>
              <a:buChar char="•"/>
            </a:pPr>
            <a:r>
              <a:rPr sz="1350" b="0" i="0">
                <a:solidFill>
                  <a:srgbClr val="26323F"/>
                </a:solidFill>
                <a:latin typeface="Calibri"/>
              </a:rPr>
              <a:t>Tiny autoencoders exist, but without adapting to a new machine.</a:t>
            </a:r>
          </a:p>
          <a:p>
            <a:pPr marL="182880" indent="-182880" algn="l">
              <a:spcAft>
                <a:spcPts val="700"/>
              </a:spcAft>
              <a:buFont typeface="Arial"/>
              <a:buChar char="•"/>
            </a:pPr>
            <a:r>
              <a:rPr sz="1350" b="0" i="0">
                <a:solidFill>
                  <a:srgbClr val="26323F"/>
                </a:solidFill>
                <a:latin typeface="Calibri"/>
              </a:rPr>
              <a:t>Low-cost ESP32 monitors we found are vibration-only.</a:t>
            </a:r>
          </a:p>
          <a:p>
            <a:pPr marL="182880" indent="-182880" algn="l">
              <a:spcAft>
                <a:spcPts val="700"/>
              </a:spcAft>
              <a:buFont typeface="Arial"/>
              <a:buChar char="•"/>
            </a:pPr>
            <a:r>
              <a:rPr sz="1350" b="0" i="0">
                <a:solidFill>
                  <a:srgbClr val="26323F"/>
                </a:solidFill>
                <a:latin typeface="Calibri"/>
              </a:rPr>
              <a:t>Adaptation methods (AdaFlow, few-shot) are heavier; we found no low-cost-chip results for them.</a:t>
            </a:r>
          </a:p>
        </p:txBody>
      </p:sp>
      <p:sp>
        <p:nvSpPr>
          <p:cNvPr id="20487" name="Rectangle 20486"/>
          <p:cNvSpPr/>
          <p:nvPr/>
        </p:nvSpPr>
        <p:spPr>
          <a:xfrm>
            <a:off x="5029200" y="1371600"/>
            <a:ext cx="3703320" cy="384048"/>
          </a:xfrm>
          <a:prstGeom prst="rect">
            <a:avLst/>
          </a:prstGeom>
          <a:solidFill>
            <a:srgbClr val="1581A8"/>
          </a:solidFill>
          <a:ln w="19050">
            <a:solidFill>
              <a:srgbClr val="1581A8"/>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FFFFF"/>
                </a:solidFill>
                <a:latin typeface="Calibri"/>
              </a:rPr>
              <a:t>Gap we address</a:t>
            </a:r>
          </a:p>
        </p:txBody>
      </p:sp>
      <p:sp>
        <p:nvSpPr>
          <p:cNvPr id="20488" name="TextBox 20487"/>
          <p:cNvSpPr txBox="1"/>
          <p:nvPr/>
        </p:nvSpPr>
        <p:spPr>
          <a:xfrm>
            <a:off x="5029200" y="1828800"/>
            <a:ext cx="3703320" cy="2926080"/>
          </a:xfrm>
          <a:prstGeom prst="rect">
            <a:avLst/>
          </a:prstGeom>
          <a:noFill/>
        </p:spPr>
        <p:txBody>
          <a:bodyPr wrap="square" lIns="54864" tIns="27432" rIns="54864" bIns="27432" anchor="t">
            <a:noAutofit/>
          </a:bodyPr>
          <a:lstStyle/>
          <a:p>
            <a:pPr marL="182880" indent="-182880" algn="l">
              <a:spcAft>
                <a:spcPts val="700"/>
              </a:spcAft>
              <a:buFont typeface="Arial"/>
              <a:buChar char="•"/>
            </a:pPr>
            <a:r>
              <a:rPr sz="1350" b="1" i="0">
                <a:solidFill>
                  <a:srgbClr val="25578F"/>
                </a:solidFill>
                <a:latin typeface="Calibri"/>
              </a:rPr>
              <a:t>New-machine gap: </a:t>
            </a:r>
            <a:r>
              <a:rPr sz="1350" b="0" i="0">
                <a:solidFill>
                  <a:srgbClr val="26323F"/>
                </a:solidFill>
                <a:latin typeface="Calibri"/>
              </a:rPr>
              <a:t>without calibration, AUC is near 0.5 for fans and pumps on a healthy new machine.</a:t>
            </a:r>
          </a:p>
          <a:p>
            <a:pPr marL="182880" indent="-182880" algn="l">
              <a:spcAft>
                <a:spcPts val="700"/>
              </a:spcAft>
              <a:buFont typeface="Arial"/>
              <a:buChar char="•"/>
            </a:pPr>
            <a:r>
              <a:rPr sz="1350" b="1" i="0">
                <a:solidFill>
                  <a:srgbClr val="25578F"/>
                </a:solidFill>
                <a:latin typeface="Calibri"/>
              </a:rPr>
              <a:t>Cost gap: </a:t>
            </a:r>
            <a:r>
              <a:rPr sz="1350" b="0" i="0">
                <a:solidFill>
                  <a:srgbClr val="26323F"/>
                </a:solidFill>
                <a:latin typeface="Calibri"/>
              </a:rPr>
              <a:t>tiny model, about 10 minutes of healthy sound, no fault examples, no retraining.</a:t>
            </a:r>
          </a:p>
          <a:p>
            <a:pPr marL="182880" indent="-182880" algn="l">
              <a:spcAft>
                <a:spcPts val="700"/>
              </a:spcAft>
              <a:buFont typeface="Arial"/>
              <a:buChar char="•"/>
            </a:pPr>
            <a:r>
              <a:rPr sz="1350" b="1" i="0">
                <a:solidFill>
                  <a:srgbClr val="25578F"/>
                </a:solidFill>
                <a:latin typeface="Calibri"/>
              </a:rPr>
              <a:t>Evidence gap: </a:t>
            </a:r>
            <a:r>
              <a:rPr sz="1350" b="0" i="0">
                <a:solidFill>
                  <a:srgbClr val="26323F"/>
                </a:solidFill>
                <a:latin typeface="Calibri"/>
              </a:rPr>
              <a:t>leave-one-machine-out tests with failures reported (valves, heavy noise).</a:t>
            </a:r>
          </a:p>
          <a:p>
            <a:pPr marL="182880" indent="-182880" algn="l">
              <a:spcAft>
                <a:spcPts val="700"/>
              </a:spcAft>
              <a:buFont typeface="Arial"/>
              <a:buChar char="•"/>
            </a:pPr>
            <a:r>
              <a:rPr sz="1350" b="1" i="0">
                <a:solidFill>
                  <a:srgbClr val="25578F"/>
                </a:solidFill>
                <a:latin typeface="Calibri"/>
              </a:rPr>
              <a:t>Open in our search: </a:t>
            </a:r>
            <a:r>
              <a:rPr sz="1350" b="0" i="0">
                <a:solidFill>
                  <a:srgbClr val="26323F"/>
                </a:solidFill>
                <a:latin typeface="Calibri"/>
              </a:rPr>
              <a:t>energy and noise estimate of a fault on a low-cost node (search was narrow).</a:t>
            </a:r>
          </a:p>
        </p:txBody>
      </p:sp>
      <p:sp>
        <p:nvSpPr>
          <p:cNvPr id="20489" name="Rectangle 20488"/>
          <p:cNvSpPr/>
          <p:nvPr/>
        </p:nvSpPr>
        <p:spPr>
          <a:xfrm>
            <a:off x="1143000" y="4892040"/>
            <a:ext cx="7589520" cy="77724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26323F"/>
                </a:solidFill>
                <a:latin typeface="Calibri"/>
              </a:rPr>
              <a:t>We do not claim a new method. The closest idea is AdaFlow (ICASSP 2019), which uses adaptive normalisation; our contribution is the low-cost, tiny-model version with a leave-one-machine-out test.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234440" y="475488"/>
            <a:ext cx="6492240" cy="777240"/>
          </a:xfrm>
          <a:ln/>
        </p:spPr>
        <p:txBody>
          <a:bodyPr vert="horz" wrap="square" lIns="91440" tIns="45720" rIns="91440" bIns="45720" anchor="ctr" anchorCtr="0">
            <a:noAutofit/>
          </a:bodyPr>
          <a:lstStyle/>
          <a:p>
            <a:pPr algn="ctr" eaLnBrk="1" hangingPunct="1"/>
            <a:r>
              <a:rPr sz="2800">
                <a:latin typeface="Calibri"/>
              </a:rPr>
              <a:t>High-Level Design: What Is Built</a:t>
            </a:r>
            <a:endParaRPr lang="en-IN" altLang="en-US"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xfrm>
            <a:off x="1371600" y="6099175"/>
            <a:ext cx="1066800" cy="369888"/>
          </a:xfrm>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3139FD1F-834A-4638-B533-B13C9FA93A13}"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25605"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9</a:t>
            </a:fld>
            <a:r>
              <a:rPr lang="en-US" altLang="en-US" sz="900" dirty="0">
                <a:solidFill>
                  <a:srgbClr val="898989"/>
                </a:solidFill>
              </a:rPr>
              <a:t> of 21</a:t>
            </a:r>
          </a:p>
        </p:txBody>
      </p:sp>
      <p:sp>
        <p:nvSpPr>
          <p:cNvPr id="25606" name="TextBox 25605"/>
          <p:cNvSpPr txBox="1"/>
          <p:nvPr/>
        </p:nvSpPr>
        <p:spPr>
          <a:xfrm>
            <a:off x="1143000" y="1325880"/>
            <a:ext cx="7589520" cy="320040"/>
          </a:xfrm>
          <a:prstGeom prst="rect">
            <a:avLst/>
          </a:prstGeom>
          <a:noFill/>
        </p:spPr>
        <p:txBody>
          <a:bodyPr wrap="square" lIns="54864" tIns="27432" rIns="54864" bIns="27432" anchor="t">
            <a:noAutofit/>
          </a:bodyPr>
          <a:lstStyle/>
          <a:p>
            <a:pPr algn="l">
              <a:spcAft>
                <a:spcPts val="400"/>
              </a:spcAft>
            </a:pPr>
            <a:r>
              <a:rPr sz="1400" b="1" i="0">
                <a:solidFill>
                  <a:srgbClr val="25578F"/>
                </a:solidFill>
                <a:latin typeface="Calibri"/>
              </a:rPr>
              <a:t>A. Training (laptop, once per machine type)</a:t>
            </a:r>
          </a:p>
        </p:txBody>
      </p:sp>
      <p:sp>
        <p:nvSpPr>
          <p:cNvPr id="25607" name="Rounded Rectangle 25606"/>
          <p:cNvSpPr/>
          <p:nvPr/>
        </p:nvSpPr>
        <p:spPr>
          <a:xfrm>
            <a:off x="1143000" y="1691640"/>
            <a:ext cx="1645920" cy="868680"/>
          </a:xfrm>
          <a:prstGeom prst="roundRect">
            <a:avLst/>
          </a:prstGeom>
          <a:solidFill>
            <a:srgbClr val="F6F9FC"/>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26323F"/>
                </a:solidFill>
                <a:latin typeface="Calibri"/>
              </a:rPr>
              <a:t>Healthy sound of OTHER machines of the same type</a:t>
            </a:r>
          </a:p>
        </p:txBody>
      </p:sp>
      <p:sp>
        <p:nvSpPr>
          <p:cNvPr id="25608" name="Rounded Rectangle 25607"/>
          <p:cNvSpPr/>
          <p:nvPr/>
        </p:nvSpPr>
        <p:spPr>
          <a:xfrm>
            <a:off x="3108960" y="1691640"/>
            <a:ext cx="1645920" cy="868680"/>
          </a:xfrm>
          <a:prstGeom prst="roundRect">
            <a:avLst/>
          </a:prstGeom>
          <a:solidFill>
            <a:srgbClr val="F6F9FC"/>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26323F"/>
                </a:solidFill>
                <a:latin typeface="Calibri"/>
              </a:rPr>
              <a:t>Log-mel features</a:t>
            </a:r>
          </a:p>
          <a:p>
            <a:pPr algn="ctr"/>
            <a:r>
              <a:rPr sz="1150" b="0">
                <a:solidFill>
                  <a:srgbClr val="26323F"/>
                </a:solidFill>
                <a:latin typeface="Calibri"/>
              </a:rPr>
              <a:t>64 ms window, 32 ms step</a:t>
            </a:r>
          </a:p>
        </p:txBody>
      </p:sp>
      <p:cxnSp>
        <p:nvCxnSpPr>
          <p:cNvPr id="25609" name="Connector 25608"/>
          <p:cNvCxnSpPr/>
          <p:nvPr/>
        </p:nvCxnSpPr>
        <p:spPr>
          <a:xfrm>
            <a:off x="2807208" y="2125980"/>
            <a:ext cx="283464" cy="0"/>
          </a:xfrm>
          <a:prstGeom prst="line">
            <a:avLst/>
          </a:prstGeom>
          <a:ln w="22225">
            <a:solidFill>
              <a:srgbClr val="25578F"/>
            </a:solidFill>
            <a:tailEnd type="triangle"/>
          </a:ln>
        </p:spPr>
        <p:style>
          <a:lnRef idx="2">
            <a:schemeClr val="accent1"/>
          </a:lnRef>
          <a:fillRef idx="0">
            <a:schemeClr val="accent1"/>
          </a:fillRef>
          <a:effectRef idx="1">
            <a:schemeClr val="accent1"/>
          </a:effectRef>
          <a:fontRef idx="minor">
            <a:schemeClr val="tx1"/>
          </a:fontRef>
        </p:style>
      </p:cxnSp>
      <p:sp>
        <p:nvSpPr>
          <p:cNvPr id="25610" name="Rounded Rectangle 25609"/>
          <p:cNvSpPr/>
          <p:nvPr/>
        </p:nvSpPr>
        <p:spPr>
          <a:xfrm>
            <a:off x="5074920" y="1691640"/>
            <a:ext cx="1645920" cy="868680"/>
          </a:xfrm>
          <a:prstGeom prst="roundRect">
            <a:avLst/>
          </a:prstGeom>
          <a:solidFill>
            <a:srgbClr val="F6F9FC"/>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26323F"/>
                </a:solidFill>
                <a:latin typeface="Calibri"/>
              </a:rPr>
              <a:t>Train small autoencoder</a:t>
            </a:r>
          </a:p>
          <a:p>
            <a:pPr algn="ctr"/>
            <a:r>
              <a:rPr sz="1150" b="0">
                <a:solidFill>
                  <a:srgbClr val="26323F"/>
                </a:solidFill>
                <a:latin typeface="Calibri"/>
              </a:rPr>
              <a:t>(healthy sound only)</a:t>
            </a:r>
          </a:p>
        </p:txBody>
      </p:sp>
      <p:cxnSp>
        <p:nvCxnSpPr>
          <p:cNvPr id="25611" name="Connector 25610"/>
          <p:cNvCxnSpPr/>
          <p:nvPr/>
        </p:nvCxnSpPr>
        <p:spPr>
          <a:xfrm>
            <a:off x="4773168" y="2125980"/>
            <a:ext cx="283464" cy="0"/>
          </a:xfrm>
          <a:prstGeom prst="line">
            <a:avLst/>
          </a:prstGeom>
          <a:ln w="22225">
            <a:solidFill>
              <a:srgbClr val="25578F"/>
            </a:solidFill>
            <a:tailEnd type="triangle"/>
          </a:ln>
        </p:spPr>
        <p:style>
          <a:lnRef idx="2">
            <a:schemeClr val="accent1"/>
          </a:lnRef>
          <a:fillRef idx="0">
            <a:schemeClr val="accent1"/>
          </a:fillRef>
          <a:effectRef idx="1">
            <a:schemeClr val="accent1"/>
          </a:effectRef>
          <a:fontRef idx="minor">
            <a:schemeClr val="tx1"/>
          </a:fontRef>
        </p:style>
      </p:cxnSp>
      <p:sp>
        <p:nvSpPr>
          <p:cNvPr id="25612" name="Rounded Rectangle 25611"/>
          <p:cNvSpPr/>
          <p:nvPr/>
        </p:nvSpPr>
        <p:spPr>
          <a:xfrm>
            <a:off x="7040879" y="1691640"/>
            <a:ext cx="1645920" cy="868680"/>
          </a:xfrm>
          <a:prstGeom prst="roundRect">
            <a:avLst/>
          </a:prstGeom>
          <a:solidFill>
            <a:srgbClr val="F6F9FC"/>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26323F"/>
                </a:solidFill>
                <a:latin typeface="Calibri"/>
              </a:rPr>
              <a:t>One small model per machine type</a:t>
            </a:r>
          </a:p>
        </p:txBody>
      </p:sp>
      <p:cxnSp>
        <p:nvCxnSpPr>
          <p:cNvPr id="25613" name="Connector 25612"/>
          <p:cNvCxnSpPr/>
          <p:nvPr/>
        </p:nvCxnSpPr>
        <p:spPr>
          <a:xfrm>
            <a:off x="6739127" y="2125980"/>
            <a:ext cx="283465" cy="0"/>
          </a:xfrm>
          <a:prstGeom prst="line">
            <a:avLst/>
          </a:prstGeom>
          <a:ln w="22225">
            <a:solidFill>
              <a:srgbClr val="25578F"/>
            </a:solidFill>
            <a:tailEnd type="triangle"/>
          </a:ln>
        </p:spPr>
        <p:style>
          <a:lnRef idx="2">
            <a:schemeClr val="accent1"/>
          </a:lnRef>
          <a:fillRef idx="0">
            <a:schemeClr val="accent1"/>
          </a:fillRef>
          <a:effectRef idx="1">
            <a:schemeClr val="accent1"/>
          </a:effectRef>
          <a:fontRef idx="minor">
            <a:schemeClr val="tx1"/>
          </a:fontRef>
        </p:style>
      </p:cxnSp>
      <p:sp>
        <p:nvSpPr>
          <p:cNvPr id="25614" name="TextBox 25613"/>
          <p:cNvSpPr txBox="1"/>
          <p:nvPr/>
        </p:nvSpPr>
        <p:spPr>
          <a:xfrm>
            <a:off x="1143000" y="2743200"/>
            <a:ext cx="7589520" cy="320040"/>
          </a:xfrm>
          <a:prstGeom prst="rect">
            <a:avLst/>
          </a:prstGeom>
          <a:noFill/>
        </p:spPr>
        <p:txBody>
          <a:bodyPr wrap="square" lIns="54864" tIns="27432" rIns="54864" bIns="27432" anchor="t">
            <a:noAutofit/>
          </a:bodyPr>
          <a:lstStyle/>
          <a:p>
            <a:pPr algn="l">
              <a:spcAft>
                <a:spcPts val="400"/>
              </a:spcAft>
            </a:pPr>
            <a:r>
              <a:rPr sz="1400" b="1" i="0">
                <a:solidFill>
                  <a:srgbClr val="25578F"/>
                </a:solidFill>
                <a:latin typeface="Calibri"/>
              </a:rPr>
              <a:t>B. Installation and monitoring (laptop simulation; chip planned)</a:t>
            </a:r>
          </a:p>
        </p:txBody>
      </p:sp>
      <p:sp>
        <p:nvSpPr>
          <p:cNvPr id="25615" name="Rounded Rectangle 25614"/>
          <p:cNvSpPr/>
          <p:nvPr/>
        </p:nvSpPr>
        <p:spPr>
          <a:xfrm>
            <a:off x="1143000" y="3108960"/>
            <a:ext cx="1097280" cy="1097280"/>
          </a:xfrm>
          <a:prstGeom prst="roundRect">
            <a:avLst/>
          </a:prstGeom>
          <a:solidFill>
            <a:srgbClr val="F6F9FC"/>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New machine sound</a:t>
            </a:r>
          </a:p>
          <a:p>
            <a:pPr algn="ctr"/>
            <a:r>
              <a:rPr sz="1050" b="0">
                <a:solidFill>
                  <a:srgbClr val="26323F"/>
                </a:solidFill>
                <a:latin typeface="Calibri"/>
              </a:rPr>
              <a:t>(microphone 1)</a:t>
            </a:r>
          </a:p>
        </p:txBody>
      </p:sp>
      <p:sp>
        <p:nvSpPr>
          <p:cNvPr id="25616" name="Rounded Rectangle 25615"/>
          <p:cNvSpPr/>
          <p:nvPr/>
        </p:nvSpPr>
        <p:spPr>
          <a:xfrm>
            <a:off x="2441448" y="3108960"/>
            <a:ext cx="1097280" cy="1097280"/>
          </a:xfrm>
          <a:prstGeom prst="roundRect">
            <a:avLst/>
          </a:prstGeom>
          <a:solidFill>
            <a:srgbClr val="F6F9FC"/>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Log-mel features</a:t>
            </a:r>
          </a:p>
        </p:txBody>
      </p:sp>
      <p:cxnSp>
        <p:nvCxnSpPr>
          <p:cNvPr id="25617" name="Connector 25616"/>
          <p:cNvCxnSpPr/>
          <p:nvPr/>
        </p:nvCxnSpPr>
        <p:spPr>
          <a:xfrm>
            <a:off x="2258568" y="3657600"/>
            <a:ext cx="164592" cy="0"/>
          </a:xfrm>
          <a:prstGeom prst="line">
            <a:avLst/>
          </a:prstGeom>
          <a:ln w="22225">
            <a:solidFill>
              <a:srgbClr val="25578F"/>
            </a:solidFill>
            <a:tailEnd type="triangle"/>
          </a:ln>
        </p:spPr>
        <p:style>
          <a:lnRef idx="2">
            <a:schemeClr val="accent1"/>
          </a:lnRef>
          <a:fillRef idx="0">
            <a:schemeClr val="accent1"/>
          </a:fillRef>
          <a:effectRef idx="1">
            <a:schemeClr val="accent1"/>
          </a:effectRef>
          <a:fontRef idx="minor">
            <a:schemeClr val="tx1"/>
          </a:fontRef>
        </p:style>
      </p:cxnSp>
      <p:sp>
        <p:nvSpPr>
          <p:cNvPr id="25618" name="Rounded Rectangle 25617"/>
          <p:cNvSpPr/>
          <p:nvPr/>
        </p:nvSpPr>
        <p:spPr>
          <a:xfrm>
            <a:off x="3739896" y="3108960"/>
            <a:ext cx="1097280" cy="1097280"/>
          </a:xfrm>
          <a:prstGeom prst="roundRect">
            <a:avLst/>
          </a:prstGeom>
          <a:solidFill>
            <a:srgbClr val="FFF1D6"/>
          </a:solidFill>
          <a:ln w="19050">
            <a:solidFill>
              <a:srgbClr val="A86A0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Calibrate:</a:t>
            </a:r>
          </a:p>
          <a:p>
            <a:pPr algn="ctr"/>
            <a:r>
              <a:rPr sz="1050" b="0">
                <a:solidFill>
                  <a:srgbClr val="26323F"/>
                </a:solidFill>
                <a:latin typeface="Calibri"/>
              </a:rPr>
              <a:t>standardise + alert level</a:t>
            </a:r>
          </a:p>
          <a:p>
            <a:pPr algn="ctr"/>
            <a:r>
              <a:rPr sz="1050" b="0">
                <a:solidFill>
                  <a:srgbClr val="26323F"/>
                </a:solidFill>
                <a:latin typeface="Calibri"/>
              </a:rPr>
              <a:t>(60 healthy clips)</a:t>
            </a:r>
          </a:p>
        </p:txBody>
      </p:sp>
      <p:cxnSp>
        <p:nvCxnSpPr>
          <p:cNvPr id="25619" name="Connector 25618"/>
          <p:cNvCxnSpPr/>
          <p:nvPr/>
        </p:nvCxnSpPr>
        <p:spPr>
          <a:xfrm>
            <a:off x="3557015" y="3657600"/>
            <a:ext cx="164593" cy="0"/>
          </a:xfrm>
          <a:prstGeom prst="line">
            <a:avLst/>
          </a:prstGeom>
          <a:ln w="22225">
            <a:solidFill>
              <a:srgbClr val="25578F"/>
            </a:solidFill>
            <a:tailEnd type="triangle"/>
          </a:ln>
        </p:spPr>
        <p:style>
          <a:lnRef idx="2">
            <a:schemeClr val="accent1"/>
          </a:lnRef>
          <a:fillRef idx="0">
            <a:schemeClr val="accent1"/>
          </a:fillRef>
          <a:effectRef idx="1">
            <a:schemeClr val="accent1"/>
          </a:effectRef>
          <a:fontRef idx="minor">
            <a:schemeClr val="tx1"/>
          </a:fontRef>
        </p:style>
      </p:cxnSp>
      <p:sp>
        <p:nvSpPr>
          <p:cNvPr id="25620" name="Rounded Rectangle 25619"/>
          <p:cNvSpPr/>
          <p:nvPr/>
        </p:nvSpPr>
        <p:spPr>
          <a:xfrm>
            <a:off x="5038344" y="3108960"/>
            <a:ext cx="1097280" cy="1097280"/>
          </a:xfrm>
          <a:prstGeom prst="roundRect">
            <a:avLst/>
          </a:prstGeom>
          <a:solidFill>
            <a:srgbClr val="F6F9FC"/>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Autoencoder:</a:t>
            </a:r>
          </a:p>
          <a:p>
            <a:pPr algn="ctr"/>
            <a:r>
              <a:rPr sz="1050" b="0">
                <a:solidFill>
                  <a:srgbClr val="26323F"/>
                </a:solidFill>
                <a:latin typeface="Calibri"/>
              </a:rPr>
              <a:t>rebuilding error = score</a:t>
            </a:r>
          </a:p>
        </p:txBody>
      </p:sp>
      <p:cxnSp>
        <p:nvCxnSpPr>
          <p:cNvPr id="25621" name="Connector 25620"/>
          <p:cNvCxnSpPr/>
          <p:nvPr/>
        </p:nvCxnSpPr>
        <p:spPr>
          <a:xfrm>
            <a:off x="4855464" y="3657600"/>
            <a:ext cx="164592" cy="0"/>
          </a:xfrm>
          <a:prstGeom prst="line">
            <a:avLst/>
          </a:prstGeom>
          <a:ln w="22225">
            <a:solidFill>
              <a:srgbClr val="25578F"/>
            </a:solidFill>
            <a:tailEnd type="triangle"/>
          </a:ln>
        </p:spPr>
        <p:style>
          <a:lnRef idx="2">
            <a:schemeClr val="accent1"/>
          </a:lnRef>
          <a:fillRef idx="0">
            <a:schemeClr val="accent1"/>
          </a:fillRef>
          <a:effectRef idx="1">
            <a:schemeClr val="accent1"/>
          </a:effectRef>
          <a:fontRef idx="minor">
            <a:schemeClr val="tx1"/>
          </a:fontRef>
        </p:style>
      </p:cxnSp>
      <p:sp>
        <p:nvSpPr>
          <p:cNvPr id="25622" name="Rounded Rectangle 25621"/>
          <p:cNvSpPr/>
          <p:nvPr/>
        </p:nvSpPr>
        <p:spPr>
          <a:xfrm>
            <a:off x="6336792" y="3108960"/>
            <a:ext cx="1097280" cy="1097280"/>
          </a:xfrm>
          <a:prstGeom prst="roundRect">
            <a:avLst/>
          </a:prstGeom>
          <a:solidFill>
            <a:srgbClr val="F6F9FC"/>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Score above alert level?</a:t>
            </a:r>
          </a:p>
        </p:txBody>
      </p:sp>
      <p:cxnSp>
        <p:nvCxnSpPr>
          <p:cNvPr id="25623" name="Connector 25622"/>
          <p:cNvCxnSpPr/>
          <p:nvPr/>
        </p:nvCxnSpPr>
        <p:spPr>
          <a:xfrm>
            <a:off x="6153912" y="3657600"/>
            <a:ext cx="164592" cy="0"/>
          </a:xfrm>
          <a:prstGeom prst="line">
            <a:avLst/>
          </a:prstGeom>
          <a:ln w="22225">
            <a:solidFill>
              <a:srgbClr val="25578F"/>
            </a:solidFill>
            <a:tailEnd type="triangle"/>
          </a:ln>
        </p:spPr>
        <p:style>
          <a:lnRef idx="2">
            <a:schemeClr val="accent1"/>
          </a:lnRef>
          <a:fillRef idx="0">
            <a:schemeClr val="accent1"/>
          </a:fillRef>
          <a:effectRef idx="1">
            <a:schemeClr val="accent1"/>
          </a:effectRef>
          <a:fontRef idx="minor">
            <a:schemeClr val="tx1"/>
          </a:fontRef>
        </p:style>
      </p:cxnSp>
      <p:sp>
        <p:nvSpPr>
          <p:cNvPr id="25624" name="Rounded Rectangle 25623"/>
          <p:cNvSpPr/>
          <p:nvPr/>
        </p:nvSpPr>
        <p:spPr>
          <a:xfrm>
            <a:off x="7635240" y="3108960"/>
            <a:ext cx="1097280" cy="1097280"/>
          </a:xfrm>
          <a:prstGeom prst="roundRect">
            <a:avLst/>
          </a:prstGeom>
          <a:solidFill>
            <a:srgbClr val="F6F9FC"/>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GREEN: normal</a:t>
            </a:r>
          </a:p>
          <a:p>
            <a:pPr algn="ctr"/>
            <a:r>
              <a:rPr sz="1050" b="0">
                <a:solidFill>
                  <a:srgbClr val="26323F"/>
                </a:solidFill>
                <a:latin typeface="Calibri"/>
              </a:rPr>
              <a:t>RED: alert</a:t>
            </a:r>
          </a:p>
        </p:txBody>
      </p:sp>
      <p:cxnSp>
        <p:nvCxnSpPr>
          <p:cNvPr id="25625" name="Connector 25624"/>
          <p:cNvCxnSpPr/>
          <p:nvPr/>
        </p:nvCxnSpPr>
        <p:spPr>
          <a:xfrm>
            <a:off x="7452359" y="3657600"/>
            <a:ext cx="164593" cy="0"/>
          </a:xfrm>
          <a:prstGeom prst="line">
            <a:avLst/>
          </a:prstGeom>
          <a:ln w="22225">
            <a:solidFill>
              <a:srgbClr val="25578F"/>
            </a:solidFill>
            <a:tailEnd type="triangle"/>
          </a:ln>
        </p:spPr>
        <p:style>
          <a:lnRef idx="2">
            <a:schemeClr val="accent1"/>
          </a:lnRef>
          <a:fillRef idx="0">
            <a:schemeClr val="accent1"/>
          </a:fillRef>
          <a:effectRef idx="1">
            <a:schemeClr val="accent1"/>
          </a:effectRef>
          <a:fontRef idx="minor">
            <a:schemeClr val="tx1"/>
          </a:fontRef>
        </p:style>
      </p:cxnSp>
      <p:sp>
        <p:nvSpPr>
          <p:cNvPr id="25626" name="TextBox 25625"/>
          <p:cNvSpPr txBox="1"/>
          <p:nvPr/>
        </p:nvSpPr>
        <p:spPr>
          <a:xfrm>
            <a:off x="1143000" y="4389120"/>
            <a:ext cx="7589520" cy="1371600"/>
          </a:xfrm>
          <a:prstGeom prst="rect">
            <a:avLst/>
          </a:prstGeom>
          <a:noFill/>
        </p:spPr>
        <p:txBody>
          <a:bodyPr wrap="square" lIns="54864" tIns="27432" rIns="54864" bIns="27432" anchor="t">
            <a:noAutofit/>
          </a:bodyPr>
          <a:lstStyle/>
          <a:p>
            <a:pPr marL="182880" indent="-182880" algn="l">
              <a:spcAft>
                <a:spcPts val="500"/>
              </a:spcAft>
              <a:buFont typeface="Arial"/>
              <a:buChar char="•"/>
            </a:pPr>
            <a:r>
              <a:rPr sz="1250" b="1" i="0">
                <a:solidFill>
                  <a:srgbClr val="25578F"/>
                </a:solidFill>
                <a:latin typeface="Calibri"/>
              </a:rPr>
              <a:t>Alert level </a:t>
            </a:r>
            <a:r>
              <a:rPr sz="1250" b="0" i="0">
                <a:solidFill>
                  <a:srgbClr val="26323F"/>
                </a:solidFill>
                <a:latin typeface="Calibri"/>
              </a:rPr>
              <a:t>= average + 3 x spread of the scores of 30 healthy clips (after 30 other clips set the feature levels).</a:t>
            </a:r>
          </a:p>
          <a:p>
            <a:pPr marL="182880" indent="-182880" algn="l">
              <a:spcAft>
                <a:spcPts val="500"/>
              </a:spcAft>
              <a:buFont typeface="Arial"/>
              <a:buChar char="•"/>
            </a:pPr>
            <a:r>
              <a:rPr sz="1250" b="1" i="0">
                <a:solidFill>
                  <a:srgbClr val="25578F"/>
                </a:solidFill>
                <a:latin typeface="Calibri"/>
              </a:rPr>
              <a:t>Solid boxes </a:t>
            </a:r>
            <a:r>
              <a:rPr sz="1250" b="0" i="0">
                <a:solidFill>
                  <a:srgbClr val="26323F"/>
                </a:solidFill>
                <a:latin typeface="Calibri"/>
              </a:rPr>
              <a:t>are built and tested on a laptop with recorded clips. Nothing runs on the chip yet.</a:t>
            </a:r>
          </a:p>
          <a:p>
            <a:pPr marL="182880" indent="-182880" algn="l">
              <a:spcAft>
                <a:spcPts val="500"/>
              </a:spcAft>
              <a:buFont typeface="Arial"/>
              <a:buChar char="•"/>
            </a:pPr>
            <a:r>
              <a:rPr sz="1250" b="1" i="0">
                <a:solidFill>
                  <a:srgbClr val="25578F"/>
                </a:solidFill>
                <a:latin typeface="Calibri"/>
              </a:rPr>
              <a:t>Data: </a:t>
            </a:r>
            <a:r>
              <a:rPr sz="1250" b="0" i="0">
                <a:solidFill>
                  <a:srgbClr val="26323F"/>
                </a:solidFill>
                <a:latin typeface="Calibri"/>
              </a:rPr>
              <a:t>MIMII sound dataset (microphone channel 1 of 8 only, because the device has one microphone).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440" y="475488"/>
            <a:ext cx="6492240" cy="777240"/>
          </a:xfrm>
        </p:spPr>
        <p:txBody>
          <a:bodyPr wrap="square" anchor="ctr">
            <a:noAutofit/>
          </a:bodyPr>
          <a:lstStyle/>
          <a:p>
            <a:pPr algn="ctr"/>
            <a:r>
              <a:rPr sz="2600">
                <a:latin typeface="Calibri"/>
              </a:rPr>
              <a:t>Proposed Methodology &amp; Technical Design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10</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20485" name="TextBox 20484"/>
          <p:cNvSpPr txBox="1"/>
          <p:nvPr/>
        </p:nvSpPr>
        <p:spPr>
          <a:xfrm>
            <a:off x="1143000" y="1325880"/>
            <a:ext cx="3840480" cy="320040"/>
          </a:xfrm>
          <a:prstGeom prst="rect">
            <a:avLst/>
          </a:prstGeom>
          <a:noFill/>
        </p:spPr>
        <p:txBody>
          <a:bodyPr wrap="square" lIns="54864" tIns="27432" rIns="54864" bIns="27432" anchor="t">
            <a:noAutofit/>
          </a:bodyPr>
          <a:lstStyle/>
          <a:p>
            <a:pPr algn="l">
              <a:spcAft>
                <a:spcPts val="400"/>
              </a:spcAft>
            </a:pPr>
            <a:r>
              <a:rPr sz="1400" b="1" i="0">
                <a:solidFill>
                  <a:srgbClr val="25578F"/>
                </a:solidFill>
                <a:latin typeface="Calibri"/>
              </a:rPr>
              <a:t>Method, step by step</a:t>
            </a:r>
          </a:p>
        </p:txBody>
      </p:sp>
      <p:sp>
        <p:nvSpPr>
          <p:cNvPr id="20486" name="TextBox 20485"/>
          <p:cNvSpPr txBox="1"/>
          <p:nvPr/>
        </p:nvSpPr>
        <p:spPr>
          <a:xfrm>
            <a:off x="1143000" y="1691640"/>
            <a:ext cx="3840480" cy="3657600"/>
          </a:xfrm>
          <a:prstGeom prst="rect">
            <a:avLst/>
          </a:prstGeom>
          <a:noFill/>
        </p:spPr>
        <p:txBody>
          <a:bodyPr wrap="square" lIns="54864" tIns="27432" rIns="54864" bIns="27432" anchor="t">
            <a:noAutofit/>
          </a:bodyPr>
          <a:lstStyle/>
          <a:p>
            <a:pPr algn="l">
              <a:spcAft>
                <a:spcPts val="700"/>
              </a:spcAft>
            </a:pPr>
            <a:r>
              <a:rPr sz="1250" b="1" i="0">
                <a:solidFill>
                  <a:srgbClr val="25578F"/>
                </a:solidFill>
                <a:latin typeface="Calibri"/>
              </a:rPr>
              <a:t>1.  </a:t>
            </a:r>
            <a:r>
              <a:rPr sz="1250" b="0" i="0">
                <a:solidFill>
                  <a:srgbClr val="26323F"/>
                </a:solidFill>
                <a:latin typeface="Calibri"/>
              </a:rPr>
              <a:t>Cut the sound into 64 ms windows every 32 ms; 64-band log-mel (32 for sliders); channel 1 only.</a:t>
            </a:r>
          </a:p>
          <a:p>
            <a:pPr algn="l">
              <a:spcAft>
                <a:spcPts val="700"/>
              </a:spcAft>
            </a:pPr>
            <a:r>
              <a:rPr sz="1250" b="1" i="0">
                <a:solidFill>
                  <a:srgbClr val="25578F"/>
                </a:solidFill>
                <a:latin typeface="Calibri"/>
              </a:rPr>
              <a:t>2.  </a:t>
            </a:r>
            <a:r>
              <a:rPr sz="1250" b="0" i="0">
                <a:solidFill>
                  <a:srgbClr val="26323F"/>
                </a:solidFill>
                <a:latin typeface="Calibri"/>
              </a:rPr>
              <a:t>Train the autoencoder on healthy sound of other machines; each machine standardised on its own.</a:t>
            </a:r>
          </a:p>
          <a:p>
            <a:pPr algn="l">
              <a:spcAft>
                <a:spcPts val="700"/>
              </a:spcAft>
            </a:pPr>
            <a:r>
              <a:rPr sz="1250" b="1" i="0">
                <a:solidFill>
                  <a:srgbClr val="25578F"/>
                </a:solidFill>
                <a:latin typeface="Calibri"/>
              </a:rPr>
              <a:t>3.  </a:t>
            </a:r>
            <a:r>
              <a:rPr sz="1250" b="0" i="0">
                <a:solidFill>
                  <a:srgbClr val="26323F"/>
                </a:solidFill>
                <a:latin typeface="Calibri"/>
              </a:rPr>
              <a:t>Calibrate on the new machine: 30 healthy clips give each feature's average and spread.</a:t>
            </a:r>
          </a:p>
          <a:p>
            <a:pPr algn="l">
              <a:spcAft>
                <a:spcPts val="700"/>
              </a:spcAft>
            </a:pPr>
            <a:r>
              <a:rPr sz="1250" b="1" i="0">
                <a:solidFill>
                  <a:srgbClr val="25578F"/>
                </a:solidFill>
                <a:latin typeface="Calibri"/>
              </a:rPr>
              <a:t>4.  </a:t>
            </a:r>
            <a:r>
              <a:rPr sz="1250" b="0" i="0">
                <a:solidFill>
                  <a:srgbClr val="26323F"/>
                </a:solidFill>
                <a:latin typeface="Calibri"/>
              </a:rPr>
              <a:t>The next 30 clips set the alert level: average + 3 x spread of their scores.</a:t>
            </a:r>
          </a:p>
          <a:p>
            <a:pPr algn="l">
              <a:spcAft>
                <a:spcPts val="700"/>
              </a:spcAft>
            </a:pPr>
            <a:r>
              <a:rPr sz="1250" b="1" i="0">
                <a:solidFill>
                  <a:srgbClr val="25578F"/>
                </a:solidFill>
                <a:latin typeface="Calibri"/>
              </a:rPr>
              <a:t>5.  </a:t>
            </a:r>
            <a:r>
              <a:rPr sz="1250" b="0" i="0">
                <a:solidFill>
                  <a:srgbClr val="26323F"/>
                </a:solidFill>
                <a:latin typeface="Calibri"/>
              </a:rPr>
              <a:t>Score = rebuilding error of a clip; above the alert level is RED.</a:t>
            </a:r>
          </a:p>
        </p:txBody>
      </p:sp>
      <p:sp>
        <p:nvSpPr>
          <p:cNvPr id="20487" name="TextBox 20486"/>
          <p:cNvSpPr txBox="1"/>
          <p:nvPr/>
        </p:nvSpPr>
        <p:spPr>
          <a:xfrm>
            <a:off x="5120640" y="1325880"/>
            <a:ext cx="3657600" cy="320040"/>
          </a:xfrm>
          <a:prstGeom prst="rect">
            <a:avLst/>
          </a:prstGeom>
          <a:noFill/>
        </p:spPr>
        <p:txBody>
          <a:bodyPr wrap="square" lIns="54864" tIns="27432" rIns="54864" bIns="27432" anchor="t">
            <a:noAutofit/>
          </a:bodyPr>
          <a:lstStyle/>
          <a:p>
            <a:pPr algn="l">
              <a:spcAft>
                <a:spcPts val="400"/>
              </a:spcAft>
            </a:pPr>
            <a:r>
              <a:rPr sz="1400" b="1" i="0">
                <a:solidFill>
                  <a:srgbClr val="25578F"/>
                </a:solidFill>
                <a:latin typeface="Calibri"/>
              </a:rPr>
              <a:t>Model per machine type</a:t>
            </a:r>
          </a:p>
        </p:txBody>
      </p:sp>
      <p:graphicFrame>
        <p:nvGraphicFramePr>
          <p:cNvPr id="20488" name="Table 20487"/>
          <p:cNvGraphicFramePr>
            <a:graphicFrameLocks noGrp="1"/>
          </p:cNvGraphicFramePr>
          <p:nvPr/>
        </p:nvGraphicFramePr>
        <p:xfrm>
          <a:off x="5120640" y="1691640"/>
          <a:ext cx="3657600" cy="230428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4048">
                <a:tc>
                  <a:txBody>
                    <a:bodyPr/>
                    <a:lstStyle/>
                    <a:p>
                      <a:r>
                        <a:rPr sz="1000" b="1">
                          <a:solidFill>
                            <a:srgbClr val="FFFFFF"/>
                          </a:solidFill>
                          <a:latin typeface="Calibri"/>
                        </a:rPr>
                        <a:t>Type</a:t>
                      </a:r>
                    </a:p>
                  </a:txBody>
                  <a:tcPr marL="54864" marR="54864" marT="27432" marB="27432" anchor="ctr">
                    <a:solidFill>
                      <a:srgbClr val="25578F"/>
                    </a:solidFill>
                  </a:tcPr>
                </a:tc>
                <a:tc>
                  <a:txBody>
                    <a:bodyPr/>
                    <a:lstStyle/>
                    <a:p>
                      <a:r>
                        <a:rPr sz="1000" b="1">
                          <a:solidFill>
                            <a:srgbClr val="FFFFFF"/>
                          </a:solidFill>
                          <a:latin typeface="Calibri"/>
                        </a:rPr>
                        <a:t>Layers</a:t>
                      </a:r>
                    </a:p>
                  </a:txBody>
                  <a:tcPr marL="54864" marR="54864" marT="27432" marB="27432" anchor="ctr">
                    <a:solidFill>
                      <a:srgbClr val="25578F"/>
                    </a:solidFill>
                  </a:tcPr>
                </a:tc>
                <a:tc>
                  <a:txBody>
                    <a:bodyPr/>
                    <a:lstStyle/>
                    <a:p>
                      <a:r>
                        <a:rPr sz="1000" b="1">
                          <a:solidFill>
                            <a:srgbClr val="FFFFFF"/>
                          </a:solidFill>
                          <a:latin typeface="Calibri"/>
                        </a:rPr>
                        <a:t>Params</a:t>
                      </a:r>
                    </a:p>
                  </a:txBody>
                  <a:tcPr marL="54864" marR="54864" marT="27432" marB="27432" anchor="ctr">
                    <a:solidFill>
                      <a:srgbClr val="25578F"/>
                    </a:solidFill>
                  </a:tcPr>
                </a:tc>
                <a:tc>
                  <a:txBody>
                    <a:bodyPr/>
                    <a:lstStyle/>
                    <a:p>
                      <a:r>
                        <a:rPr sz="1000" b="1">
                          <a:solidFill>
                            <a:srgbClr val="FFFFFF"/>
                          </a:solidFill>
                          <a:latin typeface="Calibri"/>
                        </a:rPr>
                        <a:t>KB (32-bit / INT8*)</a:t>
                      </a:r>
                    </a:p>
                  </a:txBody>
                  <a:tcPr marL="54864" marR="54864" marT="27432" marB="27432" anchor="ctr">
                    <a:solidFill>
                      <a:srgbClr val="25578F"/>
                    </a:solidFill>
                  </a:tcPr>
                </a:tc>
                <a:extLst>
                  <a:ext uri="{0D108BD9-81ED-4DB2-BD59-A6C34878D82A}">
                    <a16:rowId xmlns:a16="http://schemas.microsoft.com/office/drawing/2014/main" val="10000"/>
                  </a:ext>
                </a:extLst>
              </a:tr>
              <a:tr h="384048">
                <a:tc>
                  <a:txBody>
                    <a:bodyPr/>
                    <a:lstStyle/>
                    <a:p>
                      <a:r>
                        <a:rPr sz="1000" b="0">
                          <a:solidFill>
                            <a:srgbClr val="26323F"/>
                          </a:solidFill>
                          <a:latin typeface="Calibri"/>
                        </a:rPr>
                        <a:t>Fan</a:t>
                      </a:r>
                    </a:p>
                  </a:txBody>
                  <a:tcPr marL="54864" marR="54864" marT="27432" marB="27432" anchor="ctr">
                    <a:solidFill>
                      <a:srgbClr val="E6EEF7"/>
                    </a:solidFill>
                  </a:tcPr>
                </a:tc>
                <a:tc>
                  <a:txBody>
                    <a:bodyPr/>
                    <a:lstStyle/>
                    <a:p>
                      <a:r>
                        <a:rPr sz="1000" b="0">
                          <a:solidFill>
                            <a:srgbClr val="26323F"/>
                          </a:solidFill>
                          <a:latin typeface="Calibri"/>
                        </a:rPr>
                        <a:t>64-32-32-8-32-32-64</a:t>
                      </a:r>
                    </a:p>
                  </a:txBody>
                  <a:tcPr marL="54864" marR="54864" marT="27432" marB="27432" anchor="ctr">
                    <a:solidFill>
                      <a:srgbClr val="E6EEF7"/>
                    </a:solidFill>
                  </a:tcPr>
                </a:tc>
                <a:tc>
                  <a:txBody>
                    <a:bodyPr/>
                    <a:lstStyle/>
                    <a:p>
                      <a:r>
                        <a:rPr sz="1000" b="0">
                          <a:solidFill>
                            <a:srgbClr val="26323F"/>
                          </a:solidFill>
                          <a:latin typeface="Calibri"/>
                        </a:rPr>
                        <a:t>6,856</a:t>
                      </a:r>
                    </a:p>
                  </a:txBody>
                  <a:tcPr marL="54864" marR="54864" marT="27432" marB="27432" anchor="ctr">
                    <a:solidFill>
                      <a:srgbClr val="E6EEF7"/>
                    </a:solidFill>
                  </a:tcPr>
                </a:tc>
                <a:tc>
                  <a:txBody>
                    <a:bodyPr/>
                    <a:lstStyle/>
                    <a:p>
                      <a:r>
                        <a:rPr sz="1000" b="0">
                          <a:solidFill>
                            <a:srgbClr val="26323F"/>
                          </a:solidFill>
                          <a:latin typeface="Calibri"/>
                        </a:rPr>
                        <a:t>26.8 / 6.7</a:t>
                      </a:r>
                    </a:p>
                  </a:txBody>
                  <a:tcPr marL="54864" marR="54864" marT="27432" marB="27432" anchor="ctr">
                    <a:solidFill>
                      <a:srgbClr val="E6EEF7"/>
                    </a:solidFill>
                  </a:tcPr>
                </a:tc>
                <a:extLst>
                  <a:ext uri="{0D108BD9-81ED-4DB2-BD59-A6C34878D82A}">
                    <a16:rowId xmlns:a16="http://schemas.microsoft.com/office/drawing/2014/main" val="10001"/>
                  </a:ext>
                </a:extLst>
              </a:tr>
              <a:tr h="384048">
                <a:tc>
                  <a:txBody>
                    <a:bodyPr/>
                    <a:lstStyle/>
                    <a:p>
                      <a:r>
                        <a:rPr sz="1000" b="0">
                          <a:solidFill>
                            <a:srgbClr val="26323F"/>
                          </a:solidFill>
                          <a:latin typeface="Calibri"/>
                        </a:rPr>
                        <a:t>Pump</a:t>
                      </a:r>
                    </a:p>
                  </a:txBody>
                  <a:tcPr marL="54864" marR="54864" marT="27432" marB="27432" anchor="ctr">
                    <a:solidFill>
                      <a:srgbClr val="F6F9FC"/>
                    </a:solidFill>
                  </a:tcPr>
                </a:tc>
                <a:tc>
                  <a:txBody>
                    <a:bodyPr/>
                    <a:lstStyle/>
                    <a:p>
                      <a:r>
                        <a:rPr sz="1000" b="0">
                          <a:solidFill>
                            <a:srgbClr val="26323F"/>
                          </a:solidFill>
                          <a:latin typeface="Calibri"/>
                        </a:rPr>
                        <a:t>64-16-8-16-64</a:t>
                      </a:r>
                    </a:p>
                  </a:txBody>
                  <a:tcPr marL="54864" marR="54864" marT="27432" marB="27432" anchor="ctr">
                    <a:solidFill>
                      <a:srgbClr val="F6F9FC"/>
                    </a:solidFill>
                  </a:tcPr>
                </a:tc>
                <a:tc>
                  <a:txBody>
                    <a:bodyPr/>
                    <a:lstStyle/>
                    <a:p>
                      <a:r>
                        <a:rPr sz="1000" b="0">
                          <a:solidFill>
                            <a:srgbClr val="26323F"/>
                          </a:solidFill>
                          <a:latin typeface="Calibri"/>
                        </a:rPr>
                        <a:t>2,408</a:t>
                      </a:r>
                    </a:p>
                  </a:txBody>
                  <a:tcPr marL="54864" marR="54864" marT="27432" marB="27432" anchor="ctr">
                    <a:solidFill>
                      <a:srgbClr val="F6F9FC"/>
                    </a:solidFill>
                  </a:tcPr>
                </a:tc>
                <a:tc>
                  <a:txBody>
                    <a:bodyPr/>
                    <a:lstStyle/>
                    <a:p>
                      <a:r>
                        <a:rPr sz="1000" b="0">
                          <a:solidFill>
                            <a:srgbClr val="26323F"/>
                          </a:solidFill>
                          <a:latin typeface="Calibri"/>
                        </a:rPr>
                        <a:t>9.4 / 2.4</a:t>
                      </a:r>
                    </a:p>
                  </a:txBody>
                  <a:tcPr marL="54864" marR="54864" marT="27432" marB="27432" anchor="ctr">
                    <a:solidFill>
                      <a:srgbClr val="F6F9FC"/>
                    </a:solidFill>
                  </a:tcPr>
                </a:tc>
                <a:extLst>
                  <a:ext uri="{0D108BD9-81ED-4DB2-BD59-A6C34878D82A}">
                    <a16:rowId xmlns:a16="http://schemas.microsoft.com/office/drawing/2014/main" val="10002"/>
                  </a:ext>
                </a:extLst>
              </a:tr>
              <a:tr h="384048">
                <a:tc>
                  <a:txBody>
                    <a:bodyPr/>
                    <a:lstStyle/>
                    <a:p>
                      <a:r>
                        <a:rPr sz="1000" b="0">
                          <a:solidFill>
                            <a:srgbClr val="26323F"/>
                          </a:solidFill>
                          <a:latin typeface="Calibri"/>
                        </a:rPr>
                        <a:t>Slider</a:t>
                      </a:r>
                    </a:p>
                  </a:txBody>
                  <a:tcPr marL="54864" marR="54864" marT="27432" marB="27432" anchor="ctr">
                    <a:solidFill>
                      <a:srgbClr val="E6EEF7"/>
                    </a:solidFill>
                  </a:tcPr>
                </a:tc>
                <a:tc>
                  <a:txBody>
                    <a:bodyPr/>
                    <a:lstStyle/>
                    <a:p>
                      <a:r>
                        <a:rPr sz="1000" b="0">
                          <a:solidFill>
                            <a:srgbClr val="26323F"/>
                          </a:solidFill>
                          <a:latin typeface="Calibri"/>
                        </a:rPr>
                        <a:t>32-32-16-32-32</a:t>
                      </a:r>
                    </a:p>
                  </a:txBody>
                  <a:tcPr marL="54864" marR="54864" marT="27432" marB="27432" anchor="ctr">
                    <a:solidFill>
                      <a:srgbClr val="E6EEF7"/>
                    </a:solidFill>
                  </a:tcPr>
                </a:tc>
                <a:tc>
                  <a:txBody>
                    <a:bodyPr/>
                    <a:lstStyle/>
                    <a:p>
                      <a:r>
                        <a:rPr sz="1000" b="0">
                          <a:solidFill>
                            <a:srgbClr val="26323F"/>
                          </a:solidFill>
                          <a:latin typeface="Calibri"/>
                        </a:rPr>
                        <a:t>3,184</a:t>
                      </a:r>
                    </a:p>
                  </a:txBody>
                  <a:tcPr marL="54864" marR="54864" marT="27432" marB="27432" anchor="ctr">
                    <a:solidFill>
                      <a:srgbClr val="E6EEF7"/>
                    </a:solidFill>
                  </a:tcPr>
                </a:tc>
                <a:tc>
                  <a:txBody>
                    <a:bodyPr/>
                    <a:lstStyle/>
                    <a:p>
                      <a:r>
                        <a:rPr sz="1000" b="0">
                          <a:solidFill>
                            <a:srgbClr val="26323F"/>
                          </a:solidFill>
                          <a:latin typeface="Calibri"/>
                        </a:rPr>
                        <a:t>12.4 / 3.1</a:t>
                      </a:r>
                    </a:p>
                  </a:txBody>
                  <a:tcPr marL="54864" marR="54864" marT="27432" marB="27432" anchor="ctr">
                    <a:solidFill>
                      <a:srgbClr val="E6EEF7"/>
                    </a:solidFill>
                  </a:tcPr>
                </a:tc>
                <a:extLst>
                  <a:ext uri="{0D108BD9-81ED-4DB2-BD59-A6C34878D82A}">
                    <a16:rowId xmlns:a16="http://schemas.microsoft.com/office/drawing/2014/main" val="10003"/>
                  </a:ext>
                </a:extLst>
              </a:tr>
              <a:tr h="384048">
                <a:tc>
                  <a:txBody>
                    <a:bodyPr/>
                    <a:lstStyle/>
                    <a:p>
                      <a:r>
                        <a:rPr sz="1000" b="0">
                          <a:solidFill>
                            <a:srgbClr val="26323F"/>
                          </a:solidFill>
                          <a:latin typeface="Calibri"/>
                        </a:rPr>
                        <a:t>Valve</a:t>
                      </a:r>
                    </a:p>
                  </a:txBody>
                  <a:tcPr marL="54864" marR="54864" marT="27432" marB="27432" anchor="ctr">
                    <a:solidFill>
                      <a:srgbClr val="F6F9FC"/>
                    </a:solidFill>
                  </a:tcPr>
                </a:tc>
                <a:tc>
                  <a:txBody>
                    <a:bodyPr/>
                    <a:lstStyle/>
                    <a:p>
                      <a:r>
                        <a:rPr sz="1000" b="0">
                          <a:solidFill>
                            <a:srgbClr val="26323F"/>
                          </a:solidFill>
                          <a:latin typeface="Calibri"/>
                        </a:rPr>
                        <a:t>64-32-16-32-64</a:t>
                      </a:r>
                    </a:p>
                  </a:txBody>
                  <a:tcPr marL="54864" marR="54864" marT="27432" marB="27432" anchor="ctr">
                    <a:solidFill>
                      <a:srgbClr val="F6F9FC"/>
                    </a:solidFill>
                  </a:tcPr>
                </a:tc>
                <a:tc>
                  <a:txBody>
                    <a:bodyPr/>
                    <a:lstStyle/>
                    <a:p>
                      <a:r>
                        <a:rPr sz="1000" b="0">
                          <a:solidFill>
                            <a:srgbClr val="26323F"/>
                          </a:solidFill>
                          <a:latin typeface="Calibri"/>
                        </a:rPr>
                        <a:t>5,264</a:t>
                      </a:r>
                    </a:p>
                  </a:txBody>
                  <a:tcPr marL="54864" marR="54864" marT="27432" marB="27432" anchor="ctr">
                    <a:solidFill>
                      <a:srgbClr val="F6F9FC"/>
                    </a:solidFill>
                  </a:tcPr>
                </a:tc>
                <a:tc>
                  <a:txBody>
                    <a:bodyPr/>
                    <a:lstStyle/>
                    <a:p>
                      <a:r>
                        <a:rPr sz="1000" b="0">
                          <a:solidFill>
                            <a:srgbClr val="26323F"/>
                          </a:solidFill>
                          <a:latin typeface="Calibri"/>
                        </a:rPr>
                        <a:t>20.6 / 5.1</a:t>
                      </a:r>
                    </a:p>
                  </a:txBody>
                  <a:tcPr marL="54864" marR="54864" marT="27432" marB="27432" anchor="ctr">
                    <a:solidFill>
                      <a:srgbClr val="F6F9FC"/>
                    </a:solidFill>
                  </a:tcPr>
                </a:tc>
                <a:extLst>
                  <a:ext uri="{0D108BD9-81ED-4DB2-BD59-A6C34878D82A}">
                    <a16:rowId xmlns:a16="http://schemas.microsoft.com/office/drawing/2014/main" val="10004"/>
                  </a:ext>
                </a:extLst>
              </a:tr>
              <a:tr h="384048">
                <a:tc>
                  <a:txBody>
                    <a:bodyPr/>
                    <a:lstStyle/>
                    <a:p>
                      <a:r>
                        <a:rPr sz="1000" b="0">
                          <a:solidFill>
                            <a:srgbClr val="26323F"/>
                          </a:solidFill>
                          <a:latin typeface="Calibri"/>
                        </a:rPr>
                        <a:t>Baseline [1]</a:t>
                      </a:r>
                    </a:p>
                  </a:txBody>
                  <a:tcPr marL="54864" marR="54864" marT="27432" marB="27432" anchor="ctr">
                    <a:solidFill>
                      <a:srgbClr val="E6EEF7"/>
                    </a:solidFill>
                  </a:tcPr>
                </a:tc>
                <a:tc>
                  <a:txBody>
                    <a:bodyPr/>
                    <a:lstStyle/>
                    <a:p>
                      <a:r>
                        <a:rPr sz="1000" b="0">
                          <a:solidFill>
                            <a:srgbClr val="26323F"/>
                          </a:solidFill>
                          <a:latin typeface="Calibri"/>
                        </a:rPr>
                        <a:t>320-64-64-8-64-64-320</a:t>
                      </a:r>
                    </a:p>
                  </a:txBody>
                  <a:tcPr marL="54864" marR="54864" marT="27432" marB="27432" anchor="ctr">
                    <a:solidFill>
                      <a:srgbClr val="E6EEF7"/>
                    </a:solidFill>
                  </a:tcPr>
                </a:tc>
                <a:tc>
                  <a:txBody>
                    <a:bodyPr/>
                    <a:lstStyle/>
                    <a:p>
                      <a:r>
                        <a:rPr sz="1000" b="0">
                          <a:solidFill>
                            <a:srgbClr val="26323F"/>
                          </a:solidFill>
                          <a:latin typeface="Calibri"/>
                        </a:rPr>
                        <a:t>50,760</a:t>
                      </a:r>
                    </a:p>
                  </a:txBody>
                  <a:tcPr marL="54864" marR="54864" marT="27432" marB="27432" anchor="ctr">
                    <a:solidFill>
                      <a:srgbClr val="E6EEF7"/>
                    </a:solidFill>
                  </a:tcPr>
                </a:tc>
                <a:tc>
                  <a:txBody>
                    <a:bodyPr/>
                    <a:lstStyle/>
                    <a:p>
                      <a:r>
                        <a:rPr sz="1000" b="0">
                          <a:solidFill>
                            <a:srgbClr val="26323F"/>
                          </a:solidFill>
                          <a:latin typeface="Calibri"/>
                        </a:rPr>
                        <a:t>198 / 50</a:t>
                      </a:r>
                    </a:p>
                  </a:txBody>
                  <a:tcPr marL="54864" marR="54864" marT="27432" marB="27432" anchor="ctr">
                    <a:solidFill>
                      <a:srgbClr val="E6EEF7"/>
                    </a:solidFill>
                  </a:tcPr>
                </a:tc>
                <a:extLst>
                  <a:ext uri="{0D108BD9-81ED-4DB2-BD59-A6C34878D82A}">
                    <a16:rowId xmlns:a16="http://schemas.microsoft.com/office/drawing/2014/main" val="10005"/>
                  </a:ext>
                </a:extLst>
              </a:tr>
            </a:tbl>
          </a:graphicData>
        </a:graphic>
      </p:graphicFrame>
      <p:sp>
        <p:nvSpPr>
          <p:cNvPr id="20489" name="TextBox 20488"/>
          <p:cNvSpPr txBox="1"/>
          <p:nvPr/>
        </p:nvSpPr>
        <p:spPr>
          <a:xfrm>
            <a:off x="5120640" y="4114800"/>
            <a:ext cx="3657600" cy="1554480"/>
          </a:xfrm>
          <a:prstGeom prst="rect">
            <a:avLst/>
          </a:prstGeom>
          <a:noFill/>
        </p:spPr>
        <p:txBody>
          <a:bodyPr wrap="square" lIns="54864" tIns="27432" rIns="54864" bIns="27432" anchor="t">
            <a:noAutofit/>
          </a:bodyPr>
          <a:lstStyle/>
          <a:p>
            <a:pPr algn="l">
              <a:spcAft>
                <a:spcPts val="400"/>
              </a:spcAft>
            </a:pPr>
            <a:r>
              <a:rPr sz="1100" b="0" i="0">
                <a:solidFill>
                  <a:srgbClr val="6B7580"/>
                </a:solidFill>
                <a:latin typeface="Calibri"/>
              </a:rPr>
              <a:t>*INT8 sizes are estimates; quantisation is not done yet.</a:t>
            </a:r>
          </a:p>
          <a:p>
            <a:pPr algn="l">
              <a:spcAft>
                <a:spcPts val="400"/>
              </a:spcAft>
            </a:pPr>
            <a:r>
              <a:rPr sz="1100" b="0" i="0">
                <a:solidFill>
                  <a:srgbClr val="6B7580"/>
                </a:solidFill>
                <a:latin typeface="Calibri"/>
              </a:rPr>
              <a:t>Model chosen per type by a rule fixed in advance: smallest design within 0.02 AUC of the best, tuned on machines 00, 02, 04; machine 06 sealed.</a:t>
            </a:r>
          </a:p>
          <a:p>
            <a:pPr algn="l">
              <a:spcAft>
                <a:spcPts val="400"/>
              </a:spcAft>
            </a:pPr>
            <a:r>
              <a:rPr sz="1100" b="0" i="0">
                <a:solidFill>
                  <a:srgbClr val="6B7580"/>
                </a:solidFill>
                <a:latin typeface="Calibri"/>
              </a:rPr>
              <a:t>Baseline = our copy of the Hitachi model, used to check our pipeline.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234440" y="475488"/>
            <a:ext cx="6492240" cy="777240"/>
          </a:xfrm>
          <a:ln/>
        </p:spPr>
        <p:txBody>
          <a:bodyPr vert="horz" wrap="square" lIns="91440" tIns="45720" rIns="91440" bIns="45720" anchor="ctr" anchorCtr="0">
            <a:noAutofit/>
          </a:bodyPr>
          <a:lstStyle/>
          <a:p>
            <a:pPr algn="ctr" eaLnBrk="1" hangingPunct="1"/>
            <a:r>
              <a:rPr sz="2600">
                <a:latin typeface="Calibri"/>
              </a:rPr>
              <a:t>High-Level Design: Final System (Proposed)</a:t>
            </a:r>
            <a:endParaRPr lang="en-IN" altLang="en-US"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xfrm>
            <a:off x="1371600" y="6099175"/>
            <a:ext cx="1066800" cy="369888"/>
          </a:xfrm>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3139FD1F-834A-4638-B533-B13C9FA93A13}"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26629"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11</a:t>
            </a:fld>
            <a:r>
              <a:rPr lang="en-US" altLang="en-US" sz="900" dirty="0">
                <a:solidFill>
                  <a:srgbClr val="898989"/>
                </a:solidFill>
              </a:rPr>
              <a:t> of 21</a:t>
            </a:r>
          </a:p>
        </p:txBody>
      </p:sp>
      <p:sp>
        <p:nvSpPr>
          <p:cNvPr id="26630" name="TextBox 26629"/>
          <p:cNvSpPr txBox="1"/>
          <p:nvPr/>
        </p:nvSpPr>
        <p:spPr>
          <a:xfrm>
            <a:off x="1143000" y="1325880"/>
            <a:ext cx="7589520" cy="320040"/>
          </a:xfrm>
          <a:prstGeom prst="rect">
            <a:avLst/>
          </a:prstGeom>
          <a:noFill/>
        </p:spPr>
        <p:txBody>
          <a:bodyPr wrap="square" lIns="54864" tIns="27432" rIns="54864" bIns="27432" anchor="t">
            <a:noAutofit/>
          </a:bodyPr>
          <a:lstStyle/>
          <a:p>
            <a:pPr algn="l">
              <a:spcAft>
                <a:spcPts val="400"/>
              </a:spcAft>
            </a:pPr>
            <a:r>
              <a:rPr sz="1250" b="0" i="1">
                <a:solidFill>
                  <a:srgbClr val="6B7580"/>
                </a:solidFill>
                <a:latin typeface="Calibri"/>
              </a:rPr>
              <a:t>Dashed = planned, needs hardware. None of this runs on the chip yet.</a:t>
            </a:r>
          </a:p>
        </p:txBody>
      </p:sp>
      <p:sp>
        <p:nvSpPr>
          <p:cNvPr id="26631" name="Rounded Rectangle 26630"/>
          <p:cNvSpPr/>
          <p:nvPr/>
        </p:nvSpPr>
        <p:spPr>
          <a:xfrm>
            <a:off x="1143000" y="1783080"/>
            <a:ext cx="1737360" cy="68580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26323F"/>
                </a:solidFill>
                <a:latin typeface="Calibri"/>
              </a:rPr>
              <a:t>INMP441 microphone</a:t>
            </a:r>
          </a:p>
          <a:p>
            <a:pPr algn="ctr"/>
            <a:r>
              <a:rPr sz="1100" b="0">
                <a:solidFill>
                  <a:srgbClr val="26323F"/>
                </a:solidFill>
                <a:latin typeface="Calibri"/>
              </a:rPr>
              <a:t>(I2S, 16 kHz)</a:t>
            </a:r>
          </a:p>
        </p:txBody>
      </p:sp>
      <p:sp>
        <p:nvSpPr>
          <p:cNvPr id="26632" name="Rounded Rectangle 26631"/>
          <p:cNvSpPr/>
          <p:nvPr/>
        </p:nvSpPr>
        <p:spPr>
          <a:xfrm>
            <a:off x="1143000" y="2743200"/>
            <a:ext cx="1737360" cy="68580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26323F"/>
                </a:solidFill>
                <a:latin typeface="Calibri"/>
              </a:rPr>
              <a:t>MPU6050 vibration</a:t>
            </a:r>
          </a:p>
          <a:p>
            <a:pPr algn="ctr"/>
            <a:r>
              <a:rPr sz="1100" b="0">
                <a:solidFill>
                  <a:srgbClr val="26323F"/>
                </a:solidFill>
                <a:latin typeface="Calibri"/>
              </a:rPr>
              <a:t>sensor (I2C)</a:t>
            </a:r>
          </a:p>
        </p:txBody>
      </p:sp>
      <p:sp>
        <p:nvSpPr>
          <p:cNvPr id="26633" name="Rounded Rectangle 26632"/>
          <p:cNvSpPr/>
          <p:nvPr/>
        </p:nvSpPr>
        <p:spPr>
          <a:xfrm>
            <a:off x="3200400" y="1691640"/>
            <a:ext cx="3017520" cy="1828800"/>
          </a:xfrm>
          <a:prstGeom prst="roundRect">
            <a:avLst/>
          </a:prstGeom>
          <a:no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6634" name="TextBox 26633"/>
          <p:cNvSpPr txBox="1"/>
          <p:nvPr/>
        </p:nvSpPr>
        <p:spPr>
          <a:xfrm>
            <a:off x="3246120" y="1719072"/>
            <a:ext cx="2926080" cy="274320"/>
          </a:xfrm>
          <a:prstGeom prst="rect">
            <a:avLst/>
          </a:prstGeom>
          <a:noFill/>
        </p:spPr>
        <p:txBody>
          <a:bodyPr wrap="square" lIns="54864" tIns="27432" rIns="54864" bIns="27432" anchor="t">
            <a:noAutofit/>
          </a:bodyPr>
          <a:lstStyle/>
          <a:p>
            <a:pPr algn="ctr">
              <a:spcAft>
                <a:spcPts val="400"/>
              </a:spcAft>
            </a:pPr>
            <a:r>
              <a:rPr sz="1200" b="1" i="0">
                <a:solidFill>
                  <a:srgbClr val="25578F"/>
                </a:solidFill>
                <a:latin typeface="Calibri"/>
              </a:rPr>
              <a:t>ESP32-S3</a:t>
            </a:r>
          </a:p>
        </p:txBody>
      </p:sp>
      <p:sp>
        <p:nvSpPr>
          <p:cNvPr id="26635" name="Rounded Rectangle 26634"/>
          <p:cNvSpPr/>
          <p:nvPr/>
        </p:nvSpPr>
        <p:spPr>
          <a:xfrm>
            <a:off x="3337560" y="2011680"/>
            <a:ext cx="2743200" cy="41148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Features: FFT + 64-band log-mel (esp-dsp)</a:t>
            </a:r>
          </a:p>
        </p:txBody>
      </p:sp>
      <p:sp>
        <p:nvSpPr>
          <p:cNvPr id="26636" name="Rounded Rectangle 26635"/>
          <p:cNvSpPr/>
          <p:nvPr/>
        </p:nvSpPr>
        <p:spPr>
          <a:xfrm>
            <a:off x="3337560" y="2487168"/>
            <a:ext cx="2743200" cy="41148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Calibration + alert level (saved in flash)</a:t>
            </a:r>
          </a:p>
        </p:txBody>
      </p:sp>
      <p:sp>
        <p:nvSpPr>
          <p:cNvPr id="26637" name="Rounded Rectangle 26636"/>
          <p:cNvSpPr/>
          <p:nvPr/>
        </p:nvSpPr>
        <p:spPr>
          <a:xfrm>
            <a:off x="3337560" y="2962656"/>
            <a:ext cx="2743200" cy="41148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INT8 autoencoder (TFLite Micro)</a:t>
            </a:r>
          </a:p>
        </p:txBody>
      </p:sp>
      <p:sp>
        <p:nvSpPr>
          <p:cNvPr id="26638" name="Rounded Rectangle 26637"/>
          <p:cNvSpPr/>
          <p:nvPr/>
        </p:nvSpPr>
        <p:spPr>
          <a:xfrm>
            <a:off x="6492240" y="2103120"/>
            <a:ext cx="2240280" cy="86868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Decision: sound score + vibration (late fusion, to be tested)</a:t>
            </a:r>
          </a:p>
        </p:txBody>
      </p:sp>
      <p:sp>
        <p:nvSpPr>
          <p:cNvPr id="26639" name="Rounded Rectangle 26638"/>
          <p:cNvSpPr/>
          <p:nvPr/>
        </p:nvSpPr>
        <p:spPr>
          <a:xfrm>
            <a:off x="6492240" y="3200400"/>
            <a:ext cx="2240280" cy="54864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26323F"/>
                </a:solidFill>
                <a:latin typeface="Calibri"/>
              </a:rPr>
              <a:t>Green / red LED</a:t>
            </a:r>
          </a:p>
        </p:txBody>
      </p:sp>
      <p:cxnSp>
        <p:nvCxnSpPr>
          <p:cNvPr id="26640" name="Connector 26639"/>
          <p:cNvCxnSpPr/>
          <p:nvPr/>
        </p:nvCxnSpPr>
        <p:spPr>
          <a:xfrm>
            <a:off x="2880360" y="2121408"/>
            <a:ext cx="320040" cy="164592"/>
          </a:xfrm>
          <a:prstGeom prst="line">
            <a:avLst/>
          </a:prstGeom>
          <a:ln w="22225">
            <a:solidFill>
              <a:srgbClr val="6B758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6641" name="Connector 26640"/>
          <p:cNvCxnSpPr/>
          <p:nvPr/>
        </p:nvCxnSpPr>
        <p:spPr>
          <a:xfrm flipV="1">
            <a:off x="2880360" y="2834640"/>
            <a:ext cx="320040" cy="246888"/>
          </a:xfrm>
          <a:prstGeom prst="line">
            <a:avLst/>
          </a:prstGeom>
          <a:ln w="22225">
            <a:solidFill>
              <a:srgbClr val="6B758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6642" name="Connector 26641"/>
          <p:cNvCxnSpPr/>
          <p:nvPr/>
        </p:nvCxnSpPr>
        <p:spPr>
          <a:xfrm>
            <a:off x="6217920" y="2560320"/>
            <a:ext cx="274320" cy="0"/>
          </a:xfrm>
          <a:prstGeom prst="line">
            <a:avLst/>
          </a:prstGeom>
          <a:ln w="22225">
            <a:solidFill>
              <a:srgbClr val="6B758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6643" name="Connector 26642"/>
          <p:cNvCxnSpPr/>
          <p:nvPr/>
        </p:nvCxnSpPr>
        <p:spPr>
          <a:xfrm>
            <a:off x="7589520" y="2971800"/>
            <a:ext cx="0" cy="228600"/>
          </a:xfrm>
          <a:prstGeom prst="line">
            <a:avLst/>
          </a:prstGeom>
          <a:ln w="22225">
            <a:solidFill>
              <a:srgbClr val="6B75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6644" name="Rounded Rectangle 26643"/>
          <p:cNvSpPr/>
          <p:nvPr/>
        </p:nvSpPr>
        <p:spPr>
          <a:xfrm>
            <a:off x="1143000" y="3931920"/>
            <a:ext cx="3566160" cy="86868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Energy and noise estimate of a fault</a:t>
            </a:r>
          </a:p>
          <a:p>
            <a:pPr algn="ctr"/>
            <a:r>
              <a:rPr sz="1050" b="0">
                <a:solidFill>
                  <a:srgbClr val="26323F"/>
                </a:solidFill>
                <a:latin typeface="Calibri"/>
              </a:rPr>
              <a:t>(INA219 power sensor + reference sound meter)</a:t>
            </a:r>
          </a:p>
        </p:txBody>
      </p:sp>
      <p:sp>
        <p:nvSpPr>
          <p:cNvPr id="26645" name="Rounded Rectangle 26644"/>
          <p:cNvSpPr/>
          <p:nvPr/>
        </p:nvSpPr>
        <p:spPr>
          <a:xfrm>
            <a:off x="5120640" y="3931920"/>
            <a:ext cx="3611880" cy="86868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a:solidFill>
                  <a:srgbClr val="26323F"/>
                </a:solidFill>
                <a:latin typeface="Calibri"/>
              </a:rPr>
              <a:t>Test rig: record sound + vibration + temperature together to test fusion</a:t>
            </a:r>
          </a:p>
        </p:txBody>
      </p:sp>
      <p:sp>
        <p:nvSpPr>
          <p:cNvPr id="26646" name="TextBox 26645"/>
          <p:cNvSpPr txBox="1"/>
          <p:nvPr/>
        </p:nvSpPr>
        <p:spPr>
          <a:xfrm>
            <a:off x="1143000" y="4983480"/>
            <a:ext cx="7589520" cy="822960"/>
          </a:xfrm>
          <a:prstGeom prst="rect">
            <a:avLst/>
          </a:prstGeom>
          <a:noFill/>
        </p:spPr>
        <p:txBody>
          <a:bodyPr wrap="square" lIns="54864" tIns="27432" rIns="54864" bIns="27432" anchor="t">
            <a:noAutofit/>
          </a:bodyPr>
          <a:lstStyle/>
          <a:p>
            <a:pPr marL="182880" indent="-182880" algn="l">
              <a:spcAft>
                <a:spcPts val="300"/>
              </a:spcAft>
              <a:buFont typeface="Arial"/>
              <a:buChar char="•"/>
            </a:pPr>
            <a:r>
              <a:rPr sz="1150" b="0" i="0">
                <a:solidFill>
                  <a:srgbClr val="26323F"/>
                </a:solidFill>
                <a:latin typeface="Calibri"/>
              </a:rPr>
              <a:t>Thermal sensing is future work; this phase addresses heat indirectly (earlier detection, extra power drawn).</a:t>
            </a:r>
          </a:p>
          <a:p>
            <a:pPr marL="182880" indent="-182880" algn="l">
              <a:spcAft>
                <a:spcPts val="300"/>
              </a:spcAft>
              <a:buFont typeface="Arial"/>
              <a:buChar char="•"/>
            </a:pPr>
            <a:r>
              <a:rPr sz="1150" b="0" i="0">
                <a:solidFill>
                  <a:srgbClr val="26323F"/>
                </a:solidFill>
                <a:latin typeface="Calibri"/>
              </a:rPr>
              <a:t>Public vibration data (CWRU) is from a different machine than the sound data, so fusion needs our own rig or a paired dataset [7].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440" y="475488"/>
            <a:ext cx="6492240" cy="777240"/>
          </a:xfrm>
        </p:spPr>
        <p:txBody>
          <a:bodyPr wrap="square" anchor="ctr">
            <a:noAutofit/>
          </a:bodyPr>
          <a:lstStyle/>
          <a:p>
            <a:pPr algn="ctr"/>
            <a:r>
              <a:rPr sz="2800">
                <a:latin typeface="Calibri"/>
              </a:rPr>
              <a:t>Implementation Progress (about 40%)</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12</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graphicFrame>
        <p:nvGraphicFramePr>
          <p:cNvPr id="20485" name="Table 20484"/>
          <p:cNvGraphicFramePr>
            <a:graphicFrameLocks noGrp="1"/>
          </p:cNvGraphicFramePr>
          <p:nvPr/>
        </p:nvGraphicFramePr>
        <p:xfrm>
          <a:off x="1051560" y="1371600"/>
          <a:ext cx="7680960" cy="4023360"/>
        </p:xfrm>
        <a:graphic>
          <a:graphicData uri="http://schemas.openxmlformats.org/drawingml/2006/table">
            <a:tbl>
              <a:tblPr>
                <a:tableStyleId>{2D5ABB26-0587-4C30-8999-92F81FD0307C}</a:tableStyleId>
              </a:tblPr>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65760">
                <a:tc>
                  <a:txBody>
                    <a:bodyPr/>
                    <a:lstStyle/>
                    <a:p>
                      <a:r>
                        <a:rPr sz="1100" b="1">
                          <a:solidFill>
                            <a:srgbClr val="FFFFFF"/>
                          </a:solidFill>
                          <a:latin typeface="Calibri"/>
                        </a:rPr>
                        <a:t>Module</a:t>
                      </a:r>
                    </a:p>
                  </a:txBody>
                  <a:tcPr marL="54864" marR="54864" marT="27432" marB="27432" anchor="ctr">
                    <a:solidFill>
                      <a:srgbClr val="25578F"/>
                    </a:solidFill>
                  </a:tcPr>
                </a:tc>
                <a:tc>
                  <a:txBody>
                    <a:bodyPr/>
                    <a:lstStyle/>
                    <a:p>
                      <a:r>
                        <a:rPr sz="1100" b="1">
                          <a:solidFill>
                            <a:srgbClr val="FFFFFF"/>
                          </a:solidFill>
                          <a:latin typeface="Calibri"/>
                        </a:rPr>
                        <a:t>What was done</a:t>
                      </a:r>
                    </a:p>
                  </a:txBody>
                  <a:tcPr marL="54864" marR="54864" marT="27432" marB="27432" anchor="ctr">
                    <a:solidFill>
                      <a:srgbClr val="25578F"/>
                    </a:solidFill>
                  </a:tcPr>
                </a:tc>
                <a:tc>
                  <a:txBody>
                    <a:bodyPr/>
                    <a:lstStyle/>
                    <a:p>
                      <a:r>
                        <a:rPr sz="1100" b="1">
                          <a:solidFill>
                            <a:srgbClr val="FFFFFF"/>
                          </a:solidFill>
                          <a:latin typeface="Calibri"/>
                        </a:rPr>
                        <a:t>Status</a:t>
                      </a:r>
                    </a:p>
                  </a:txBody>
                  <a:tcPr marL="54864" marR="54864" marT="27432" marB="27432" anchor="ctr">
                    <a:solidFill>
                      <a:srgbClr val="25578F"/>
                    </a:solidFill>
                  </a:tcPr>
                </a:tc>
                <a:extLst>
                  <a:ext uri="{0D108BD9-81ED-4DB2-BD59-A6C34878D82A}">
                    <a16:rowId xmlns:a16="http://schemas.microsoft.com/office/drawing/2014/main" val="10000"/>
                  </a:ext>
                </a:extLst>
              </a:tr>
              <a:tr h="365760">
                <a:tc>
                  <a:txBody>
                    <a:bodyPr/>
                    <a:lstStyle/>
                    <a:p>
                      <a:r>
                        <a:rPr sz="1100" b="1">
                          <a:solidFill>
                            <a:srgbClr val="26323F"/>
                          </a:solidFill>
                          <a:latin typeface="Calibri"/>
                        </a:rPr>
                        <a:t>Dataset inventory</a:t>
                      </a:r>
                    </a:p>
                  </a:txBody>
                  <a:tcPr marL="54864" marR="54864" marT="27432" marB="27432" anchor="ctr">
                    <a:solidFill>
                      <a:srgbClr val="E6EEF7"/>
                    </a:solidFill>
                  </a:tcPr>
                </a:tc>
                <a:tc>
                  <a:txBody>
                    <a:bodyPr/>
                    <a:lstStyle/>
                    <a:p>
                      <a:r>
                        <a:rPr sz="1100" b="0">
                          <a:solidFill>
                            <a:srgbClr val="26323F"/>
                          </a:solidFill>
                          <a:latin typeface="Calibri"/>
                        </a:rPr>
                        <a:t>54,057 MIMII files checked; counts match Hitachi's table</a:t>
                      </a:r>
                    </a:p>
                  </a:txBody>
                  <a:tcPr marL="54864" marR="54864" marT="27432" marB="27432" anchor="ctr">
                    <a:solidFill>
                      <a:srgbClr val="E6EEF7"/>
                    </a:solidFill>
                  </a:tcPr>
                </a:tc>
                <a:tc>
                  <a:txBody>
                    <a:bodyPr/>
                    <a:lstStyle/>
                    <a:p>
                      <a:r>
                        <a:rPr sz="1100" b="1">
                          <a:solidFill>
                            <a:srgbClr val="1E7B4B"/>
                          </a:solidFill>
                          <a:latin typeface="Calibri"/>
                        </a:rPr>
                        <a:t>Done</a:t>
                      </a:r>
                    </a:p>
                  </a:txBody>
                  <a:tcPr marL="54864" marR="54864" marT="27432" marB="27432" anchor="ctr">
                    <a:solidFill>
                      <a:srgbClr val="E6EEF7"/>
                    </a:solidFill>
                  </a:tcPr>
                </a:tc>
                <a:extLst>
                  <a:ext uri="{0D108BD9-81ED-4DB2-BD59-A6C34878D82A}">
                    <a16:rowId xmlns:a16="http://schemas.microsoft.com/office/drawing/2014/main" val="10001"/>
                  </a:ext>
                </a:extLst>
              </a:tr>
              <a:tr h="365760">
                <a:tc>
                  <a:txBody>
                    <a:bodyPr/>
                    <a:lstStyle/>
                    <a:p>
                      <a:r>
                        <a:rPr sz="1100" b="1">
                          <a:solidFill>
                            <a:srgbClr val="26323F"/>
                          </a:solidFill>
                          <a:latin typeface="Calibri"/>
                        </a:rPr>
                        <a:t>Feature extraction</a:t>
                      </a:r>
                    </a:p>
                  </a:txBody>
                  <a:tcPr marL="54864" marR="54864" marT="27432" marB="27432" anchor="ctr">
                    <a:solidFill>
                      <a:srgbClr val="F6F9FC"/>
                    </a:solidFill>
                  </a:tcPr>
                </a:tc>
                <a:tc>
                  <a:txBody>
                    <a:bodyPr/>
                    <a:lstStyle/>
                    <a:p>
                      <a:r>
                        <a:rPr sz="1100" b="0">
                          <a:solidFill>
                            <a:srgbClr val="26323F"/>
                          </a:solidFill>
                          <a:latin typeface="Calibri"/>
                        </a:rPr>
                        <a:t>Log-mel for all files (64, 32, 128 bands); checked against a hand calculation</a:t>
                      </a:r>
                    </a:p>
                  </a:txBody>
                  <a:tcPr marL="54864" marR="54864" marT="27432" marB="27432" anchor="ctr">
                    <a:solidFill>
                      <a:srgbClr val="F6F9FC"/>
                    </a:solidFill>
                  </a:tcPr>
                </a:tc>
                <a:tc>
                  <a:txBody>
                    <a:bodyPr/>
                    <a:lstStyle/>
                    <a:p>
                      <a:r>
                        <a:rPr sz="1100" b="1">
                          <a:solidFill>
                            <a:srgbClr val="1E7B4B"/>
                          </a:solidFill>
                          <a:latin typeface="Calibri"/>
                        </a:rPr>
                        <a:t>Done</a:t>
                      </a:r>
                    </a:p>
                  </a:txBody>
                  <a:tcPr marL="54864" marR="54864" marT="27432" marB="27432" anchor="ctr">
                    <a:solidFill>
                      <a:srgbClr val="F6F9FC"/>
                    </a:solidFill>
                  </a:tcPr>
                </a:tc>
                <a:extLst>
                  <a:ext uri="{0D108BD9-81ED-4DB2-BD59-A6C34878D82A}">
                    <a16:rowId xmlns:a16="http://schemas.microsoft.com/office/drawing/2014/main" val="10002"/>
                  </a:ext>
                </a:extLst>
              </a:tr>
              <a:tr h="365760">
                <a:tc>
                  <a:txBody>
                    <a:bodyPr/>
                    <a:lstStyle/>
                    <a:p>
                      <a:r>
                        <a:rPr sz="1100" b="1">
                          <a:solidFill>
                            <a:srgbClr val="26323F"/>
                          </a:solidFill>
                          <a:latin typeface="Calibri"/>
                        </a:rPr>
                        <a:t>Baseline reproduction</a:t>
                      </a:r>
                    </a:p>
                  </a:txBody>
                  <a:tcPr marL="54864" marR="54864" marT="27432" marB="27432" anchor="ctr">
                    <a:solidFill>
                      <a:srgbClr val="E6EEF7"/>
                    </a:solidFill>
                  </a:tcPr>
                </a:tc>
                <a:tc>
                  <a:txBody>
                    <a:bodyPr/>
                    <a:lstStyle/>
                    <a:p>
                      <a:r>
                        <a:rPr sz="1100" b="0">
                          <a:solidFill>
                            <a:srgbClr val="26323F"/>
                          </a:solidFill>
                          <a:latin typeface="Calibri"/>
                        </a:rPr>
                        <a:t>Hitachi model rebuilt; 48 cases; correlation 0.97 with their table</a:t>
                      </a:r>
                    </a:p>
                  </a:txBody>
                  <a:tcPr marL="54864" marR="54864" marT="27432" marB="27432" anchor="ctr">
                    <a:solidFill>
                      <a:srgbClr val="E6EEF7"/>
                    </a:solidFill>
                  </a:tcPr>
                </a:tc>
                <a:tc>
                  <a:txBody>
                    <a:bodyPr/>
                    <a:lstStyle/>
                    <a:p>
                      <a:r>
                        <a:rPr sz="1100" b="1">
                          <a:solidFill>
                            <a:srgbClr val="1E7B4B"/>
                          </a:solidFill>
                          <a:latin typeface="Calibri"/>
                        </a:rPr>
                        <a:t>Done</a:t>
                      </a:r>
                    </a:p>
                  </a:txBody>
                  <a:tcPr marL="54864" marR="54864" marT="27432" marB="27432" anchor="ctr">
                    <a:solidFill>
                      <a:srgbClr val="E6EEF7"/>
                    </a:solidFill>
                  </a:tcPr>
                </a:tc>
                <a:extLst>
                  <a:ext uri="{0D108BD9-81ED-4DB2-BD59-A6C34878D82A}">
                    <a16:rowId xmlns:a16="http://schemas.microsoft.com/office/drawing/2014/main" val="10003"/>
                  </a:ext>
                </a:extLst>
              </a:tr>
              <a:tr h="365760">
                <a:tc>
                  <a:txBody>
                    <a:bodyPr/>
                    <a:lstStyle/>
                    <a:p>
                      <a:r>
                        <a:rPr sz="1100" b="1">
                          <a:solidFill>
                            <a:srgbClr val="26323F"/>
                          </a:solidFill>
                          <a:latin typeface="Calibri"/>
                        </a:rPr>
                        <a:t>Calibration study</a:t>
                      </a:r>
                    </a:p>
                  </a:txBody>
                  <a:tcPr marL="54864" marR="54864" marT="27432" marB="27432" anchor="ctr">
                    <a:solidFill>
                      <a:srgbClr val="F6F9FC"/>
                    </a:solidFill>
                  </a:tcPr>
                </a:tc>
                <a:tc>
                  <a:txBody>
                    <a:bodyPr/>
                    <a:lstStyle/>
                    <a:p>
                      <a:r>
                        <a:rPr sz="1100" b="0">
                          <a:solidFill>
                            <a:srgbClr val="26323F"/>
                          </a:solidFill>
                          <a:latin typeface="Calibri"/>
                        </a:rPr>
                        <a:t>Controls, 3 seeds, ablation (alert level only vs full calibration)</a:t>
                      </a:r>
                    </a:p>
                  </a:txBody>
                  <a:tcPr marL="54864" marR="54864" marT="27432" marB="27432" anchor="ctr">
                    <a:solidFill>
                      <a:srgbClr val="F6F9FC"/>
                    </a:solidFill>
                  </a:tcPr>
                </a:tc>
                <a:tc>
                  <a:txBody>
                    <a:bodyPr/>
                    <a:lstStyle/>
                    <a:p>
                      <a:r>
                        <a:rPr sz="1100" b="1">
                          <a:solidFill>
                            <a:srgbClr val="1E7B4B"/>
                          </a:solidFill>
                          <a:latin typeface="Calibri"/>
                        </a:rPr>
                        <a:t>Done</a:t>
                      </a:r>
                    </a:p>
                  </a:txBody>
                  <a:tcPr marL="54864" marR="54864" marT="27432" marB="27432" anchor="ctr">
                    <a:solidFill>
                      <a:srgbClr val="F6F9FC"/>
                    </a:solidFill>
                  </a:tcPr>
                </a:tc>
                <a:extLst>
                  <a:ext uri="{0D108BD9-81ED-4DB2-BD59-A6C34878D82A}">
                    <a16:rowId xmlns:a16="http://schemas.microsoft.com/office/drawing/2014/main" val="10004"/>
                  </a:ext>
                </a:extLst>
              </a:tr>
              <a:tr h="365760">
                <a:tc>
                  <a:txBody>
                    <a:bodyPr/>
                    <a:lstStyle/>
                    <a:p>
                      <a:r>
                        <a:rPr sz="1100" b="1">
                          <a:solidFill>
                            <a:srgbClr val="26323F"/>
                          </a:solidFill>
                          <a:latin typeface="Calibri"/>
                        </a:rPr>
                        <a:t>Model selection</a:t>
                      </a:r>
                    </a:p>
                  </a:txBody>
                  <a:tcPr marL="54864" marR="54864" marT="27432" marB="27432" anchor="ctr">
                    <a:solidFill>
                      <a:srgbClr val="E6EEF7"/>
                    </a:solidFill>
                  </a:tcPr>
                </a:tc>
                <a:tc>
                  <a:txBody>
                    <a:bodyPr/>
                    <a:lstStyle/>
                    <a:p>
                      <a:r>
                        <a:rPr sz="1100" b="0">
                          <a:solidFill>
                            <a:srgbClr val="26323F"/>
                          </a:solidFill>
                          <a:latin typeface="Calibri"/>
                        </a:rPr>
                        <a:t>12 designs compared; sealed test machine; 2.4k-6.9k parameters chosen</a:t>
                      </a:r>
                    </a:p>
                  </a:txBody>
                  <a:tcPr marL="54864" marR="54864" marT="27432" marB="27432" anchor="ctr">
                    <a:solidFill>
                      <a:srgbClr val="E6EEF7"/>
                    </a:solidFill>
                  </a:tcPr>
                </a:tc>
                <a:tc>
                  <a:txBody>
                    <a:bodyPr/>
                    <a:lstStyle/>
                    <a:p>
                      <a:r>
                        <a:rPr sz="1100" b="1">
                          <a:solidFill>
                            <a:srgbClr val="1E7B4B"/>
                          </a:solidFill>
                          <a:latin typeface="Calibri"/>
                        </a:rPr>
                        <a:t>Done</a:t>
                      </a:r>
                    </a:p>
                  </a:txBody>
                  <a:tcPr marL="54864" marR="54864" marT="27432" marB="27432" anchor="ctr">
                    <a:solidFill>
                      <a:srgbClr val="E6EEF7"/>
                    </a:solidFill>
                  </a:tcPr>
                </a:tc>
                <a:extLst>
                  <a:ext uri="{0D108BD9-81ED-4DB2-BD59-A6C34878D82A}">
                    <a16:rowId xmlns:a16="http://schemas.microsoft.com/office/drawing/2014/main" val="10005"/>
                  </a:ext>
                </a:extLst>
              </a:tr>
              <a:tr h="365760">
                <a:tc>
                  <a:txBody>
                    <a:bodyPr/>
                    <a:lstStyle/>
                    <a:p>
                      <a:r>
                        <a:rPr sz="1100" b="1">
                          <a:solidFill>
                            <a:srgbClr val="26323F"/>
                          </a:solidFill>
                          <a:latin typeface="Calibri"/>
                        </a:rPr>
                        <a:t>Noise-mismatch test</a:t>
                      </a:r>
                    </a:p>
                  </a:txBody>
                  <a:tcPr marL="54864" marR="54864" marT="27432" marB="27432" anchor="ctr">
                    <a:solidFill>
                      <a:srgbClr val="F6F9FC"/>
                    </a:solidFill>
                  </a:tcPr>
                </a:tc>
                <a:tc>
                  <a:txBody>
                    <a:bodyPr/>
                    <a:lstStyle/>
                    <a:p>
                      <a:r>
                        <a:rPr sz="1100" b="0">
                          <a:solidFill>
                            <a:srgbClr val="26323F"/>
                          </a:solidFill>
                          <a:latin typeface="Calibri"/>
                        </a:rPr>
                        <a:t>Calibrate at one noise level, test at another</a:t>
                      </a:r>
                    </a:p>
                  </a:txBody>
                  <a:tcPr marL="54864" marR="54864" marT="27432" marB="27432" anchor="ctr">
                    <a:solidFill>
                      <a:srgbClr val="F6F9FC"/>
                    </a:solidFill>
                  </a:tcPr>
                </a:tc>
                <a:tc>
                  <a:txBody>
                    <a:bodyPr/>
                    <a:lstStyle/>
                    <a:p>
                      <a:r>
                        <a:rPr sz="1100" b="1">
                          <a:solidFill>
                            <a:srgbClr val="1E7B4B"/>
                          </a:solidFill>
                          <a:latin typeface="Calibri"/>
                        </a:rPr>
                        <a:t>Done</a:t>
                      </a:r>
                    </a:p>
                  </a:txBody>
                  <a:tcPr marL="54864" marR="54864" marT="27432" marB="27432" anchor="ctr">
                    <a:solidFill>
                      <a:srgbClr val="F6F9FC"/>
                    </a:solidFill>
                  </a:tcPr>
                </a:tc>
                <a:extLst>
                  <a:ext uri="{0D108BD9-81ED-4DB2-BD59-A6C34878D82A}">
                    <a16:rowId xmlns:a16="http://schemas.microsoft.com/office/drawing/2014/main" val="10006"/>
                  </a:ext>
                </a:extLst>
              </a:tr>
              <a:tr h="365760">
                <a:tc>
                  <a:txBody>
                    <a:bodyPr/>
                    <a:lstStyle/>
                    <a:p>
                      <a:r>
                        <a:rPr sz="1100" b="1">
                          <a:solidFill>
                            <a:srgbClr val="26323F"/>
                          </a:solidFill>
                          <a:latin typeface="Calibri"/>
                        </a:rPr>
                        <a:t>Final evaluation</a:t>
                      </a:r>
                    </a:p>
                  </a:txBody>
                  <a:tcPr marL="54864" marR="54864" marT="27432" marB="27432" anchor="ctr">
                    <a:solidFill>
                      <a:srgbClr val="E6EEF7"/>
                    </a:solidFill>
                  </a:tcPr>
                </a:tc>
                <a:tc>
                  <a:txBody>
                    <a:bodyPr/>
                    <a:lstStyle/>
                    <a:p>
                      <a:r>
                        <a:rPr sz="1100" b="0">
                          <a:solidFill>
                            <a:srgbClr val="26323F"/>
                          </a:solidFill>
                          <a:latin typeface="Calibri"/>
                        </a:rPr>
                        <a:t>144 runs: 4 types x 3 noise levels x 4 machines x 3 seeds, all metrics</a:t>
                      </a:r>
                    </a:p>
                  </a:txBody>
                  <a:tcPr marL="54864" marR="54864" marT="27432" marB="27432" anchor="ctr">
                    <a:solidFill>
                      <a:srgbClr val="E6EEF7"/>
                    </a:solidFill>
                  </a:tcPr>
                </a:tc>
                <a:tc>
                  <a:txBody>
                    <a:bodyPr/>
                    <a:lstStyle/>
                    <a:p>
                      <a:r>
                        <a:rPr sz="1100" b="1">
                          <a:solidFill>
                            <a:srgbClr val="1E7B4B"/>
                          </a:solidFill>
                          <a:latin typeface="Calibri"/>
                        </a:rPr>
                        <a:t>Done</a:t>
                      </a:r>
                    </a:p>
                  </a:txBody>
                  <a:tcPr marL="54864" marR="54864" marT="27432" marB="27432" anchor="ctr">
                    <a:solidFill>
                      <a:srgbClr val="E6EEF7"/>
                    </a:solidFill>
                  </a:tcPr>
                </a:tc>
                <a:extLst>
                  <a:ext uri="{0D108BD9-81ED-4DB2-BD59-A6C34878D82A}">
                    <a16:rowId xmlns:a16="http://schemas.microsoft.com/office/drawing/2014/main" val="10007"/>
                  </a:ext>
                </a:extLst>
              </a:tr>
              <a:tr h="365760">
                <a:tc>
                  <a:txBody>
                    <a:bodyPr/>
                    <a:lstStyle/>
                    <a:p>
                      <a:r>
                        <a:rPr sz="1100" b="1">
                          <a:solidFill>
                            <a:srgbClr val="26323F"/>
                          </a:solidFill>
                          <a:latin typeface="Calibri"/>
                        </a:rPr>
                        <a:t>Dashboard + own-recording test</a:t>
                      </a:r>
                    </a:p>
                  </a:txBody>
                  <a:tcPr marL="54864" marR="54864" marT="27432" marB="27432" anchor="ctr">
                    <a:solidFill>
                      <a:srgbClr val="F6F9FC"/>
                    </a:solidFill>
                  </a:tcPr>
                </a:tc>
                <a:tc>
                  <a:txBody>
                    <a:bodyPr/>
                    <a:lstStyle/>
                    <a:p>
                      <a:r>
                        <a:rPr sz="1100" b="0">
                          <a:solidFill>
                            <a:srgbClr val="26323F"/>
                          </a:solidFill>
                          <a:latin typeface="Calibri"/>
                        </a:rPr>
                        <a:t>5-tab interface; first test on our own fan with a phone microphone</a:t>
                      </a:r>
                    </a:p>
                  </a:txBody>
                  <a:tcPr marL="54864" marR="54864" marT="27432" marB="27432" anchor="ctr">
                    <a:solidFill>
                      <a:srgbClr val="F6F9FC"/>
                    </a:solidFill>
                  </a:tcPr>
                </a:tc>
                <a:tc>
                  <a:txBody>
                    <a:bodyPr/>
                    <a:lstStyle/>
                    <a:p>
                      <a:r>
                        <a:rPr sz="1100" b="1">
                          <a:solidFill>
                            <a:srgbClr val="1E7B4B"/>
                          </a:solidFill>
                          <a:latin typeface="Calibri"/>
                        </a:rPr>
                        <a:t>Done (first test)</a:t>
                      </a:r>
                    </a:p>
                  </a:txBody>
                  <a:tcPr marL="54864" marR="54864" marT="27432" marB="27432" anchor="ctr">
                    <a:solidFill>
                      <a:srgbClr val="F6F9FC"/>
                    </a:solidFill>
                  </a:tcPr>
                </a:tc>
                <a:extLst>
                  <a:ext uri="{0D108BD9-81ED-4DB2-BD59-A6C34878D82A}">
                    <a16:rowId xmlns:a16="http://schemas.microsoft.com/office/drawing/2014/main" val="10008"/>
                  </a:ext>
                </a:extLst>
              </a:tr>
              <a:tr h="365760">
                <a:tc>
                  <a:txBody>
                    <a:bodyPr/>
                    <a:lstStyle/>
                    <a:p>
                      <a:r>
                        <a:rPr sz="1100" b="1">
                          <a:solidFill>
                            <a:srgbClr val="26323F"/>
                          </a:solidFill>
                          <a:latin typeface="Calibri"/>
                        </a:rPr>
                        <a:t>Vibration (CWRU)</a:t>
                      </a:r>
                    </a:p>
                  </a:txBody>
                  <a:tcPr marL="54864" marR="54864" marT="27432" marB="27432" anchor="ctr">
                    <a:solidFill>
                      <a:srgbClr val="E6EEF7"/>
                    </a:solidFill>
                  </a:tcPr>
                </a:tc>
                <a:tc>
                  <a:txBody>
                    <a:bodyPr/>
                    <a:lstStyle/>
                    <a:p>
                      <a:r>
                        <a:rPr sz="1100" b="0">
                          <a:solidFill>
                            <a:srgbClr val="26323F"/>
                          </a:solidFill>
                          <a:latin typeface="Calibri"/>
                        </a:rPr>
                        <a:t>Fabricated channel removed; sensor-noise margin test</a:t>
                      </a:r>
                    </a:p>
                  </a:txBody>
                  <a:tcPr marL="54864" marR="54864" marT="27432" marB="27432" anchor="ctr">
                    <a:solidFill>
                      <a:srgbClr val="E6EEF7"/>
                    </a:solidFill>
                  </a:tcPr>
                </a:tc>
                <a:tc>
                  <a:txBody>
                    <a:bodyPr/>
                    <a:lstStyle/>
                    <a:p>
                      <a:r>
                        <a:rPr sz="1100" b="1">
                          <a:solidFill>
                            <a:srgbClr val="1E7B4B"/>
                          </a:solidFill>
                          <a:latin typeface="Calibri"/>
                        </a:rPr>
                        <a:t>Done</a:t>
                      </a:r>
                    </a:p>
                  </a:txBody>
                  <a:tcPr marL="54864" marR="54864" marT="27432" marB="27432" anchor="ctr">
                    <a:solidFill>
                      <a:srgbClr val="E6EEF7"/>
                    </a:solidFill>
                  </a:tcPr>
                </a:tc>
                <a:extLst>
                  <a:ext uri="{0D108BD9-81ED-4DB2-BD59-A6C34878D82A}">
                    <a16:rowId xmlns:a16="http://schemas.microsoft.com/office/drawing/2014/main" val="10009"/>
                  </a:ext>
                </a:extLst>
              </a:tr>
              <a:tr h="365760">
                <a:tc>
                  <a:txBody>
                    <a:bodyPr/>
                    <a:lstStyle/>
                    <a:p>
                      <a:r>
                        <a:rPr sz="1100" b="1">
                          <a:solidFill>
                            <a:srgbClr val="26323F"/>
                          </a:solidFill>
                          <a:latin typeface="Calibri"/>
                        </a:rPr>
                        <a:t>Hardware, C features, INT8, fusion</a:t>
                      </a:r>
                    </a:p>
                  </a:txBody>
                  <a:tcPr marL="54864" marR="54864" marT="27432" marB="27432" anchor="ctr">
                    <a:solidFill>
                      <a:srgbClr val="F6F9FC"/>
                    </a:solidFill>
                  </a:tcPr>
                </a:tc>
                <a:tc>
                  <a:txBody>
                    <a:bodyPr/>
                    <a:lstStyle/>
                    <a:p>
                      <a:r>
                        <a:rPr sz="1100" b="0">
                          <a:solidFill>
                            <a:srgbClr val="26323F"/>
                          </a:solidFill>
                          <a:latin typeface="Calibri"/>
                        </a:rPr>
                        <a:t>Not started</a:t>
                      </a:r>
                    </a:p>
                  </a:txBody>
                  <a:tcPr marL="54864" marR="54864" marT="27432" marB="27432" anchor="ctr">
                    <a:solidFill>
                      <a:srgbClr val="F6F9FC"/>
                    </a:solidFill>
                  </a:tcPr>
                </a:tc>
                <a:tc>
                  <a:txBody>
                    <a:bodyPr/>
                    <a:lstStyle/>
                    <a:p>
                      <a:r>
                        <a:rPr sz="1100" b="1">
                          <a:solidFill>
                            <a:srgbClr val="A86A00"/>
                          </a:solidFill>
                          <a:latin typeface="Calibri"/>
                        </a:rPr>
                        <a:t>Planned</a:t>
                      </a:r>
                    </a:p>
                  </a:txBody>
                  <a:tcPr marL="54864" marR="54864" marT="27432" marB="27432" anchor="ctr">
                    <a:solidFill>
                      <a:srgbClr val="F6F9FC"/>
                    </a:solidFill>
                  </a:tcPr>
                </a:tc>
                <a:extLst>
                  <a:ext uri="{0D108BD9-81ED-4DB2-BD59-A6C34878D82A}">
                    <a16:rowId xmlns:a16="http://schemas.microsoft.com/office/drawing/2014/main" val="10010"/>
                  </a:ext>
                </a:extLst>
              </a:tr>
            </a:tbl>
          </a:graphicData>
        </a:graphic>
      </p:graphicFrame>
      <p:sp>
        <p:nvSpPr>
          <p:cNvPr id="20486" name="TextBox 20485"/>
          <p:cNvSpPr txBox="1"/>
          <p:nvPr/>
        </p:nvSpPr>
        <p:spPr>
          <a:xfrm>
            <a:off x="1051560" y="5486400"/>
            <a:ext cx="7680960" cy="457200"/>
          </a:xfrm>
          <a:prstGeom prst="rect">
            <a:avLst/>
          </a:prstGeom>
          <a:noFill/>
        </p:spPr>
        <p:txBody>
          <a:bodyPr wrap="square" lIns="54864" tIns="27432" rIns="54864" bIns="27432" anchor="t">
            <a:noAutofit/>
          </a:bodyPr>
          <a:lstStyle/>
          <a:p>
            <a:pPr algn="l">
              <a:spcAft>
                <a:spcPts val="400"/>
              </a:spcAft>
            </a:pPr>
            <a:r>
              <a:rPr sz="1100" b="0" i="1">
                <a:solidFill>
                  <a:srgbClr val="6B7580"/>
                </a:solidFill>
                <a:latin typeface="Calibri"/>
              </a:rPr>
              <a:t>About 40% is our own estimate: the offline pipeline is done; hardware and on-chip work have not started.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440" y="475488"/>
            <a:ext cx="6492240" cy="777240"/>
          </a:xfrm>
        </p:spPr>
        <p:txBody>
          <a:bodyPr wrap="square" anchor="ctr">
            <a:noAutofit/>
          </a:bodyPr>
          <a:lstStyle/>
          <a:p>
            <a:pPr algn="ctr"/>
            <a:r>
              <a:rPr sz="2800">
                <a:latin typeface="Calibri"/>
              </a:rPr>
              <a:t>Results: Validation and Calibration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13</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graphicFrame>
        <p:nvGraphicFramePr>
          <p:cNvPr id="20485" name="Calibration chart"/>
          <p:cNvGraphicFramePr>
            <a:graphicFrameLocks noGrp="1"/>
          </p:cNvGraphicFramePr>
          <p:nvPr/>
        </p:nvGraphicFramePr>
        <p:xfrm>
          <a:off x="1097280" y="1371600"/>
          <a:ext cx="42976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20486" name="TextBox 20485"/>
          <p:cNvSpPr txBox="1"/>
          <p:nvPr/>
        </p:nvSpPr>
        <p:spPr>
          <a:xfrm>
            <a:off x="5577840" y="1371600"/>
            <a:ext cx="3200400" cy="320040"/>
          </a:xfrm>
          <a:prstGeom prst="rect">
            <a:avLst/>
          </a:prstGeom>
          <a:noFill/>
        </p:spPr>
        <p:txBody>
          <a:bodyPr wrap="square" lIns="54864" tIns="27432" rIns="54864" bIns="27432" anchor="t">
            <a:noAutofit/>
          </a:bodyPr>
          <a:lstStyle/>
          <a:p>
            <a:pPr algn="l">
              <a:spcAft>
                <a:spcPts val="400"/>
              </a:spcAft>
            </a:pPr>
            <a:r>
              <a:rPr sz="1300" b="1" i="0">
                <a:solidFill>
                  <a:srgbClr val="25578F"/>
                </a:solidFill>
                <a:latin typeface="Calibri"/>
              </a:rPr>
              <a:t>Our copy of Hitachi's model [1]</a:t>
            </a:r>
          </a:p>
        </p:txBody>
      </p:sp>
      <p:graphicFrame>
        <p:nvGraphicFramePr>
          <p:cNvPr id="20487" name="Table 20486"/>
          <p:cNvGraphicFramePr>
            <a:graphicFrameLocks noGrp="1"/>
          </p:cNvGraphicFramePr>
          <p:nvPr/>
        </p:nvGraphicFramePr>
        <p:xfrm>
          <a:off x="5577840" y="1737360"/>
          <a:ext cx="3108960" cy="1645920"/>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29184">
                <a:tc>
                  <a:txBody>
                    <a:bodyPr/>
                    <a:lstStyle/>
                    <a:p>
                      <a:r>
                        <a:rPr sz="1150" b="1">
                          <a:solidFill>
                            <a:srgbClr val="FFFFFF"/>
                          </a:solidFill>
                          <a:latin typeface="Calibri"/>
                        </a:rPr>
                        <a:t>6 dB AUC</a:t>
                      </a:r>
                    </a:p>
                  </a:txBody>
                  <a:tcPr marL="54864" marR="54864" marT="27432" marB="27432" anchor="ctr">
                    <a:solidFill>
                      <a:srgbClr val="25578F"/>
                    </a:solidFill>
                  </a:tcPr>
                </a:tc>
                <a:tc>
                  <a:txBody>
                    <a:bodyPr/>
                    <a:lstStyle/>
                    <a:p>
                      <a:r>
                        <a:rPr sz="1150" b="1">
                          <a:solidFill>
                            <a:srgbClr val="FFFFFF"/>
                          </a:solidFill>
                          <a:latin typeface="Calibri"/>
                        </a:rPr>
                        <a:t>Ours</a:t>
                      </a:r>
                    </a:p>
                  </a:txBody>
                  <a:tcPr marL="54864" marR="54864" marT="27432" marB="27432" anchor="ctr">
                    <a:solidFill>
                      <a:srgbClr val="25578F"/>
                    </a:solidFill>
                  </a:tcPr>
                </a:tc>
                <a:tc>
                  <a:txBody>
                    <a:bodyPr/>
                    <a:lstStyle/>
                    <a:p>
                      <a:r>
                        <a:rPr sz="1150" b="1">
                          <a:solidFill>
                            <a:srgbClr val="FFFFFF"/>
                          </a:solidFill>
                          <a:latin typeface="Calibri"/>
                        </a:rPr>
                        <a:t>Hitachi</a:t>
                      </a:r>
                    </a:p>
                  </a:txBody>
                  <a:tcPr marL="54864" marR="54864" marT="27432" marB="27432" anchor="ctr">
                    <a:solidFill>
                      <a:srgbClr val="25578F"/>
                    </a:solidFill>
                  </a:tcPr>
                </a:tc>
                <a:extLst>
                  <a:ext uri="{0D108BD9-81ED-4DB2-BD59-A6C34878D82A}">
                    <a16:rowId xmlns:a16="http://schemas.microsoft.com/office/drawing/2014/main" val="10000"/>
                  </a:ext>
                </a:extLst>
              </a:tr>
              <a:tr h="329184">
                <a:tc>
                  <a:txBody>
                    <a:bodyPr/>
                    <a:lstStyle/>
                    <a:p>
                      <a:r>
                        <a:rPr sz="1150" b="0">
                          <a:solidFill>
                            <a:srgbClr val="26323F"/>
                          </a:solidFill>
                          <a:latin typeface="Calibri"/>
                        </a:rPr>
                        <a:t>Fan</a:t>
                      </a:r>
                    </a:p>
                  </a:txBody>
                  <a:tcPr marL="54864" marR="54864" marT="27432" marB="27432" anchor="ctr">
                    <a:solidFill>
                      <a:srgbClr val="E6EEF7"/>
                    </a:solidFill>
                  </a:tcPr>
                </a:tc>
                <a:tc>
                  <a:txBody>
                    <a:bodyPr/>
                    <a:lstStyle/>
                    <a:p>
                      <a:r>
                        <a:rPr sz="1150" b="0">
                          <a:solidFill>
                            <a:srgbClr val="26323F"/>
                          </a:solidFill>
                          <a:latin typeface="Calibri"/>
                        </a:rPr>
                        <a:t>0.93</a:t>
                      </a:r>
                    </a:p>
                  </a:txBody>
                  <a:tcPr marL="54864" marR="54864" marT="27432" marB="27432" anchor="ctr">
                    <a:solidFill>
                      <a:srgbClr val="E6EEF7"/>
                    </a:solidFill>
                  </a:tcPr>
                </a:tc>
                <a:tc>
                  <a:txBody>
                    <a:bodyPr/>
                    <a:lstStyle/>
                    <a:p>
                      <a:r>
                        <a:rPr sz="1150" b="0">
                          <a:solidFill>
                            <a:srgbClr val="26323F"/>
                          </a:solidFill>
                          <a:latin typeface="Calibri"/>
                        </a:rPr>
                        <a:t>0.91</a:t>
                      </a:r>
                    </a:p>
                  </a:txBody>
                  <a:tcPr marL="54864" marR="54864" marT="27432" marB="27432" anchor="ctr">
                    <a:solidFill>
                      <a:srgbClr val="E6EEF7"/>
                    </a:solidFill>
                  </a:tcPr>
                </a:tc>
                <a:extLst>
                  <a:ext uri="{0D108BD9-81ED-4DB2-BD59-A6C34878D82A}">
                    <a16:rowId xmlns:a16="http://schemas.microsoft.com/office/drawing/2014/main" val="10001"/>
                  </a:ext>
                </a:extLst>
              </a:tr>
              <a:tr h="329184">
                <a:tc>
                  <a:txBody>
                    <a:bodyPr/>
                    <a:lstStyle/>
                    <a:p>
                      <a:r>
                        <a:rPr sz="1150" b="0">
                          <a:solidFill>
                            <a:srgbClr val="26323F"/>
                          </a:solidFill>
                          <a:latin typeface="Calibri"/>
                        </a:rPr>
                        <a:t>Pump</a:t>
                      </a:r>
                    </a:p>
                  </a:txBody>
                  <a:tcPr marL="54864" marR="54864" marT="27432" marB="27432" anchor="ctr">
                    <a:solidFill>
                      <a:srgbClr val="F6F9FC"/>
                    </a:solidFill>
                  </a:tcPr>
                </a:tc>
                <a:tc>
                  <a:txBody>
                    <a:bodyPr/>
                    <a:lstStyle/>
                    <a:p>
                      <a:r>
                        <a:rPr sz="1150" b="0">
                          <a:solidFill>
                            <a:srgbClr val="26323F"/>
                          </a:solidFill>
                          <a:latin typeface="Calibri"/>
                        </a:rPr>
                        <a:t>0.76</a:t>
                      </a:r>
                    </a:p>
                  </a:txBody>
                  <a:tcPr marL="54864" marR="54864" marT="27432" marB="27432" anchor="ctr">
                    <a:solidFill>
                      <a:srgbClr val="F6F9FC"/>
                    </a:solidFill>
                  </a:tcPr>
                </a:tc>
                <a:tc>
                  <a:txBody>
                    <a:bodyPr/>
                    <a:lstStyle/>
                    <a:p>
                      <a:r>
                        <a:rPr sz="1150" b="0">
                          <a:solidFill>
                            <a:srgbClr val="26323F"/>
                          </a:solidFill>
                          <a:latin typeface="Calibri"/>
                        </a:rPr>
                        <a:t>0.81</a:t>
                      </a:r>
                    </a:p>
                  </a:txBody>
                  <a:tcPr marL="54864" marR="54864" marT="27432" marB="27432" anchor="ctr">
                    <a:solidFill>
                      <a:srgbClr val="F6F9FC"/>
                    </a:solidFill>
                  </a:tcPr>
                </a:tc>
                <a:extLst>
                  <a:ext uri="{0D108BD9-81ED-4DB2-BD59-A6C34878D82A}">
                    <a16:rowId xmlns:a16="http://schemas.microsoft.com/office/drawing/2014/main" val="10002"/>
                  </a:ext>
                </a:extLst>
              </a:tr>
              <a:tr h="329184">
                <a:tc>
                  <a:txBody>
                    <a:bodyPr/>
                    <a:lstStyle/>
                    <a:p>
                      <a:r>
                        <a:rPr sz="1150" b="0">
                          <a:solidFill>
                            <a:srgbClr val="26323F"/>
                          </a:solidFill>
                          <a:latin typeface="Calibri"/>
                        </a:rPr>
                        <a:t>Slider</a:t>
                      </a:r>
                    </a:p>
                  </a:txBody>
                  <a:tcPr marL="54864" marR="54864" marT="27432" marB="27432" anchor="ctr">
                    <a:solidFill>
                      <a:srgbClr val="E6EEF7"/>
                    </a:solidFill>
                  </a:tcPr>
                </a:tc>
                <a:tc>
                  <a:txBody>
                    <a:bodyPr/>
                    <a:lstStyle/>
                    <a:p>
                      <a:r>
                        <a:rPr sz="1150" b="0">
                          <a:solidFill>
                            <a:srgbClr val="26323F"/>
                          </a:solidFill>
                          <a:latin typeface="Calibri"/>
                        </a:rPr>
                        <a:t>0.89</a:t>
                      </a:r>
                    </a:p>
                  </a:txBody>
                  <a:tcPr marL="54864" marR="54864" marT="27432" marB="27432" anchor="ctr">
                    <a:solidFill>
                      <a:srgbClr val="E6EEF7"/>
                    </a:solidFill>
                  </a:tcPr>
                </a:tc>
                <a:tc>
                  <a:txBody>
                    <a:bodyPr/>
                    <a:lstStyle/>
                    <a:p>
                      <a:r>
                        <a:rPr sz="1150" b="0">
                          <a:solidFill>
                            <a:srgbClr val="26323F"/>
                          </a:solidFill>
                          <a:latin typeface="Calibri"/>
                        </a:rPr>
                        <a:t>0.88</a:t>
                      </a:r>
                    </a:p>
                  </a:txBody>
                  <a:tcPr marL="54864" marR="54864" marT="27432" marB="27432" anchor="ctr">
                    <a:solidFill>
                      <a:srgbClr val="E6EEF7"/>
                    </a:solidFill>
                  </a:tcPr>
                </a:tc>
                <a:extLst>
                  <a:ext uri="{0D108BD9-81ED-4DB2-BD59-A6C34878D82A}">
                    <a16:rowId xmlns:a16="http://schemas.microsoft.com/office/drawing/2014/main" val="10003"/>
                  </a:ext>
                </a:extLst>
              </a:tr>
              <a:tr h="329184">
                <a:tc>
                  <a:txBody>
                    <a:bodyPr/>
                    <a:lstStyle/>
                    <a:p>
                      <a:r>
                        <a:rPr sz="1150" b="0">
                          <a:solidFill>
                            <a:srgbClr val="26323F"/>
                          </a:solidFill>
                          <a:latin typeface="Calibri"/>
                        </a:rPr>
                        <a:t>Valve</a:t>
                      </a:r>
                    </a:p>
                  </a:txBody>
                  <a:tcPr marL="54864" marR="54864" marT="27432" marB="27432" anchor="ctr">
                    <a:solidFill>
                      <a:srgbClr val="F6F9FC"/>
                    </a:solidFill>
                  </a:tcPr>
                </a:tc>
                <a:tc>
                  <a:txBody>
                    <a:bodyPr/>
                    <a:lstStyle/>
                    <a:p>
                      <a:r>
                        <a:rPr sz="1150" b="0">
                          <a:solidFill>
                            <a:srgbClr val="26323F"/>
                          </a:solidFill>
                          <a:latin typeface="Calibri"/>
                        </a:rPr>
                        <a:t>0.71</a:t>
                      </a:r>
                    </a:p>
                  </a:txBody>
                  <a:tcPr marL="54864" marR="54864" marT="27432" marB="27432" anchor="ctr">
                    <a:solidFill>
                      <a:srgbClr val="F6F9FC"/>
                    </a:solidFill>
                  </a:tcPr>
                </a:tc>
                <a:tc>
                  <a:txBody>
                    <a:bodyPr/>
                    <a:lstStyle/>
                    <a:p>
                      <a:r>
                        <a:rPr sz="1150" b="0">
                          <a:solidFill>
                            <a:srgbClr val="26323F"/>
                          </a:solidFill>
                          <a:latin typeface="Calibri"/>
                        </a:rPr>
                        <a:t>0.67</a:t>
                      </a:r>
                    </a:p>
                  </a:txBody>
                  <a:tcPr marL="54864" marR="54864" marT="27432" marB="27432" anchor="ctr">
                    <a:solidFill>
                      <a:srgbClr val="F6F9FC"/>
                    </a:solidFill>
                  </a:tcPr>
                </a:tc>
                <a:extLst>
                  <a:ext uri="{0D108BD9-81ED-4DB2-BD59-A6C34878D82A}">
                    <a16:rowId xmlns:a16="http://schemas.microsoft.com/office/drawing/2014/main" val="10004"/>
                  </a:ext>
                </a:extLst>
              </a:tr>
            </a:tbl>
          </a:graphicData>
        </a:graphic>
      </p:graphicFrame>
      <p:sp>
        <p:nvSpPr>
          <p:cNvPr id="20488" name="TextBox 20487"/>
          <p:cNvSpPr txBox="1"/>
          <p:nvPr/>
        </p:nvSpPr>
        <p:spPr>
          <a:xfrm>
            <a:off x="5577840" y="3474720"/>
            <a:ext cx="3200400" cy="914400"/>
          </a:xfrm>
          <a:prstGeom prst="rect">
            <a:avLst/>
          </a:prstGeom>
          <a:noFill/>
        </p:spPr>
        <p:txBody>
          <a:bodyPr wrap="square" lIns="54864" tIns="27432" rIns="54864" bIns="27432" anchor="t">
            <a:noAutofit/>
          </a:bodyPr>
          <a:lstStyle/>
          <a:p>
            <a:pPr algn="l">
              <a:spcAft>
                <a:spcPts val="0"/>
              </a:spcAft>
            </a:pPr>
            <a:r>
              <a:rPr sz="1200" b="0" i="0">
                <a:solidFill>
                  <a:srgbClr val="26323F"/>
                </a:solidFill>
                <a:latin typeface="Calibri"/>
              </a:rPr>
              <a:t>Correlation 0.97 over 48 cases: our pipeline is correct.</a:t>
            </a:r>
          </a:p>
        </p:txBody>
      </p:sp>
      <p:sp>
        <p:nvSpPr>
          <p:cNvPr id="20489" name="TextBox 20488"/>
          <p:cNvSpPr txBox="1"/>
          <p:nvPr/>
        </p:nvSpPr>
        <p:spPr>
          <a:xfrm>
            <a:off x="1143000" y="4572000"/>
            <a:ext cx="7589520" cy="1280160"/>
          </a:xfrm>
          <a:prstGeom prst="rect">
            <a:avLst/>
          </a:prstGeom>
          <a:noFill/>
        </p:spPr>
        <p:txBody>
          <a:bodyPr wrap="square" lIns="54864" tIns="27432" rIns="54864" bIns="27432" anchor="t">
            <a:noAutofit/>
          </a:bodyPr>
          <a:lstStyle/>
          <a:p>
            <a:pPr marL="182880" indent="-182880" algn="l">
              <a:spcAft>
                <a:spcPts val="400"/>
              </a:spcAft>
              <a:buFont typeface="Arial"/>
              <a:buChar char="•"/>
            </a:pPr>
            <a:r>
              <a:rPr sz="1250" b="0" i="0">
                <a:solidFill>
                  <a:srgbClr val="26323F"/>
                </a:solidFill>
                <a:latin typeface="Calibri"/>
              </a:rPr>
              <a:t>Without calibration a healthy new machine looks faulty: AUC near 0.5 for fans and pumps.</a:t>
            </a:r>
          </a:p>
          <a:p>
            <a:pPr marL="182880" indent="-182880" algn="l">
              <a:spcAft>
                <a:spcPts val="400"/>
              </a:spcAft>
              <a:buFont typeface="Arial"/>
              <a:buChar char="•"/>
            </a:pPr>
            <a:r>
              <a:rPr sz="1250" b="0" i="0">
                <a:solidFill>
                  <a:srgbClr val="26323F"/>
                </a:solidFill>
                <a:latin typeface="Calibri"/>
              </a:rPr>
              <a:t>Alert level alone removes false alarms (fan 53% to 2%) but detection stays low (14%); standardising with the machine's own numbers restores it. Both are needed.</a:t>
            </a:r>
          </a:p>
          <a:p>
            <a:pPr marL="182880" indent="-182880" algn="l">
              <a:spcAft>
                <a:spcPts val="400"/>
              </a:spcAft>
              <a:buFont typeface="Arial"/>
              <a:buChar char="•"/>
            </a:pPr>
            <a:r>
              <a:rPr sz="1250" b="0" i="0">
                <a:solidFill>
                  <a:srgbClr val="26323F"/>
                </a:solidFill>
                <a:latin typeface="Calibri"/>
              </a:rPr>
              <a:t>Small models (2.4k-6.9k parameters) match the 50,760-parameter baseline.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Results: Final Evaluation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14</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graphicFrame>
        <p:nvGraphicFramePr>
          <p:cNvPr id="20485" name="Table 20484"/>
          <p:cNvGraphicFramePr>
            <a:graphicFrameLocks noGrp="1"/>
          </p:cNvGraphicFramePr>
          <p:nvPr/>
        </p:nvGraphicFramePr>
        <p:xfrm>
          <a:off x="1097280" y="1371600"/>
          <a:ext cx="7635240" cy="2066544"/>
        </p:xfrm>
        <a:graphic>
          <a:graphicData uri="http://schemas.openxmlformats.org/drawingml/2006/table">
            <a:tbl>
              <a:tblPr>
                <a:tableStyleId>{2D5ABB26-0587-4C30-8999-92F81FD0307C}</a:tableStyleId>
              </a:tblPr>
              <a:tblGrid>
                <a:gridCol w="10515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965960">
                  <a:extLst>
                    <a:ext uri="{9D8B030D-6E8A-4147-A177-3AD203B41FA5}">
                      <a16:colId xmlns:a16="http://schemas.microsoft.com/office/drawing/2014/main" val="20004"/>
                    </a:ext>
                  </a:extLst>
                </a:gridCol>
              </a:tblGrid>
              <a:tr h="384048">
                <a:tc>
                  <a:txBody>
                    <a:bodyPr/>
                    <a:lstStyle/>
                    <a:p>
                      <a:r>
                        <a:rPr sz="1250" b="1">
                          <a:solidFill>
                            <a:srgbClr val="FFFFFF"/>
                          </a:solidFill>
                          <a:latin typeface="Calibri"/>
                        </a:rPr>
                        <a:t>Machine</a:t>
                      </a:r>
                    </a:p>
                  </a:txBody>
                  <a:tcPr marL="54864" marR="54864" marT="27432" marB="27432" anchor="ctr">
                    <a:solidFill>
                      <a:srgbClr val="25578F"/>
                    </a:solidFill>
                  </a:tcPr>
                </a:tc>
                <a:tc>
                  <a:txBody>
                    <a:bodyPr/>
                    <a:lstStyle/>
                    <a:p>
                      <a:r>
                        <a:rPr sz="1250" b="1">
                          <a:solidFill>
                            <a:srgbClr val="FFFFFF"/>
                          </a:solidFill>
                          <a:latin typeface="Calibri"/>
                        </a:rPr>
                        <a:t>AUC at 6 / 0 / -6 dB</a:t>
                      </a:r>
                    </a:p>
                  </a:txBody>
                  <a:tcPr marL="54864" marR="54864" marT="27432" marB="27432" anchor="ctr">
                    <a:solidFill>
                      <a:srgbClr val="25578F"/>
                    </a:solidFill>
                  </a:tcPr>
                </a:tc>
                <a:tc>
                  <a:txBody>
                    <a:bodyPr/>
                    <a:lstStyle/>
                    <a:p>
                      <a:r>
                        <a:rPr sz="1250" b="1">
                          <a:solidFill>
                            <a:srgbClr val="FFFFFF"/>
                          </a:solidFill>
                          <a:latin typeface="Calibri"/>
                        </a:rPr>
                        <a:t>Recall (6 dB)</a:t>
                      </a:r>
                    </a:p>
                  </a:txBody>
                  <a:tcPr marL="54864" marR="54864" marT="27432" marB="27432" anchor="ctr">
                    <a:solidFill>
                      <a:srgbClr val="25578F"/>
                    </a:solidFill>
                  </a:tcPr>
                </a:tc>
                <a:tc>
                  <a:txBody>
                    <a:bodyPr/>
                    <a:lstStyle/>
                    <a:p>
                      <a:r>
                        <a:rPr sz="1250" b="1">
                          <a:solidFill>
                            <a:srgbClr val="FFFFFF"/>
                          </a:solidFill>
                          <a:latin typeface="Calibri"/>
                        </a:rPr>
                        <a:t>False alarms (6 dB)</a:t>
                      </a:r>
                    </a:p>
                  </a:txBody>
                  <a:tcPr marL="54864" marR="54864" marT="27432" marB="27432" anchor="ctr">
                    <a:solidFill>
                      <a:srgbClr val="25578F"/>
                    </a:solidFill>
                  </a:tcPr>
                </a:tc>
                <a:tc>
                  <a:txBody>
                    <a:bodyPr/>
                    <a:lstStyle/>
                    <a:p>
                      <a:r>
                        <a:rPr sz="1250" b="1">
                          <a:solidFill>
                            <a:srgbClr val="FFFFFF"/>
                          </a:solidFill>
                          <a:latin typeface="Calibri"/>
                        </a:rPr>
                        <a:t>Sealed machine 06, AUC (6 dB)</a:t>
                      </a:r>
                    </a:p>
                  </a:txBody>
                  <a:tcPr marL="54864" marR="54864" marT="27432" marB="27432" anchor="ctr">
                    <a:solidFill>
                      <a:srgbClr val="25578F"/>
                    </a:solidFill>
                  </a:tcPr>
                </a:tc>
                <a:extLst>
                  <a:ext uri="{0D108BD9-81ED-4DB2-BD59-A6C34878D82A}">
                    <a16:rowId xmlns:a16="http://schemas.microsoft.com/office/drawing/2014/main" val="10000"/>
                  </a:ext>
                </a:extLst>
              </a:tr>
              <a:tr h="420624">
                <a:tc>
                  <a:txBody>
                    <a:bodyPr/>
                    <a:lstStyle/>
                    <a:p>
                      <a:r>
                        <a:rPr sz="1250" b="1">
                          <a:solidFill>
                            <a:srgbClr val="26323F"/>
                          </a:solidFill>
                          <a:latin typeface="Calibri"/>
                        </a:rPr>
                        <a:t>Fan</a:t>
                      </a:r>
                    </a:p>
                  </a:txBody>
                  <a:tcPr marL="54864" marR="54864" marT="27432" marB="27432" anchor="ctr">
                    <a:solidFill>
                      <a:srgbClr val="E6EEF7"/>
                    </a:solidFill>
                  </a:tcPr>
                </a:tc>
                <a:tc>
                  <a:txBody>
                    <a:bodyPr/>
                    <a:lstStyle/>
                    <a:p>
                      <a:r>
                        <a:rPr sz="1250" b="0">
                          <a:solidFill>
                            <a:srgbClr val="26323F"/>
                          </a:solidFill>
                          <a:latin typeface="Calibri"/>
                        </a:rPr>
                        <a:t>0.92 / 0.83 / 0.71</a:t>
                      </a:r>
                    </a:p>
                  </a:txBody>
                  <a:tcPr marL="54864" marR="54864" marT="27432" marB="27432" anchor="ctr">
                    <a:solidFill>
                      <a:srgbClr val="E6EEF7"/>
                    </a:solidFill>
                  </a:tcPr>
                </a:tc>
                <a:tc>
                  <a:txBody>
                    <a:bodyPr/>
                    <a:lstStyle/>
                    <a:p>
                      <a:r>
                        <a:rPr sz="1250" b="0">
                          <a:solidFill>
                            <a:srgbClr val="26323F"/>
                          </a:solidFill>
                          <a:latin typeface="Calibri"/>
                        </a:rPr>
                        <a:t>66%</a:t>
                      </a:r>
                    </a:p>
                  </a:txBody>
                  <a:tcPr marL="54864" marR="54864" marT="27432" marB="27432" anchor="ctr">
                    <a:solidFill>
                      <a:srgbClr val="E6EEF7"/>
                    </a:solidFill>
                  </a:tcPr>
                </a:tc>
                <a:tc>
                  <a:txBody>
                    <a:bodyPr/>
                    <a:lstStyle/>
                    <a:p>
                      <a:r>
                        <a:rPr sz="1250" b="0">
                          <a:solidFill>
                            <a:srgbClr val="26323F"/>
                          </a:solidFill>
                          <a:latin typeface="Calibri"/>
                        </a:rPr>
                        <a:t>5%</a:t>
                      </a:r>
                    </a:p>
                  </a:txBody>
                  <a:tcPr marL="54864" marR="54864" marT="27432" marB="27432" anchor="ctr">
                    <a:solidFill>
                      <a:srgbClr val="E6EEF7"/>
                    </a:solidFill>
                  </a:tcPr>
                </a:tc>
                <a:tc>
                  <a:txBody>
                    <a:bodyPr/>
                    <a:lstStyle/>
                    <a:p>
                      <a:r>
                        <a:rPr sz="1250" b="0">
                          <a:solidFill>
                            <a:srgbClr val="26323F"/>
                          </a:solidFill>
                          <a:latin typeface="Calibri"/>
                        </a:rPr>
                        <a:t>1.00</a:t>
                      </a:r>
                    </a:p>
                  </a:txBody>
                  <a:tcPr marL="54864" marR="54864" marT="27432" marB="27432" anchor="ctr">
                    <a:solidFill>
                      <a:srgbClr val="E6EEF7"/>
                    </a:solidFill>
                  </a:tcPr>
                </a:tc>
                <a:extLst>
                  <a:ext uri="{0D108BD9-81ED-4DB2-BD59-A6C34878D82A}">
                    <a16:rowId xmlns:a16="http://schemas.microsoft.com/office/drawing/2014/main" val="10001"/>
                  </a:ext>
                </a:extLst>
              </a:tr>
              <a:tr h="420624">
                <a:tc>
                  <a:txBody>
                    <a:bodyPr/>
                    <a:lstStyle/>
                    <a:p>
                      <a:r>
                        <a:rPr sz="1250" b="1">
                          <a:solidFill>
                            <a:srgbClr val="26323F"/>
                          </a:solidFill>
                          <a:latin typeface="Calibri"/>
                        </a:rPr>
                        <a:t>Pump</a:t>
                      </a:r>
                    </a:p>
                  </a:txBody>
                  <a:tcPr marL="54864" marR="54864" marT="27432" marB="27432" anchor="ctr">
                    <a:solidFill>
                      <a:srgbClr val="F6F9FC"/>
                    </a:solidFill>
                  </a:tcPr>
                </a:tc>
                <a:tc>
                  <a:txBody>
                    <a:bodyPr/>
                    <a:lstStyle/>
                    <a:p>
                      <a:r>
                        <a:rPr sz="1250" b="0">
                          <a:solidFill>
                            <a:srgbClr val="26323F"/>
                          </a:solidFill>
                          <a:latin typeface="Calibri"/>
                        </a:rPr>
                        <a:t>0.96 / 0.84 / 0.75</a:t>
                      </a:r>
                    </a:p>
                  </a:txBody>
                  <a:tcPr marL="54864" marR="54864" marT="27432" marB="27432" anchor="ctr">
                    <a:solidFill>
                      <a:srgbClr val="F6F9FC"/>
                    </a:solidFill>
                  </a:tcPr>
                </a:tc>
                <a:tc>
                  <a:txBody>
                    <a:bodyPr/>
                    <a:lstStyle/>
                    <a:p>
                      <a:r>
                        <a:rPr sz="1250" b="0">
                          <a:solidFill>
                            <a:srgbClr val="26323F"/>
                          </a:solidFill>
                          <a:latin typeface="Calibri"/>
                        </a:rPr>
                        <a:t>89%</a:t>
                      </a:r>
                    </a:p>
                  </a:txBody>
                  <a:tcPr marL="54864" marR="54864" marT="27432" marB="27432" anchor="ctr">
                    <a:solidFill>
                      <a:srgbClr val="F6F9FC"/>
                    </a:solidFill>
                  </a:tcPr>
                </a:tc>
                <a:tc>
                  <a:txBody>
                    <a:bodyPr/>
                    <a:lstStyle/>
                    <a:p>
                      <a:r>
                        <a:rPr sz="1250" b="0">
                          <a:solidFill>
                            <a:srgbClr val="26323F"/>
                          </a:solidFill>
                          <a:latin typeface="Calibri"/>
                        </a:rPr>
                        <a:t>35%</a:t>
                      </a:r>
                    </a:p>
                  </a:txBody>
                  <a:tcPr marL="54864" marR="54864" marT="27432" marB="27432" anchor="ctr">
                    <a:solidFill>
                      <a:srgbClr val="F6F9FC"/>
                    </a:solidFill>
                  </a:tcPr>
                </a:tc>
                <a:tc>
                  <a:txBody>
                    <a:bodyPr/>
                    <a:lstStyle/>
                    <a:p>
                      <a:r>
                        <a:rPr sz="1250" b="0">
                          <a:solidFill>
                            <a:srgbClr val="26323F"/>
                          </a:solidFill>
                          <a:latin typeface="Calibri"/>
                        </a:rPr>
                        <a:t>0.97</a:t>
                      </a:r>
                    </a:p>
                  </a:txBody>
                  <a:tcPr marL="54864" marR="54864" marT="27432" marB="27432" anchor="ctr">
                    <a:solidFill>
                      <a:srgbClr val="F6F9FC"/>
                    </a:solidFill>
                  </a:tcPr>
                </a:tc>
                <a:extLst>
                  <a:ext uri="{0D108BD9-81ED-4DB2-BD59-A6C34878D82A}">
                    <a16:rowId xmlns:a16="http://schemas.microsoft.com/office/drawing/2014/main" val="10002"/>
                  </a:ext>
                </a:extLst>
              </a:tr>
              <a:tr h="420624">
                <a:tc>
                  <a:txBody>
                    <a:bodyPr/>
                    <a:lstStyle/>
                    <a:p>
                      <a:r>
                        <a:rPr sz="1250" b="1">
                          <a:solidFill>
                            <a:srgbClr val="26323F"/>
                          </a:solidFill>
                          <a:latin typeface="Calibri"/>
                        </a:rPr>
                        <a:t>Slider</a:t>
                      </a:r>
                    </a:p>
                  </a:txBody>
                  <a:tcPr marL="54864" marR="54864" marT="27432" marB="27432" anchor="ctr">
                    <a:solidFill>
                      <a:srgbClr val="E6EEF7"/>
                    </a:solidFill>
                  </a:tcPr>
                </a:tc>
                <a:tc>
                  <a:txBody>
                    <a:bodyPr/>
                    <a:lstStyle/>
                    <a:p>
                      <a:r>
                        <a:rPr sz="1250" b="0">
                          <a:solidFill>
                            <a:srgbClr val="26323F"/>
                          </a:solidFill>
                          <a:latin typeface="Calibri"/>
                        </a:rPr>
                        <a:t>0.94 / 0.84 / 0.72</a:t>
                      </a:r>
                    </a:p>
                  </a:txBody>
                  <a:tcPr marL="54864" marR="54864" marT="27432" marB="27432" anchor="ctr">
                    <a:solidFill>
                      <a:srgbClr val="E6EEF7"/>
                    </a:solidFill>
                  </a:tcPr>
                </a:tc>
                <a:tc>
                  <a:txBody>
                    <a:bodyPr/>
                    <a:lstStyle/>
                    <a:p>
                      <a:r>
                        <a:rPr sz="1250" b="0">
                          <a:solidFill>
                            <a:srgbClr val="26323F"/>
                          </a:solidFill>
                          <a:latin typeface="Calibri"/>
                        </a:rPr>
                        <a:t>73%</a:t>
                      </a:r>
                    </a:p>
                  </a:txBody>
                  <a:tcPr marL="54864" marR="54864" marT="27432" marB="27432" anchor="ctr">
                    <a:solidFill>
                      <a:srgbClr val="E6EEF7"/>
                    </a:solidFill>
                  </a:tcPr>
                </a:tc>
                <a:tc>
                  <a:txBody>
                    <a:bodyPr/>
                    <a:lstStyle/>
                    <a:p>
                      <a:r>
                        <a:rPr sz="1250" b="0">
                          <a:solidFill>
                            <a:srgbClr val="26323F"/>
                          </a:solidFill>
                          <a:latin typeface="Calibri"/>
                        </a:rPr>
                        <a:t>4%</a:t>
                      </a:r>
                    </a:p>
                  </a:txBody>
                  <a:tcPr marL="54864" marR="54864" marT="27432" marB="27432" anchor="ctr">
                    <a:solidFill>
                      <a:srgbClr val="E6EEF7"/>
                    </a:solidFill>
                  </a:tcPr>
                </a:tc>
                <a:tc>
                  <a:txBody>
                    <a:bodyPr/>
                    <a:lstStyle/>
                    <a:p>
                      <a:r>
                        <a:rPr sz="1250" b="0">
                          <a:solidFill>
                            <a:srgbClr val="26323F"/>
                          </a:solidFill>
                          <a:latin typeface="Calibri"/>
                        </a:rPr>
                        <a:t>1.00</a:t>
                      </a:r>
                    </a:p>
                  </a:txBody>
                  <a:tcPr marL="54864" marR="54864" marT="27432" marB="27432" anchor="ctr">
                    <a:solidFill>
                      <a:srgbClr val="E6EEF7"/>
                    </a:solidFill>
                  </a:tcPr>
                </a:tc>
                <a:extLst>
                  <a:ext uri="{0D108BD9-81ED-4DB2-BD59-A6C34878D82A}">
                    <a16:rowId xmlns:a16="http://schemas.microsoft.com/office/drawing/2014/main" val="10003"/>
                  </a:ext>
                </a:extLst>
              </a:tr>
              <a:tr h="420624">
                <a:tc>
                  <a:txBody>
                    <a:bodyPr/>
                    <a:lstStyle/>
                    <a:p>
                      <a:r>
                        <a:rPr sz="1250" b="1">
                          <a:solidFill>
                            <a:srgbClr val="26323F"/>
                          </a:solidFill>
                          <a:latin typeface="Calibri"/>
                        </a:rPr>
                        <a:t>Valve</a:t>
                      </a:r>
                    </a:p>
                  </a:txBody>
                  <a:tcPr marL="54864" marR="54864" marT="27432" marB="27432" anchor="ctr">
                    <a:solidFill>
                      <a:srgbClr val="F6F9FC"/>
                    </a:solidFill>
                  </a:tcPr>
                </a:tc>
                <a:tc>
                  <a:txBody>
                    <a:bodyPr/>
                    <a:lstStyle/>
                    <a:p>
                      <a:r>
                        <a:rPr sz="1250" b="0">
                          <a:solidFill>
                            <a:srgbClr val="26323F"/>
                          </a:solidFill>
                          <a:latin typeface="Calibri"/>
                        </a:rPr>
                        <a:t>0.56 / 0.52 / 0.51</a:t>
                      </a:r>
                    </a:p>
                  </a:txBody>
                  <a:tcPr marL="54864" marR="54864" marT="27432" marB="27432" anchor="ctr">
                    <a:solidFill>
                      <a:srgbClr val="F6F9FC"/>
                    </a:solidFill>
                  </a:tcPr>
                </a:tc>
                <a:tc>
                  <a:txBody>
                    <a:bodyPr/>
                    <a:lstStyle/>
                    <a:p>
                      <a:r>
                        <a:rPr sz="1250" b="0">
                          <a:solidFill>
                            <a:srgbClr val="26323F"/>
                          </a:solidFill>
                          <a:latin typeface="Calibri"/>
                        </a:rPr>
                        <a:t>1%</a:t>
                      </a:r>
                    </a:p>
                  </a:txBody>
                  <a:tcPr marL="54864" marR="54864" marT="27432" marB="27432" anchor="ctr">
                    <a:solidFill>
                      <a:srgbClr val="F6F9FC"/>
                    </a:solidFill>
                  </a:tcPr>
                </a:tc>
                <a:tc>
                  <a:txBody>
                    <a:bodyPr/>
                    <a:lstStyle/>
                    <a:p>
                      <a:r>
                        <a:rPr sz="1250" b="0">
                          <a:solidFill>
                            <a:srgbClr val="26323F"/>
                          </a:solidFill>
                          <a:latin typeface="Calibri"/>
                        </a:rPr>
                        <a:t>2%</a:t>
                      </a:r>
                    </a:p>
                  </a:txBody>
                  <a:tcPr marL="54864" marR="54864" marT="27432" marB="27432" anchor="ctr">
                    <a:solidFill>
                      <a:srgbClr val="F6F9FC"/>
                    </a:solidFill>
                  </a:tcPr>
                </a:tc>
                <a:tc>
                  <a:txBody>
                    <a:bodyPr/>
                    <a:lstStyle/>
                    <a:p>
                      <a:r>
                        <a:rPr sz="1250" b="0">
                          <a:solidFill>
                            <a:srgbClr val="26323F"/>
                          </a:solidFill>
                          <a:latin typeface="Calibri"/>
                        </a:rPr>
                        <a:t>0.52</a:t>
                      </a:r>
                    </a:p>
                  </a:txBody>
                  <a:tcPr marL="54864" marR="54864" marT="27432" marB="27432" anchor="ctr">
                    <a:solidFill>
                      <a:srgbClr val="F6F9FC"/>
                    </a:solidFill>
                  </a:tcPr>
                </a:tc>
                <a:extLst>
                  <a:ext uri="{0D108BD9-81ED-4DB2-BD59-A6C34878D82A}">
                    <a16:rowId xmlns:a16="http://schemas.microsoft.com/office/drawing/2014/main" val="10004"/>
                  </a:ext>
                </a:extLst>
              </a:tr>
            </a:tbl>
          </a:graphicData>
        </a:graphic>
      </p:graphicFrame>
      <p:sp>
        <p:nvSpPr>
          <p:cNvPr id="20486" name="TextBox 20485"/>
          <p:cNvSpPr txBox="1"/>
          <p:nvPr/>
        </p:nvSpPr>
        <p:spPr>
          <a:xfrm>
            <a:off x="1097280" y="3611880"/>
            <a:ext cx="7635240" cy="2286000"/>
          </a:xfrm>
          <a:prstGeom prst="rect">
            <a:avLst/>
          </a:prstGeom>
          <a:noFill/>
        </p:spPr>
        <p:txBody>
          <a:bodyPr wrap="square" lIns="54864" tIns="27432" rIns="54864" bIns="27432" anchor="t">
            <a:noAutofit/>
          </a:bodyPr>
          <a:lstStyle/>
          <a:p>
            <a:pPr marL="182880" indent="-182880" algn="l">
              <a:spcAft>
                <a:spcPts val="600"/>
              </a:spcAft>
              <a:buFont typeface="Arial"/>
              <a:buChar char="•"/>
            </a:pPr>
            <a:r>
              <a:rPr sz="1300" b="1" i="0">
                <a:solidFill>
                  <a:srgbClr val="1E7B4B"/>
                </a:solidFill>
                <a:latin typeface="Calibri"/>
              </a:rPr>
              <a:t>Works: </a:t>
            </a:r>
            <a:r>
              <a:rPr sz="1300" b="0" i="0">
                <a:solidFill>
                  <a:srgbClr val="26323F"/>
                </a:solidFill>
                <a:latin typeface="Calibri"/>
              </a:rPr>
              <a:t>fans, pumps and sliders separate healthy from faulty (AUC 0.92-0.96 at 6 dB).</a:t>
            </a:r>
          </a:p>
          <a:p>
            <a:pPr marL="182880" indent="-182880" algn="l">
              <a:spcAft>
                <a:spcPts val="600"/>
              </a:spcAft>
              <a:buFont typeface="Arial"/>
              <a:buChar char="•"/>
            </a:pPr>
            <a:r>
              <a:rPr sz="1300" b="1" i="0">
                <a:solidFill>
                  <a:srgbClr val="B02A2A"/>
                </a:solidFill>
                <a:latin typeface="Calibri"/>
              </a:rPr>
              <a:t>Weak point, the alert level: </a:t>
            </a:r>
            <a:r>
              <a:rPr sz="1300" b="0" i="0">
                <a:solidFill>
                  <a:srgbClr val="26323F"/>
                </a:solidFill>
                <a:latin typeface="Calibri"/>
              </a:rPr>
              <a:t>pumps give 35% false alarms; fans and sliders catch only 66% and 73% of faults.</a:t>
            </a:r>
          </a:p>
          <a:p>
            <a:pPr marL="182880" indent="-182880" algn="l">
              <a:spcAft>
                <a:spcPts val="600"/>
              </a:spcAft>
              <a:buFont typeface="Arial"/>
              <a:buChar char="•"/>
            </a:pPr>
            <a:r>
              <a:rPr sz="1300" b="1" i="0">
                <a:solidFill>
                  <a:srgbClr val="B02A2A"/>
                </a:solidFill>
                <a:latin typeface="Calibri"/>
              </a:rPr>
              <a:t>Not solved: </a:t>
            </a:r>
            <a:r>
              <a:rPr sz="1300" b="0" i="0">
                <a:solidFill>
                  <a:srgbClr val="26323F"/>
                </a:solidFill>
                <a:latin typeface="Calibri"/>
              </a:rPr>
              <a:t>valves (AUC about 0.5) and heavy noise (slider recall 3% at -6 dB).</a:t>
            </a:r>
          </a:p>
          <a:p>
            <a:pPr marL="182880" indent="-182880" algn="l">
              <a:spcAft>
                <a:spcPts val="600"/>
              </a:spcAft>
              <a:buFont typeface="Arial"/>
              <a:buChar char="•"/>
            </a:pPr>
            <a:r>
              <a:rPr sz="1300" b="1" i="0">
                <a:solidFill>
                  <a:srgbClr val="A86A00"/>
                </a:solidFill>
                <a:latin typeface="Calibri"/>
              </a:rPr>
              <a:t>Noise change: </a:t>
            </a:r>
            <a:r>
              <a:rPr sz="1300" b="0" i="0">
                <a:solidFill>
                  <a:srgbClr val="26323F"/>
                </a:solidFill>
                <a:latin typeface="Calibri"/>
              </a:rPr>
              <a:t>calibrated quiet, tested noisy gives 44% false alarms against 8% when matched; calibrate in the real noise.</a:t>
            </a:r>
          </a:p>
        </p:txBody>
      </p:sp>
      <p:sp>
        <p:nvSpPr>
          <p:cNvPr id="20487" name="TextBox 20486"/>
          <p:cNvSpPr txBox="1"/>
          <p:nvPr/>
        </p:nvSpPr>
        <p:spPr>
          <a:xfrm>
            <a:off x="1097280" y="5486400"/>
            <a:ext cx="7635240" cy="457200"/>
          </a:xfrm>
          <a:prstGeom prst="rect">
            <a:avLst/>
          </a:prstGeom>
          <a:noFill/>
        </p:spPr>
        <p:txBody>
          <a:bodyPr wrap="square" lIns="54864" tIns="27432" rIns="54864" bIns="27432" anchor="t">
            <a:noAutofit/>
          </a:bodyPr>
          <a:lstStyle/>
          <a:p>
            <a:pPr algn="l">
              <a:spcAft>
                <a:spcPts val="400"/>
              </a:spcAft>
            </a:pPr>
            <a:r>
              <a:rPr sz="1050" b="0" i="1">
                <a:solidFill>
                  <a:srgbClr val="6B7580"/>
                </a:solidFill>
                <a:latin typeface="Calibri"/>
              </a:rPr>
              <a:t>Mean over 4 held-out machines and 3 seeds. Precision and accuracy assume a half-faulty test set.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440" y="475488"/>
            <a:ext cx="6492240" cy="777240"/>
          </a:xfrm>
        </p:spPr>
        <p:txBody>
          <a:bodyPr wrap="square" anchor="ctr">
            <a:noAutofit/>
          </a:bodyPr>
          <a:lstStyle/>
          <a:p>
            <a:pPr algn="ctr"/>
            <a:r>
              <a:rPr sz="2800">
                <a:latin typeface="Calibri"/>
              </a:rPr>
              <a:t>Screenshot: Evaluation Dashboard</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15</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pic>
        <p:nvPicPr>
          <p:cNvPr id="20485" name="Picture 20484" descr="7.png"/>
          <p:cNvPicPr>
            <a:picLocks noChangeAspect="1"/>
          </p:cNvPicPr>
          <p:nvPr/>
        </p:nvPicPr>
        <p:blipFill>
          <a:blip r:embed="rId3"/>
          <a:stretch>
            <a:fillRect/>
          </a:stretch>
        </p:blipFill>
        <p:spPr>
          <a:xfrm>
            <a:off x="1417320" y="1325880"/>
            <a:ext cx="6766560" cy="3836855"/>
          </a:xfrm>
          <a:prstGeom prst="rect">
            <a:avLst/>
          </a:prstGeom>
        </p:spPr>
      </p:pic>
      <p:sp>
        <p:nvSpPr>
          <p:cNvPr id="20486" name="TextBox 20485"/>
          <p:cNvSpPr txBox="1"/>
          <p:nvPr/>
        </p:nvSpPr>
        <p:spPr>
          <a:xfrm>
            <a:off x="1143000" y="5138928"/>
            <a:ext cx="7589520" cy="777240"/>
          </a:xfrm>
          <a:prstGeom prst="rect">
            <a:avLst/>
          </a:prstGeom>
          <a:noFill/>
        </p:spPr>
        <p:txBody>
          <a:bodyPr wrap="square" lIns="54864" tIns="27432" rIns="54864" bIns="27432" anchor="t">
            <a:noAutofit/>
          </a:bodyPr>
          <a:lstStyle/>
          <a:p>
            <a:pPr marL="182880" indent="-182880" algn="l">
              <a:spcAft>
                <a:spcPts val="300"/>
              </a:spcAft>
              <a:buFont typeface="Arial"/>
              <a:buChar char="•"/>
            </a:pPr>
            <a:r>
              <a:rPr sz="1200" b="1" i="0">
                <a:solidFill>
                  <a:srgbClr val="25578F"/>
                </a:solidFill>
                <a:latin typeface="Calibri"/>
              </a:rPr>
              <a:t>Evaluate tab: </a:t>
            </a:r>
            <a:r>
              <a:rPr sz="1200" b="0" i="0">
                <a:solidFill>
                  <a:srgbClr val="26323F"/>
                </a:solidFill>
                <a:latin typeface="Calibri"/>
              </a:rPr>
              <a:t>fan machine 06, 6 dB, 361 healthy + 361 faulty test clips. AUC 0.998, recall 100%, false alarms 5% (18 of 361), precision 0.953.</a:t>
            </a:r>
          </a:p>
          <a:p>
            <a:pPr marL="182880" indent="-182880" algn="l">
              <a:spcAft>
                <a:spcPts val="300"/>
              </a:spcAft>
              <a:buFont typeface="Arial"/>
              <a:buChar char="•"/>
            </a:pPr>
            <a:r>
              <a:rPr sz="1200" b="1" i="0">
                <a:solidFill>
                  <a:srgbClr val="A86A00"/>
                </a:solidFill>
                <a:latin typeface="Calibri"/>
              </a:rPr>
              <a:t>Note: </a:t>
            </a:r>
            <a:r>
              <a:rPr sz="1200" b="0" i="0">
                <a:solidFill>
                  <a:srgbClr val="26323F"/>
                </a:solidFill>
                <a:latin typeface="Calibri"/>
              </a:rPr>
              <a:t>machine 06 fans are the easiest case. If only 1% of clips were faulty, precision would fall to 0.17.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440" y="475488"/>
            <a:ext cx="6492240" cy="777240"/>
          </a:xfrm>
        </p:spPr>
        <p:txBody>
          <a:bodyPr wrap="square" anchor="ctr">
            <a:noAutofit/>
          </a:bodyPr>
          <a:lstStyle/>
          <a:p>
            <a:pPr algn="ctr"/>
            <a:r>
              <a:rPr sz="2600">
                <a:latin typeface="Calibri"/>
              </a:rPr>
              <a:t>Screenshot: Live Clip and Own Recording</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16</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pic>
        <p:nvPicPr>
          <p:cNvPr id="20485" name="Picture 20484" descr="9.png"/>
          <p:cNvPicPr>
            <a:picLocks noChangeAspect="1"/>
          </p:cNvPicPr>
          <p:nvPr/>
        </p:nvPicPr>
        <p:blipFill>
          <a:blip r:embed="rId3"/>
          <a:stretch>
            <a:fillRect/>
          </a:stretch>
        </p:blipFill>
        <p:spPr>
          <a:xfrm>
            <a:off x="1097280" y="1371600"/>
            <a:ext cx="4572000" cy="2648458"/>
          </a:xfrm>
          <a:prstGeom prst="rect">
            <a:avLst/>
          </a:prstGeom>
        </p:spPr>
      </p:pic>
      <p:pic>
        <p:nvPicPr>
          <p:cNvPr id="20486" name="Picture 20485" descr="3.png"/>
          <p:cNvPicPr>
            <a:picLocks noChangeAspect="1"/>
          </p:cNvPicPr>
          <p:nvPr/>
        </p:nvPicPr>
        <p:blipFill>
          <a:blip r:embed="rId4"/>
          <a:stretch>
            <a:fillRect/>
          </a:stretch>
        </p:blipFill>
        <p:spPr>
          <a:xfrm>
            <a:off x="5897880" y="1371600"/>
            <a:ext cx="2834640" cy="1693653"/>
          </a:xfrm>
          <a:prstGeom prst="rect">
            <a:avLst/>
          </a:prstGeom>
        </p:spPr>
      </p:pic>
      <p:sp>
        <p:nvSpPr>
          <p:cNvPr id="20487" name="TextBox 20486"/>
          <p:cNvSpPr txBox="1"/>
          <p:nvPr/>
        </p:nvSpPr>
        <p:spPr>
          <a:xfrm>
            <a:off x="1097280" y="4069080"/>
            <a:ext cx="4572000" cy="640080"/>
          </a:xfrm>
          <a:prstGeom prst="rect">
            <a:avLst/>
          </a:prstGeom>
          <a:noFill/>
        </p:spPr>
        <p:txBody>
          <a:bodyPr wrap="square" lIns="54864" tIns="27432" rIns="54864" bIns="27432" anchor="t">
            <a:noAutofit/>
          </a:bodyPr>
          <a:lstStyle/>
          <a:p>
            <a:pPr algn="l">
              <a:spcAft>
                <a:spcPts val="0"/>
              </a:spcAft>
            </a:pPr>
            <a:r>
              <a:rPr sz="1200" b="0" i="0">
                <a:solidFill>
                  <a:srgbClr val="26323F"/>
                </a:solidFill>
                <a:latin typeface="Calibri"/>
              </a:rPr>
              <a:t>Live clip: the calibrated device says GREEN (score 0.505 is below the alert level 0.733).</a:t>
            </a:r>
          </a:p>
        </p:txBody>
      </p:sp>
      <p:sp>
        <p:nvSpPr>
          <p:cNvPr id="20488" name="TextBox 20487"/>
          <p:cNvSpPr txBox="1"/>
          <p:nvPr/>
        </p:nvSpPr>
        <p:spPr>
          <a:xfrm>
            <a:off x="5897880" y="3108960"/>
            <a:ext cx="2834640" cy="731520"/>
          </a:xfrm>
          <a:prstGeom prst="rect">
            <a:avLst/>
          </a:prstGeom>
          <a:noFill/>
        </p:spPr>
        <p:txBody>
          <a:bodyPr wrap="square" lIns="54864" tIns="27432" rIns="54864" bIns="27432" anchor="t">
            <a:noAutofit/>
          </a:bodyPr>
          <a:lstStyle/>
          <a:p>
            <a:pPr algn="l">
              <a:spcAft>
                <a:spcPts val="0"/>
              </a:spcAft>
            </a:pPr>
            <a:r>
              <a:rPr sz="1200" b="1" i="0">
                <a:solidFill>
                  <a:srgbClr val="25578F"/>
                </a:solidFill>
                <a:latin typeface="Calibri"/>
              </a:rPr>
              <a:t>Own fan with a phone microphone</a:t>
            </a:r>
          </a:p>
        </p:txBody>
      </p:sp>
      <p:sp>
        <p:nvSpPr>
          <p:cNvPr id="20489" name="TextBox 20488"/>
          <p:cNvSpPr txBox="1"/>
          <p:nvPr/>
        </p:nvSpPr>
        <p:spPr>
          <a:xfrm>
            <a:off x="1097280" y="4754880"/>
            <a:ext cx="7635240" cy="1097280"/>
          </a:xfrm>
          <a:prstGeom prst="rect">
            <a:avLst/>
          </a:prstGeom>
          <a:noFill/>
        </p:spPr>
        <p:txBody>
          <a:bodyPr wrap="square" lIns="54864" tIns="27432" rIns="54864" bIns="27432" anchor="t">
            <a:noAutofit/>
          </a:bodyPr>
          <a:lstStyle/>
          <a:p>
            <a:pPr marL="182880" indent="-182880" algn="l">
              <a:spcAft>
                <a:spcPts val="400"/>
              </a:spcAft>
              <a:buFont typeface="Arial"/>
              <a:buChar char="•"/>
            </a:pPr>
            <a:r>
              <a:rPr sz="1200" b="0" i="0">
                <a:solidFill>
                  <a:srgbClr val="26323F"/>
                </a:solidFill>
                <a:latin typeface="Calibri"/>
              </a:rPr>
              <a:t>Own-recording test: model trained on MIMII only; 30 + 30 healthy clips calibrate it; 18 healthy + 18 faulty clips are tested.</a:t>
            </a:r>
          </a:p>
          <a:p>
            <a:pPr marL="182880" indent="-182880" algn="l">
              <a:spcAft>
                <a:spcPts val="400"/>
              </a:spcAft>
              <a:buFont typeface="Arial"/>
              <a:buChar char="•"/>
            </a:pPr>
            <a:r>
              <a:rPr sz="1200" b="0" i="0">
                <a:solidFill>
                  <a:srgbClr val="26323F"/>
                </a:solidFill>
                <a:latin typeface="Calibri"/>
              </a:rPr>
              <a:t>AUC 0.948 and all 18 faults caught, but 28% false alarms: the alert level sits close to the healthy scores. One machine, few clips: a first check, not proof.</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Challenges and Mitigation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17</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graphicFrame>
        <p:nvGraphicFramePr>
          <p:cNvPr id="20485" name="Table 20484"/>
          <p:cNvGraphicFramePr>
            <a:graphicFrameLocks noGrp="1"/>
          </p:cNvGraphicFramePr>
          <p:nvPr/>
        </p:nvGraphicFramePr>
        <p:xfrm>
          <a:off x="1005840" y="1371600"/>
          <a:ext cx="7680960" cy="4041648"/>
        </p:xfrm>
        <a:graphic>
          <a:graphicData uri="http://schemas.openxmlformats.org/drawingml/2006/table">
            <a:tbl>
              <a:tblPr>
                <a:tableStyleId>{2D5ABB26-0587-4C30-8999-92F81FD0307C}</a:tableStyleId>
              </a:tblPr>
              <a:tblGrid>
                <a:gridCol w="21488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84048">
                <a:tc>
                  <a:txBody>
                    <a:bodyPr/>
                    <a:lstStyle/>
                    <a:p>
                      <a:r>
                        <a:rPr sz="1100" b="1">
                          <a:solidFill>
                            <a:srgbClr val="FFFFFF"/>
                          </a:solidFill>
                          <a:latin typeface="Calibri"/>
                        </a:rPr>
                        <a:t>Challenge</a:t>
                      </a:r>
                    </a:p>
                  </a:txBody>
                  <a:tcPr marL="54864" marR="54864" marT="27432" marB="27432" anchor="ctr">
                    <a:solidFill>
                      <a:srgbClr val="25578F"/>
                    </a:solidFill>
                  </a:tcPr>
                </a:tc>
                <a:tc>
                  <a:txBody>
                    <a:bodyPr/>
                    <a:lstStyle/>
                    <a:p>
                      <a:r>
                        <a:rPr sz="1100" b="1">
                          <a:solidFill>
                            <a:srgbClr val="FFFFFF"/>
                          </a:solidFill>
                          <a:latin typeface="Calibri"/>
                        </a:rPr>
                        <a:t>What we found</a:t>
                      </a:r>
                    </a:p>
                  </a:txBody>
                  <a:tcPr marL="54864" marR="54864" marT="27432" marB="27432" anchor="ctr">
                    <a:solidFill>
                      <a:srgbClr val="25578F"/>
                    </a:solidFill>
                  </a:tcPr>
                </a:tc>
                <a:tc>
                  <a:txBody>
                    <a:bodyPr/>
                    <a:lstStyle/>
                    <a:p>
                      <a:r>
                        <a:rPr sz="1100" b="1">
                          <a:solidFill>
                            <a:srgbClr val="FFFFFF"/>
                          </a:solidFill>
                          <a:latin typeface="Calibri"/>
                        </a:rPr>
                        <a:t>Mitigation</a:t>
                      </a:r>
                    </a:p>
                  </a:txBody>
                  <a:tcPr marL="54864" marR="54864" marT="27432" marB="27432" anchor="ctr">
                    <a:solidFill>
                      <a:srgbClr val="25578F"/>
                    </a:solidFill>
                  </a:tcPr>
                </a:tc>
                <a:tc>
                  <a:txBody>
                    <a:bodyPr/>
                    <a:lstStyle/>
                    <a:p>
                      <a:r>
                        <a:rPr sz="1100" b="1">
                          <a:solidFill>
                            <a:srgbClr val="FFFFFF"/>
                          </a:solidFill>
                          <a:latin typeface="Calibri"/>
                        </a:rPr>
                        <a:t>Status</a:t>
                      </a:r>
                    </a:p>
                  </a:txBody>
                  <a:tcPr marL="54864" marR="54864" marT="27432" marB="27432" anchor="ctr">
                    <a:solidFill>
                      <a:srgbClr val="25578F"/>
                    </a:solidFill>
                  </a:tcPr>
                </a:tc>
                <a:extLst>
                  <a:ext uri="{0D108BD9-81ED-4DB2-BD59-A6C34878D82A}">
                    <a16:rowId xmlns:a16="http://schemas.microsoft.com/office/drawing/2014/main" val="10000"/>
                  </a:ext>
                </a:extLst>
              </a:tr>
              <a:tr h="457200">
                <a:tc>
                  <a:txBody>
                    <a:bodyPr/>
                    <a:lstStyle/>
                    <a:p>
                      <a:r>
                        <a:rPr sz="1050" b="1">
                          <a:solidFill>
                            <a:srgbClr val="26323F"/>
                          </a:solidFill>
                          <a:latin typeface="Calibri"/>
                        </a:rPr>
                        <a:t>Early results used simulated sound</a:t>
                      </a:r>
                    </a:p>
                  </a:txBody>
                  <a:tcPr marL="54864" marR="54864" marT="27432" marB="27432" anchor="ctr">
                    <a:solidFill>
                      <a:srgbClr val="E6EEF7"/>
                    </a:solidFill>
                  </a:tcPr>
                </a:tc>
                <a:tc>
                  <a:txBody>
                    <a:bodyPr/>
                    <a:lstStyle/>
                    <a:p>
                      <a:r>
                        <a:rPr sz="1050" b="0">
                          <a:solidFill>
                            <a:srgbClr val="26323F"/>
                          </a:solidFill>
                          <a:latin typeface="Calibri"/>
                        </a:rPr>
                        <a:t>The '100% accuracy' was meaningless</a:t>
                      </a:r>
                    </a:p>
                  </a:txBody>
                  <a:tcPr marL="54864" marR="54864" marT="27432" marB="27432" anchor="ctr">
                    <a:solidFill>
                      <a:srgbClr val="E6EEF7"/>
                    </a:solidFill>
                  </a:tcPr>
                </a:tc>
                <a:tc>
                  <a:txBody>
                    <a:bodyPr/>
                    <a:lstStyle/>
                    <a:p>
                      <a:r>
                        <a:rPr sz="1050" b="0">
                          <a:solidFill>
                            <a:srgbClr val="26323F"/>
                          </a:solidFill>
                          <a:latin typeface="Calibri"/>
                        </a:rPr>
                        <a:t>Deleted; restarted on real MIMII data</a:t>
                      </a:r>
                    </a:p>
                  </a:txBody>
                  <a:tcPr marL="54864" marR="54864" marT="27432" marB="27432" anchor="ctr">
                    <a:solidFill>
                      <a:srgbClr val="E6EEF7"/>
                    </a:solidFill>
                  </a:tcPr>
                </a:tc>
                <a:tc>
                  <a:txBody>
                    <a:bodyPr/>
                    <a:lstStyle/>
                    <a:p>
                      <a:r>
                        <a:rPr sz="1050" b="1">
                          <a:solidFill>
                            <a:srgbClr val="1E7B4B"/>
                          </a:solidFill>
                          <a:latin typeface="Calibri"/>
                        </a:rPr>
                        <a:t>Done</a:t>
                      </a:r>
                    </a:p>
                  </a:txBody>
                  <a:tcPr marL="54864" marR="54864" marT="27432" marB="27432" anchor="ctr">
                    <a:solidFill>
                      <a:srgbClr val="E6EEF7"/>
                    </a:solidFill>
                  </a:tcPr>
                </a:tc>
                <a:extLst>
                  <a:ext uri="{0D108BD9-81ED-4DB2-BD59-A6C34878D82A}">
                    <a16:rowId xmlns:a16="http://schemas.microsoft.com/office/drawing/2014/main" val="10001"/>
                  </a:ext>
                </a:extLst>
              </a:tr>
              <a:tr h="457200">
                <a:tc>
                  <a:txBody>
                    <a:bodyPr/>
                    <a:lstStyle/>
                    <a:p>
                      <a:r>
                        <a:rPr sz="1050" b="1">
                          <a:solidFill>
                            <a:srgbClr val="26323F"/>
                          </a:solidFill>
                          <a:latin typeface="Calibri"/>
                        </a:rPr>
                        <a:t>Vibration script invented a channel; data too easy</a:t>
                      </a:r>
                    </a:p>
                  </a:txBody>
                  <a:tcPr marL="54864" marR="54864" marT="27432" marB="27432" anchor="ctr">
                    <a:solidFill>
                      <a:srgbClr val="F6F9FC"/>
                    </a:solidFill>
                  </a:tcPr>
                </a:tc>
                <a:tc>
                  <a:txBody>
                    <a:bodyPr/>
                    <a:lstStyle/>
                    <a:p>
                      <a:r>
                        <a:rPr sz="1050" b="0">
                          <a:solidFill>
                            <a:srgbClr val="26323F"/>
                          </a:solidFill>
                          <a:latin typeface="Calibri"/>
                        </a:rPr>
                        <a:t>Healthy file had no such channel; AUC about 1.0</a:t>
                      </a:r>
                    </a:p>
                  </a:txBody>
                  <a:tcPr marL="54864" marR="54864" marT="27432" marB="27432" anchor="ctr">
                    <a:solidFill>
                      <a:srgbClr val="F6F9FC"/>
                    </a:solidFill>
                  </a:tcPr>
                </a:tc>
                <a:tc>
                  <a:txBody>
                    <a:bodyPr/>
                    <a:lstStyle/>
                    <a:p>
                      <a:r>
                        <a:rPr sz="1050" b="0">
                          <a:solidFill>
                            <a:srgbClr val="26323F"/>
                          </a:solidFill>
                          <a:latin typeface="Calibri"/>
                        </a:rPr>
                        <a:t>Clean pipeline; sensor-noise margin test</a:t>
                      </a:r>
                    </a:p>
                  </a:txBody>
                  <a:tcPr marL="54864" marR="54864" marT="27432" marB="27432" anchor="ctr">
                    <a:solidFill>
                      <a:srgbClr val="F6F9FC"/>
                    </a:solidFill>
                  </a:tcPr>
                </a:tc>
                <a:tc>
                  <a:txBody>
                    <a:bodyPr/>
                    <a:lstStyle/>
                    <a:p>
                      <a:r>
                        <a:rPr sz="1050" b="1">
                          <a:solidFill>
                            <a:srgbClr val="1E7B4B"/>
                          </a:solidFill>
                          <a:latin typeface="Calibri"/>
                        </a:rPr>
                        <a:t>Done</a:t>
                      </a:r>
                    </a:p>
                  </a:txBody>
                  <a:tcPr marL="54864" marR="54864" marT="27432" marB="27432" anchor="ctr">
                    <a:solidFill>
                      <a:srgbClr val="F6F9FC"/>
                    </a:solidFill>
                  </a:tcPr>
                </a:tc>
                <a:extLst>
                  <a:ext uri="{0D108BD9-81ED-4DB2-BD59-A6C34878D82A}">
                    <a16:rowId xmlns:a16="http://schemas.microsoft.com/office/drawing/2014/main" val="10002"/>
                  </a:ext>
                </a:extLst>
              </a:tr>
              <a:tr h="457200">
                <a:tc>
                  <a:txBody>
                    <a:bodyPr/>
                    <a:lstStyle/>
                    <a:p>
                      <a:r>
                        <a:rPr sz="1050" b="1">
                          <a:solidFill>
                            <a:srgbClr val="26323F"/>
                          </a:solidFill>
                          <a:latin typeface="Calibri"/>
                        </a:rPr>
                        <a:t>New machine looks faulty</a:t>
                      </a:r>
                    </a:p>
                  </a:txBody>
                  <a:tcPr marL="54864" marR="54864" marT="27432" marB="27432" anchor="ctr">
                    <a:solidFill>
                      <a:srgbClr val="E6EEF7"/>
                    </a:solidFill>
                  </a:tcPr>
                </a:tc>
                <a:tc>
                  <a:txBody>
                    <a:bodyPr/>
                    <a:lstStyle/>
                    <a:p>
                      <a:r>
                        <a:rPr sz="1050" b="0">
                          <a:solidFill>
                            <a:srgbClr val="26323F"/>
                          </a:solidFill>
                          <a:latin typeface="Calibri"/>
                        </a:rPr>
                        <a:t>AUC near 0.5 for fans and pumps</a:t>
                      </a:r>
                    </a:p>
                  </a:txBody>
                  <a:tcPr marL="54864" marR="54864" marT="27432" marB="27432" anchor="ctr">
                    <a:solidFill>
                      <a:srgbClr val="E6EEF7"/>
                    </a:solidFill>
                  </a:tcPr>
                </a:tc>
                <a:tc>
                  <a:txBody>
                    <a:bodyPr/>
                    <a:lstStyle/>
                    <a:p>
                      <a:r>
                        <a:rPr sz="1050" b="0">
                          <a:solidFill>
                            <a:srgbClr val="26323F"/>
                          </a:solidFill>
                          <a:latin typeface="Calibri"/>
                        </a:rPr>
                        <a:t>Per-machine calibration (60 clips)</a:t>
                      </a:r>
                    </a:p>
                  </a:txBody>
                  <a:tcPr marL="54864" marR="54864" marT="27432" marB="27432" anchor="ctr">
                    <a:solidFill>
                      <a:srgbClr val="E6EEF7"/>
                    </a:solidFill>
                  </a:tcPr>
                </a:tc>
                <a:tc>
                  <a:txBody>
                    <a:bodyPr/>
                    <a:lstStyle/>
                    <a:p>
                      <a:r>
                        <a:rPr sz="1050" b="1">
                          <a:solidFill>
                            <a:srgbClr val="1E7B4B"/>
                          </a:solidFill>
                          <a:latin typeface="Calibri"/>
                        </a:rPr>
                        <a:t>Done</a:t>
                      </a:r>
                    </a:p>
                  </a:txBody>
                  <a:tcPr marL="54864" marR="54864" marT="27432" marB="27432" anchor="ctr">
                    <a:solidFill>
                      <a:srgbClr val="E6EEF7"/>
                    </a:solidFill>
                  </a:tcPr>
                </a:tc>
                <a:extLst>
                  <a:ext uri="{0D108BD9-81ED-4DB2-BD59-A6C34878D82A}">
                    <a16:rowId xmlns:a16="http://schemas.microsoft.com/office/drawing/2014/main" val="10003"/>
                  </a:ext>
                </a:extLst>
              </a:tr>
              <a:tr h="457200">
                <a:tc>
                  <a:txBody>
                    <a:bodyPr/>
                    <a:lstStyle/>
                    <a:p>
                      <a:r>
                        <a:rPr sz="1050" b="1">
                          <a:solidFill>
                            <a:srgbClr val="26323F"/>
                          </a:solidFill>
                          <a:latin typeface="Calibri"/>
                        </a:rPr>
                        <a:t>Alert-level rule unbalanced</a:t>
                      </a:r>
                    </a:p>
                  </a:txBody>
                  <a:tcPr marL="54864" marR="54864" marT="27432" marB="27432" anchor="ctr">
                    <a:solidFill>
                      <a:srgbClr val="F6F9FC"/>
                    </a:solidFill>
                  </a:tcPr>
                </a:tc>
                <a:tc>
                  <a:txBody>
                    <a:bodyPr/>
                    <a:lstStyle/>
                    <a:p>
                      <a:r>
                        <a:rPr sz="1050" b="0">
                          <a:solidFill>
                            <a:srgbClr val="26323F"/>
                          </a:solidFill>
                          <a:latin typeface="Calibri"/>
                        </a:rPr>
                        <a:t>Pumps 35% false alarms; fans/sliders recall 66-73%</a:t>
                      </a:r>
                    </a:p>
                  </a:txBody>
                  <a:tcPr marL="54864" marR="54864" marT="27432" marB="27432" anchor="ctr">
                    <a:solidFill>
                      <a:srgbClr val="F6F9FC"/>
                    </a:solidFill>
                  </a:tcPr>
                </a:tc>
                <a:tc>
                  <a:txBody>
                    <a:bodyPr/>
                    <a:lstStyle/>
                    <a:p>
                      <a:r>
                        <a:rPr sz="1050" b="0">
                          <a:solidFill>
                            <a:srgbClr val="26323F"/>
                          </a:solidFill>
                          <a:latin typeface="Calibri"/>
                        </a:rPr>
                        <a:t>Compare other rules on tuning machines, confirm on sealed machine</a:t>
                      </a:r>
                    </a:p>
                  </a:txBody>
                  <a:tcPr marL="54864" marR="54864" marT="27432" marB="27432" anchor="ctr">
                    <a:solidFill>
                      <a:srgbClr val="F6F9FC"/>
                    </a:solidFill>
                  </a:tcPr>
                </a:tc>
                <a:tc>
                  <a:txBody>
                    <a:bodyPr/>
                    <a:lstStyle/>
                    <a:p>
                      <a:r>
                        <a:rPr sz="1050" b="1">
                          <a:solidFill>
                            <a:srgbClr val="B02A2A"/>
                          </a:solidFill>
                          <a:latin typeface="Calibri"/>
                        </a:rPr>
                        <a:t>Open</a:t>
                      </a:r>
                    </a:p>
                  </a:txBody>
                  <a:tcPr marL="54864" marR="54864" marT="27432" marB="27432" anchor="ctr">
                    <a:solidFill>
                      <a:srgbClr val="F6F9FC"/>
                    </a:solidFill>
                  </a:tcPr>
                </a:tc>
                <a:extLst>
                  <a:ext uri="{0D108BD9-81ED-4DB2-BD59-A6C34878D82A}">
                    <a16:rowId xmlns:a16="http://schemas.microsoft.com/office/drawing/2014/main" val="10004"/>
                  </a:ext>
                </a:extLst>
              </a:tr>
              <a:tr h="457200">
                <a:tc>
                  <a:txBody>
                    <a:bodyPr/>
                    <a:lstStyle/>
                    <a:p>
                      <a:r>
                        <a:rPr sz="1050" b="1">
                          <a:solidFill>
                            <a:srgbClr val="26323F"/>
                          </a:solidFill>
                          <a:latin typeface="Calibri"/>
                        </a:rPr>
                        <a:t>Valves not detected</a:t>
                      </a:r>
                    </a:p>
                  </a:txBody>
                  <a:tcPr marL="54864" marR="54864" marT="27432" marB="27432" anchor="ctr">
                    <a:solidFill>
                      <a:srgbClr val="E6EEF7"/>
                    </a:solidFill>
                  </a:tcPr>
                </a:tc>
                <a:tc>
                  <a:txBody>
                    <a:bodyPr/>
                    <a:lstStyle/>
                    <a:p>
                      <a:r>
                        <a:rPr sz="1050" b="0">
                          <a:solidFill>
                            <a:srgbClr val="26323F"/>
                          </a:solidFill>
                          <a:latin typeface="Calibri"/>
                        </a:rPr>
                        <a:t>AUC about 0.5 at all noise levels</a:t>
                      </a:r>
                    </a:p>
                  </a:txBody>
                  <a:tcPr marL="54864" marR="54864" marT="27432" marB="27432" anchor="ctr">
                    <a:solidFill>
                      <a:srgbClr val="E6EEF7"/>
                    </a:solidFill>
                  </a:tcPr>
                </a:tc>
                <a:tc>
                  <a:txBody>
                    <a:bodyPr/>
                    <a:lstStyle/>
                    <a:p>
                      <a:r>
                        <a:rPr sz="1050" b="0">
                          <a:solidFill>
                            <a:srgbClr val="26323F"/>
                          </a:solidFill>
                          <a:latin typeface="Calibri"/>
                        </a:rPr>
                        <a:t>Test worst-frame scoring and other features</a:t>
                      </a:r>
                    </a:p>
                  </a:txBody>
                  <a:tcPr marL="54864" marR="54864" marT="27432" marB="27432" anchor="ctr">
                    <a:solidFill>
                      <a:srgbClr val="E6EEF7"/>
                    </a:solidFill>
                  </a:tcPr>
                </a:tc>
                <a:tc>
                  <a:txBody>
                    <a:bodyPr/>
                    <a:lstStyle/>
                    <a:p>
                      <a:r>
                        <a:rPr sz="1050" b="1">
                          <a:solidFill>
                            <a:srgbClr val="B02A2A"/>
                          </a:solidFill>
                          <a:latin typeface="Calibri"/>
                        </a:rPr>
                        <a:t>Open</a:t>
                      </a:r>
                    </a:p>
                  </a:txBody>
                  <a:tcPr marL="54864" marR="54864" marT="27432" marB="27432" anchor="ctr">
                    <a:solidFill>
                      <a:srgbClr val="E6EEF7"/>
                    </a:solidFill>
                  </a:tcPr>
                </a:tc>
                <a:extLst>
                  <a:ext uri="{0D108BD9-81ED-4DB2-BD59-A6C34878D82A}">
                    <a16:rowId xmlns:a16="http://schemas.microsoft.com/office/drawing/2014/main" val="10005"/>
                  </a:ext>
                </a:extLst>
              </a:tr>
              <a:tr h="457200">
                <a:tc>
                  <a:txBody>
                    <a:bodyPr/>
                    <a:lstStyle/>
                    <a:p>
                      <a:r>
                        <a:rPr sz="1050" b="1">
                          <a:solidFill>
                            <a:srgbClr val="26323F"/>
                          </a:solidFill>
                          <a:latin typeface="Calibri"/>
                        </a:rPr>
                        <a:t>Noise changes after calibration</a:t>
                      </a:r>
                    </a:p>
                  </a:txBody>
                  <a:tcPr marL="54864" marR="54864" marT="27432" marB="27432" anchor="ctr">
                    <a:solidFill>
                      <a:srgbClr val="F6F9FC"/>
                    </a:solidFill>
                  </a:tcPr>
                </a:tc>
                <a:tc>
                  <a:txBody>
                    <a:bodyPr/>
                    <a:lstStyle/>
                    <a:p>
                      <a:r>
                        <a:rPr sz="1050" b="0">
                          <a:solidFill>
                            <a:srgbClr val="26323F"/>
                          </a:solidFill>
                          <a:latin typeface="Calibri"/>
                        </a:rPr>
                        <a:t>44% false alarms if calibrated quiet</a:t>
                      </a:r>
                    </a:p>
                  </a:txBody>
                  <a:tcPr marL="54864" marR="54864" marT="27432" marB="27432" anchor="ctr">
                    <a:solidFill>
                      <a:srgbClr val="F6F9FC"/>
                    </a:solidFill>
                  </a:tcPr>
                </a:tc>
                <a:tc>
                  <a:txBody>
                    <a:bodyPr/>
                    <a:lstStyle/>
                    <a:p>
                      <a:r>
                        <a:rPr sz="1050" b="0">
                          <a:solidFill>
                            <a:srgbClr val="26323F"/>
                          </a:solidFill>
                          <a:latin typeface="Calibri"/>
                        </a:rPr>
                        <a:t>Calibrate in real noise or on a mix</a:t>
                      </a:r>
                    </a:p>
                  </a:txBody>
                  <a:tcPr marL="54864" marR="54864" marT="27432" marB="27432" anchor="ctr">
                    <a:solidFill>
                      <a:srgbClr val="F6F9FC"/>
                    </a:solidFill>
                  </a:tcPr>
                </a:tc>
                <a:tc>
                  <a:txBody>
                    <a:bodyPr/>
                    <a:lstStyle/>
                    <a:p>
                      <a:r>
                        <a:rPr sz="1050" b="1">
                          <a:solidFill>
                            <a:srgbClr val="A86A00"/>
                          </a:solidFill>
                          <a:latin typeface="Calibri"/>
                        </a:rPr>
                        <a:t>Partly done</a:t>
                      </a:r>
                    </a:p>
                  </a:txBody>
                  <a:tcPr marL="54864" marR="54864" marT="27432" marB="27432" anchor="ctr">
                    <a:solidFill>
                      <a:srgbClr val="F6F9FC"/>
                    </a:solidFill>
                  </a:tcPr>
                </a:tc>
                <a:extLst>
                  <a:ext uri="{0D108BD9-81ED-4DB2-BD59-A6C34878D82A}">
                    <a16:rowId xmlns:a16="http://schemas.microsoft.com/office/drawing/2014/main" val="10006"/>
                  </a:ext>
                </a:extLst>
              </a:tr>
              <a:tr h="457200">
                <a:tc>
                  <a:txBody>
                    <a:bodyPr/>
                    <a:lstStyle/>
                    <a:p>
                      <a:r>
                        <a:rPr sz="1050" b="1">
                          <a:solidFill>
                            <a:srgbClr val="26323F"/>
                          </a:solidFill>
                          <a:latin typeface="Calibri"/>
                        </a:rPr>
                        <a:t>Heavy noise (-6 dB)</a:t>
                      </a:r>
                    </a:p>
                  </a:txBody>
                  <a:tcPr marL="54864" marR="54864" marT="27432" marB="27432" anchor="ctr">
                    <a:solidFill>
                      <a:srgbClr val="E6EEF7"/>
                    </a:solidFill>
                  </a:tcPr>
                </a:tc>
                <a:tc>
                  <a:txBody>
                    <a:bodyPr/>
                    <a:lstStyle/>
                    <a:p>
                      <a:r>
                        <a:rPr sz="1050" b="0">
                          <a:solidFill>
                            <a:srgbClr val="26323F"/>
                          </a:solidFill>
                          <a:latin typeface="Calibri"/>
                        </a:rPr>
                        <a:t>AUC about 0.7; slider recall 3%</a:t>
                      </a:r>
                    </a:p>
                  </a:txBody>
                  <a:tcPr marL="54864" marR="54864" marT="27432" marB="27432" anchor="ctr">
                    <a:solidFill>
                      <a:srgbClr val="E6EEF7"/>
                    </a:solidFill>
                  </a:tcPr>
                </a:tc>
                <a:tc>
                  <a:txBody>
                    <a:bodyPr/>
                    <a:lstStyle/>
                    <a:p>
                      <a:r>
                        <a:rPr sz="1050" b="0">
                          <a:solidFill>
                            <a:srgbClr val="26323F"/>
                          </a:solidFill>
                          <a:latin typeface="Calibri"/>
                        </a:rPr>
                        <a:t>Vibration sensor; needs paired data</a:t>
                      </a:r>
                    </a:p>
                  </a:txBody>
                  <a:tcPr marL="54864" marR="54864" marT="27432" marB="27432" anchor="ctr">
                    <a:solidFill>
                      <a:srgbClr val="E6EEF7"/>
                    </a:solidFill>
                  </a:tcPr>
                </a:tc>
                <a:tc>
                  <a:txBody>
                    <a:bodyPr/>
                    <a:lstStyle/>
                    <a:p>
                      <a:r>
                        <a:rPr sz="1050" b="1">
                          <a:solidFill>
                            <a:srgbClr val="B02A2A"/>
                          </a:solidFill>
                          <a:latin typeface="Calibri"/>
                        </a:rPr>
                        <a:t>Open</a:t>
                      </a:r>
                    </a:p>
                  </a:txBody>
                  <a:tcPr marL="54864" marR="54864" marT="27432" marB="27432" anchor="ctr">
                    <a:solidFill>
                      <a:srgbClr val="E6EEF7"/>
                    </a:solidFill>
                  </a:tcPr>
                </a:tc>
                <a:extLst>
                  <a:ext uri="{0D108BD9-81ED-4DB2-BD59-A6C34878D82A}">
                    <a16:rowId xmlns:a16="http://schemas.microsoft.com/office/drawing/2014/main" val="10007"/>
                  </a:ext>
                </a:extLst>
              </a:tr>
              <a:tr h="457200">
                <a:tc>
                  <a:txBody>
                    <a:bodyPr/>
                    <a:lstStyle/>
                    <a:p>
                      <a:r>
                        <a:rPr sz="1050" b="1">
                          <a:solidFill>
                            <a:srgbClr val="26323F"/>
                          </a:solidFill>
                          <a:latin typeface="Calibri"/>
                        </a:rPr>
                        <a:t>No hardware yet</a:t>
                      </a:r>
                    </a:p>
                  </a:txBody>
                  <a:tcPr marL="54864" marR="54864" marT="27432" marB="27432" anchor="ctr">
                    <a:solidFill>
                      <a:srgbClr val="F6F9FC"/>
                    </a:solidFill>
                  </a:tcPr>
                </a:tc>
                <a:tc>
                  <a:txBody>
                    <a:bodyPr/>
                    <a:lstStyle/>
                    <a:p>
                      <a:r>
                        <a:rPr sz="1050" b="0">
                          <a:solidFill>
                            <a:srgbClr val="26323F"/>
                          </a:solidFill>
                          <a:latin typeface="Calibri"/>
                        </a:rPr>
                        <a:t>Nothing measured on the chip</a:t>
                      </a:r>
                    </a:p>
                  </a:txBody>
                  <a:tcPr marL="54864" marR="54864" marT="27432" marB="27432" anchor="ctr">
                    <a:solidFill>
                      <a:srgbClr val="F6F9FC"/>
                    </a:solidFill>
                  </a:tcPr>
                </a:tc>
                <a:tc>
                  <a:txBody>
                    <a:bodyPr/>
                    <a:lstStyle/>
                    <a:p>
                      <a:r>
                        <a:rPr sz="1050" b="0">
                          <a:solidFill>
                            <a:srgbClr val="26323F"/>
                          </a:solidFill>
                          <a:latin typeface="Calibri"/>
                        </a:rPr>
                        <a:t>Order parts after the 10 Nov go/no-go</a:t>
                      </a:r>
                    </a:p>
                  </a:txBody>
                  <a:tcPr marL="54864" marR="54864" marT="27432" marB="27432" anchor="ctr">
                    <a:solidFill>
                      <a:srgbClr val="F6F9FC"/>
                    </a:solidFill>
                  </a:tcPr>
                </a:tc>
                <a:tc>
                  <a:txBody>
                    <a:bodyPr/>
                    <a:lstStyle/>
                    <a:p>
                      <a:r>
                        <a:rPr sz="1050" b="1">
                          <a:solidFill>
                            <a:srgbClr val="B02A2A"/>
                          </a:solidFill>
                          <a:latin typeface="Calibri"/>
                        </a:rPr>
                        <a:t>Open</a:t>
                      </a:r>
                    </a:p>
                  </a:txBody>
                  <a:tcPr marL="54864" marR="54864" marT="27432" marB="27432" anchor="ctr">
                    <a:solidFill>
                      <a:srgbClr val="F6F9F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Future Work Plan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18</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graphicFrame>
        <p:nvGraphicFramePr>
          <p:cNvPr id="20485" name="Table 20484"/>
          <p:cNvGraphicFramePr>
            <a:graphicFrameLocks noGrp="1"/>
          </p:cNvGraphicFramePr>
          <p:nvPr/>
        </p:nvGraphicFramePr>
        <p:xfrm>
          <a:off x="1005840" y="1371600"/>
          <a:ext cx="7680960" cy="3401568"/>
        </p:xfrm>
        <a:graphic>
          <a:graphicData uri="http://schemas.openxmlformats.org/drawingml/2006/table">
            <a:tbl>
              <a:tblPr>
                <a:tableStyleId>{2D5ABB26-0587-4C30-8999-92F81FD0307C}</a:tableStyleId>
              </a:tblPr>
              <a:tblGrid>
                <a:gridCol w="123444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84048">
                <a:tc>
                  <a:txBody>
                    <a:bodyPr/>
                    <a:lstStyle/>
                    <a:p>
                      <a:r>
                        <a:rPr sz="1100" b="1">
                          <a:solidFill>
                            <a:srgbClr val="FFFFFF"/>
                          </a:solidFill>
                          <a:latin typeface="Calibri"/>
                        </a:rPr>
                        <a:t>When</a:t>
                      </a:r>
                    </a:p>
                  </a:txBody>
                  <a:tcPr marL="54864" marR="54864" marT="27432" marB="27432" anchor="ctr">
                    <a:solidFill>
                      <a:srgbClr val="25578F"/>
                    </a:solidFill>
                  </a:tcPr>
                </a:tc>
                <a:tc>
                  <a:txBody>
                    <a:bodyPr/>
                    <a:lstStyle/>
                    <a:p>
                      <a:r>
                        <a:rPr sz="1100" b="1">
                          <a:solidFill>
                            <a:srgbClr val="FFFFFF"/>
                          </a:solidFill>
                          <a:latin typeface="Calibri"/>
                        </a:rPr>
                        <a:t>Work</a:t>
                      </a:r>
                    </a:p>
                  </a:txBody>
                  <a:tcPr marL="54864" marR="54864" marT="27432" marB="27432" anchor="ctr">
                    <a:solidFill>
                      <a:srgbClr val="25578F"/>
                    </a:solidFill>
                  </a:tcPr>
                </a:tc>
                <a:tc>
                  <a:txBody>
                    <a:bodyPr/>
                    <a:lstStyle/>
                    <a:p>
                      <a:r>
                        <a:rPr sz="1100" b="1">
                          <a:solidFill>
                            <a:srgbClr val="FFFFFF"/>
                          </a:solidFill>
                          <a:latin typeface="Calibri"/>
                        </a:rPr>
                        <a:t>Target</a:t>
                      </a:r>
                    </a:p>
                  </a:txBody>
                  <a:tcPr marL="54864" marR="54864" marT="27432" marB="27432" anchor="ctr">
                    <a:solidFill>
                      <a:srgbClr val="25578F"/>
                    </a:solidFill>
                  </a:tcPr>
                </a:tc>
                <a:extLst>
                  <a:ext uri="{0D108BD9-81ED-4DB2-BD59-A6C34878D82A}">
                    <a16:rowId xmlns:a16="http://schemas.microsoft.com/office/drawing/2014/main" val="10000"/>
                  </a:ext>
                </a:extLst>
              </a:tr>
              <a:tr h="502920">
                <a:tc>
                  <a:txBody>
                    <a:bodyPr/>
                    <a:lstStyle/>
                    <a:p>
                      <a:r>
                        <a:rPr sz="1100" b="1">
                          <a:solidFill>
                            <a:srgbClr val="26323F"/>
                          </a:solidFill>
                          <a:latin typeface="Calibri"/>
                        </a:rPr>
                        <a:t>Now to 10 Nov</a:t>
                      </a:r>
                    </a:p>
                  </a:txBody>
                  <a:tcPr marL="54864" marR="54864" marT="27432" marB="27432" anchor="ctr">
                    <a:solidFill>
                      <a:srgbClr val="E6EEF7"/>
                    </a:solidFill>
                  </a:tcPr>
                </a:tc>
                <a:tc>
                  <a:txBody>
                    <a:bodyPr/>
                    <a:lstStyle/>
                    <a:p>
                      <a:r>
                        <a:rPr sz="1100" b="0">
                          <a:solidFill>
                            <a:srgbClr val="26323F"/>
                          </a:solidFill>
                          <a:latin typeface="Calibri"/>
                        </a:rPr>
                        <a:t>Compare alert-level rules; test extra scores (Mahalanobis, PCA) on the autoencoder output; valve worst-frame test; INT8 quantisation; re-run own-recording test and save numbers</a:t>
                      </a:r>
                    </a:p>
                  </a:txBody>
                  <a:tcPr marL="54864" marR="54864" marT="27432" marB="27432" anchor="ctr">
                    <a:solidFill>
                      <a:srgbClr val="E6EEF7"/>
                    </a:solidFill>
                  </a:tcPr>
                </a:tc>
                <a:tc>
                  <a:txBody>
                    <a:bodyPr/>
                    <a:lstStyle/>
                    <a:p>
                      <a:r>
                        <a:rPr sz="1100" b="0">
                          <a:solidFill>
                            <a:srgbClr val="26323F"/>
                          </a:solidFill>
                          <a:latin typeface="Calibri"/>
                        </a:rPr>
                        <a:t>Fix pump / fan / slider alert level; go/no-go decision on hardware and scope</a:t>
                      </a:r>
                    </a:p>
                  </a:txBody>
                  <a:tcPr marL="54864" marR="54864" marT="27432" marB="27432" anchor="ctr">
                    <a:solidFill>
                      <a:srgbClr val="E6EEF7"/>
                    </a:solidFill>
                  </a:tcPr>
                </a:tc>
                <a:extLst>
                  <a:ext uri="{0D108BD9-81ED-4DB2-BD59-A6C34878D82A}">
                    <a16:rowId xmlns:a16="http://schemas.microsoft.com/office/drawing/2014/main" val="10001"/>
                  </a:ext>
                </a:extLst>
              </a:tr>
              <a:tr h="502920">
                <a:tc>
                  <a:txBody>
                    <a:bodyPr/>
                    <a:lstStyle/>
                    <a:p>
                      <a:r>
                        <a:rPr sz="1100" b="1">
                          <a:solidFill>
                            <a:srgbClr val="26323F"/>
                          </a:solidFill>
                          <a:latin typeface="Calibri"/>
                        </a:rPr>
                        <a:t>By 30 Nov</a:t>
                      </a:r>
                    </a:p>
                  </a:txBody>
                  <a:tcPr marL="54864" marR="54864" marT="27432" marB="27432" anchor="ctr">
                    <a:solidFill>
                      <a:srgbClr val="F6F9FC"/>
                    </a:solidFill>
                  </a:tcPr>
                </a:tc>
                <a:tc>
                  <a:txBody>
                    <a:bodyPr/>
                    <a:lstStyle/>
                    <a:p>
                      <a:r>
                        <a:rPr sz="1100" b="0">
                          <a:solidFill>
                            <a:srgbClr val="26323F"/>
                          </a:solidFill>
                          <a:latin typeface="Calibri"/>
                        </a:rPr>
                        <a:t>KSCST proposal; patent draft</a:t>
                      </a:r>
                    </a:p>
                  </a:txBody>
                  <a:tcPr marL="54864" marR="54864" marT="27432" marB="27432" anchor="ctr">
                    <a:solidFill>
                      <a:srgbClr val="F6F9FC"/>
                    </a:solidFill>
                  </a:tcPr>
                </a:tc>
                <a:tc>
                  <a:txBody>
                    <a:bodyPr/>
                    <a:lstStyle/>
                    <a:p>
                      <a:r>
                        <a:rPr sz="1100" b="0">
                          <a:solidFill>
                            <a:srgbClr val="26323F"/>
                          </a:solidFill>
                          <a:latin typeface="Calibri"/>
                        </a:rPr>
                        <a:t>Submissions</a:t>
                      </a:r>
                    </a:p>
                  </a:txBody>
                  <a:tcPr marL="54864" marR="54864" marT="27432" marB="27432" anchor="ctr">
                    <a:solidFill>
                      <a:srgbClr val="F6F9FC"/>
                    </a:solidFill>
                  </a:tcPr>
                </a:tc>
                <a:extLst>
                  <a:ext uri="{0D108BD9-81ED-4DB2-BD59-A6C34878D82A}">
                    <a16:rowId xmlns:a16="http://schemas.microsoft.com/office/drawing/2014/main" val="10002"/>
                  </a:ext>
                </a:extLst>
              </a:tr>
              <a:tr h="502920">
                <a:tc>
                  <a:txBody>
                    <a:bodyPr/>
                    <a:lstStyle/>
                    <a:p>
                      <a:r>
                        <a:rPr sz="1100" b="1">
                          <a:solidFill>
                            <a:srgbClr val="26323F"/>
                          </a:solidFill>
                          <a:latin typeface="Calibri"/>
                        </a:rPr>
                        <a:t>Month 4</a:t>
                      </a:r>
                    </a:p>
                  </a:txBody>
                  <a:tcPr marL="54864" marR="54864" marT="27432" marB="27432" anchor="ctr">
                    <a:solidFill>
                      <a:srgbClr val="E6EEF7"/>
                    </a:solidFill>
                  </a:tcPr>
                </a:tc>
                <a:tc>
                  <a:txBody>
                    <a:bodyPr/>
                    <a:lstStyle/>
                    <a:p>
                      <a:r>
                        <a:rPr sz="1100" b="0">
                          <a:solidFill>
                            <a:srgbClr val="26323F"/>
                          </a:solidFill>
                          <a:latin typeface="Calibri"/>
                        </a:rPr>
                        <a:t>Audio-in, decision-out simulation in Python; feature extraction in C checked against Python</a:t>
                      </a:r>
                    </a:p>
                  </a:txBody>
                  <a:tcPr marL="54864" marR="54864" marT="27432" marB="27432" anchor="ctr">
                    <a:solidFill>
                      <a:srgbClr val="E6EEF7"/>
                    </a:solidFill>
                  </a:tcPr>
                </a:tc>
                <a:tc>
                  <a:txBody>
                    <a:bodyPr/>
                    <a:lstStyle/>
                    <a:p>
                      <a:r>
                        <a:rPr sz="1100" b="0">
                          <a:solidFill>
                            <a:srgbClr val="26323F"/>
                          </a:solidFill>
                          <a:latin typeface="Calibri"/>
                        </a:rPr>
                        <a:t>Same features on laptop and chip</a:t>
                      </a:r>
                    </a:p>
                  </a:txBody>
                  <a:tcPr marL="54864" marR="54864" marT="27432" marB="27432" anchor="ctr">
                    <a:solidFill>
                      <a:srgbClr val="E6EEF7"/>
                    </a:solidFill>
                  </a:tcPr>
                </a:tc>
                <a:extLst>
                  <a:ext uri="{0D108BD9-81ED-4DB2-BD59-A6C34878D82A}">
                    <a16:rowId xmlns:a16="http://schemas.microsoft.com/office/drawing/2014/main" val="10003"/>
                  </a:ext>
                </a:extLst>
              </a:tr>
              <a:tr h="502920">
                <a:tc>
                  <a:txBody>
                    <a:bodyPr/>
                    <a:lstStyle/>
                    <a:p>
                      <a:r>
                        <a:rPr sz="1100" b="1">
                          <a:solidFill>
                            <a:srgbClr val="26323F"/>
                          </a:solidFill>
                          <a:latin typeface="Calibri"/>
                        </a:rPr>
                        <a:t>Month 5</a:t>
                      </a:r>
                    </a:p>
                  </a:txBody>
                  <a:tcPr marL="54864" marR="54864" marT="27432" marB="27432" anchor="ctr">
                    <a:solidFill>
                      <a:srgbClr val="F6F9FC"/>
                    </a:solidFill>
                  </a:tcPr>
                </a:tc>
                <a:tc>
                  <a:txBody>
                    <a:bodyPr/>
                    <a:lstStyle/>
                    <a:p>
                      <a:r>
                        <a:rPr sz="1100" b="0">
                          <a:solidFill>
                            <a:srgbClr val="26323F"/>
                          </a:solidFill>
                          <a:latin typeface="Calibri"/>
                        </a:rPr>
                        <a:t>ESP32-S3 bring-up, firmware, DSP and model on chip</a:t>
                      </a:r>
                    </a:p>
                  </a:txBody>
                  <a:tcPr marL="54864" marR="54864" marT="27432" marB="27432" anchor="ctr">
                    <a:solidFill>
                      <a:srgbClr val="F6F9FC"/>
                    </a:solidFill>
                  </a:tcPr>
                </a:tc>
                <a:tc>
                  <a:txBody>
                    <a:bodyPr/>
                    <a:lstStyle/>
                    <a:p>
                      <a:r>
                        <a:rPr sz="1100" b="0">
                          <a:solidFill>
                            <a:srgbClr val="26323F"/>
                          </a:solidFill>
                          <a:latin typeface="Calibri"/>
                        </a:rPr>
                        <a:t>Run on hardware</a:t>
                      </a:r>
                    </a:p>
                  </a:txBody>
                  <a:tcPr marL="54864" marR="54864" marT="27432" marB="27432" anchor="ctr">
                    <a:solidFill>
                      <a:srgbClr val="F6F9FC"/>
                    </a:solidFill>
                  </a:tcPr>
                </a:tc>
                <a:extLst>
                  <a:ext uri="{0D108BD9-81ED-4DB2-BD59-A6C34878D82A}">
                    <a16:rowId xmlns:a16="http://schemas.microsoft.com/office/drawing/2014/main" val="10004"/>
                  </a:ext>
                </a:extLst>
              </a:tr>
              <a:tr h="502920">
                <a:tc>
                  <a:txBody>
                    <a:bodyPr/>
                    <a:lstStyle/>
                    <a:p>
                      <a:r>
                        <a:rPr sz="1100" b="1">
                          <a:solidFill>
                            <a:srgbClr val="26323F"/>
                          </a:solidFill>
                          <a:latin typeface="Calibri"/>
                        </a:rPr>
                        <a:t>Month 6</a:t>
                      </a:r>
                    </a:p>
                  </a:txBody>
                  <a:tcPr marL="54864" marR="54864" marT="27432" marB="27432" anchor="ctr">
                    <a:solidFill>
                      <a:srgbClr val="E6EEF7"/>
                    </a:solidFill>
                  </a:tcPr>
                </a:tc>
                <a:tc>
                  <a:txBody>
                    <a:bodyPr/>
                    <a:lstStyle/>
                    <a:p>
                      <a:r>
                        <a:rPr sz="1100" b="0">
                          <a:solidFill>
                            <a:srgbClr val="26323F"/>
                          </a:solidFill>
                          <a:latin typeface="Calibri"/>
                        </a:rPr>
                        <a:t>On-chip calibration; test rig; record sound + vibration + temperature together; fusion test</a:t>
                      </a:r>
                    </a:p>
                  </a:txBody>
                  <a:tcPr marL="54864" marR="54864" marT="27432" marB="27432" anchor="ctr">
                    <a:solidFill>
                      <a:srgbClr val="E6EEF7"/>
                    </a:solidFill>
                  </a:tcPr>
                </a:tc>
                <a:tc>
                  <a:txBody>
                    <a:bodyPr/>
                    <a:lstStyle/>
                    <a:p>
                      <a:r>
                        <a:rPr sz="1100" b="0">
                          <a:solidFill>
                            <a:srgbClr val="26323F"/>
                          </a:solidFill>
                          <a:latin typeface="Calibri"/>
                        </a:rPr>
                        <a:t>Does vibration help in heavy noise?</a:t>
                      </a:r>
                    </a:p>
                  </a:txBody>
                  <a:tcPr marL="54864" marR="54864" marT="27432" marB="27432" anchor="ctr">
                    <a:solidFill>
                      <a:srgbClr val="E6EEF7"/>
                    </a:solidFill>
                  </a:tcPr>
                </a:tc>
                <a:extLst>
                  <a:ext uri="{0D108BD9-81ED-4DB2-BD59-A6C34878D82A}">
                    <a16:rowId xmlns:a16="http://schemas.microsoft.com/office/drawing/2014/main" val="10005"/>
                  </a:ext>
                </a:extLst>
              </a:tr>
              <a:tr h="502920">
                <a:tc>
                  <a:txBody>
                    <a:bodyPr/>
                    <a:lstStyle/>
                    <a:p>
                      <a:r>
                        <a:rPr sz="1100" b="1">
                          <a:solidFill>
                            <a:srgbClr val="26323F"/>
                          </a:solidFill>
                          <a:latin typeface="Calibri"/>
                        </a:rPr>
                        <a:t>Month 6.5-7</a:t>
                      </a:r>
                    </a:p>
                  </a:txBody>
                  <a:tcPr marL="54864" marR="54864" marT="27432" marB="27432" anchor="ctr">
                    <a:solidFill>
                      <a:srgbClr val="F6F9FC"/>
                    </a:solidFill>
                  </a:tcPr>
                </a:tc>
                <a:tc>
                  <a:txBody>
                    <a:bodyPr/>
                    <a:lstStyle/>
                    <a:p>
                      <a:r>
                        <a:rPr sz="1100" b="0">
                          <a:solidFill>
                            <a:srgbClr val="26323F"/>
                          </a:solidFill>
                          <a:latin typeface="Calibri"/>
                        </a:rPr>
                        <a:t>Speed, memory, power, noise and energy measurements; paper and report</a:t>
                      </a:r>
                    </a:p>
                  </a:txBody>
                  <a:tcPr marL="54864" marR="54864" marT="27432" marB="27432" anchor="ctr">
                    <a:solidFill>
                      <a:srgbClr val="F6F9FC"/>
                    </a:solidFill>
                  </a:tcPr>
                </a:tc>
                <a:tc>
                  <a:txBody>
                    <a:bodyPr/>
                    <a:lstStyle/>
                    <a:p>
                      <a:r>
                        <a:rPr sz="1100" b="0">
                          <a:solidFill>
                            <a:srgbClr val="26323F"/>
                          </a:solidFill>
                          <a:latin typeface="Calibri"/>
                        </a:rPr>
                        <a:t>Validated prototype, manuscript</a:t>
                      </a:r>
                    </a:p>
                  </a:txBody>
                  <a:tcPr marL="54864" marR="54864" marT="27432" marB="27432" anchor="ctr">
                    <a:solidFill>
                      <a:srgbClr val="F6F9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Team Contribution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19</a:t>
            </a:fld>
            <a:r>
              <a:rPr lang="en-US" altLang="en-US" sz="900" dirty="0">
                <a:solidFill>
                  <a:srgbClr val="898989"/>
                </a:solidFill>
              </a:rPr>
              <a:t> of 21</a:t>
            </a: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graphicFrame>
        <p:nvGraphicFramePr>
          <p:cNvPr id="20485" name="Table 20484"/>
          <p:cNvGraphicFramePr>
            <a:graphicFrameLocks noGrp="1"/>
          </p:cNvGraphicFramePr>
          <p:nvPr/>
        </p:nvGraphicFramePr>
        <p:xfrm>
          <a:off x="1097280" y="1463040"/>
          <a:ext cx="7635239" cy="3127248"/>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977639">
                  <a:extLst>
                    <a:ext uri="{9D8B030D-6E8A-4147-A177-3AD203B41FA5}">
                      <a16:colId xmlns:a16="http://schemas.microsoft.com/office/drawing/2014/main" val="20002"/>
                    </a:ext>
                  </a:extLst>
                </a:gridCol>
              </a:tblGrid>
              <a:tr h="384048">
                <a:tc>
                  <a:txBody>
                    <a:bodyPr/>
                    <a:lstStyle/>
                    <a:p>
                      <a:r>
                        <a:rPr sz="1300" b="1">
                          <a:solidFill>
                            <a:srgbClr val="FFFFFF"/>
                          </a:solidFill>
                          <a:latin typeface="Calibri"/>
                        </a:rPr>
                        <a:t>Team member</a:t>
                      </a:r>
                    </a:p>
                  </a:txBody>
                  <a:tcPr marL="54864" marR="54864" marT="27432" marB="27432" anchor="ctr">
                    <a:solidFill>
                      <a:srgbClr val="25578F"/>
                    </a:solidFill>
                  </a:tcPr>
                </a:tc>
                <a:tc>
                  <a:txBody>
                    <a:bodyPr/>
                    <a:lstStyle/>
                    <a:p>
                      <a:r>
                        <a:rPr sz="1300" b="1">
                          <a:solidFill>
                            <a:srgbClr val="FFFFFF"/>
                          </a:solidFill>
                          <a:latin typeface="Calibri"/>
                        </a:rPr>
                        <a:t>USN</a:t>
                      </a:r>
                    </a:p>
                  </a:txBody>
                  <a:tcPr marL="54864" marR="54864" marT="27432" marB="27432" anchor="ctr">
                    <a:solidFill>
                      <a:srgbClr val="25578F"/>
                    </a:solidFill>
                  </a:tcPr>
                </a:tc>
                <a:tc>
                  <a:txBody>
                    <a:bodyPr/>
                    <a:lstStyle/>
                    <a:p>
                      <a:r>
                        <a:rPr sz="1300" b="1">
                          <a:solidFill>
                            <a:srgbClr val="FFFFFF"/>
                          </a:solidFill>
                          <a:latin typeface="Calibri"/>
                        </a:rPr>
                        <a:t>Contribution (to be filled by the team)</a:t>
                      </a:r>
                    </a:p>
                  </a:txBody>
                  <a:tcPr marL="54864" marR="54864" marT="27432" marB="27432" anchor="ctr">
                    <a:solidFill>
                      <a:srgbClr val="25578F"/>
                    </a:solidFill>
                  </a:tcPr>
                </a:tc>
                <a:extLst>
                  <a:ext uri="{0D108BD9-81ED-4DB2-BD59-A6C34878D82A}">
                    <a16:rowId xmlns:a16="http://schemas.microsoft.com/office/drawing/2014/main" val="10000"/>
                  </a:ext>
                </a:extLst>
              </a:tr>
              <a:tr h="685800">
                <a:tc>
                  <a:txBody>
                    <a:bodyPr/>
                    <a:lstStyle/>
                    <a:p>
                      <a:r>
                        <a:rPr sz="1300" b="1">
                          <a:solidFill>
                            <a:srgbClr val="26323F"/>
                          </a:solidFill>
                          <a:latin typeface="Calibri"/>
                        </a:rPr>
                        <a:t>Nikitha D</a:t>
                      </a:r>
                    </a:p>
                  </a:txBody>
                  <a:tcPr marL="54864" marR="54864" marT="27432" marB="27432" anchor="ctr">
                    <a:solidFill>
                      <a:srgbClr val="E6EEF7"/>
                    </a:solidFill>
                  </a:tcPr>
                </a:tc>
                <a:tc>
                  <a:txBody>
                    <a:bodyPr/>
                    <a:lstStyle/>
                    <a:p>
                      <a:r>
                        <a:rPr sz="1300" b="0">
                          <a:solidFill>
                            <a:srgbClr val="26323F"/>
                          </a:solidFill>
                          <a:latin typeface="Calibri"/>
                        </a:rPr>
                        <a:t>ENG23CS0384</a:t>
                      </a:r>
                    </a:p>
                  </a:txBody>
                  <a:tcPr marL="54864" marR="54864" marT="27432" marB="27432" anchor="ctr">
                    <a:solidFill>
                      <a:srgbClr val="E6EEF7"/>
                    </a:solidFill>
                  </a:tcPr>
                </a:tc>
                <a:tc>
                  <a:txBody>
                    <a:bodyPr/>
                    <a:lstStyle/>
                    <a:p>
                      <a:r>
                        <a:rPr sz="1300" b="0">
                          <a:solidFill>
                            <a:srgbClr val="26323F"/>
                          </a:solidFill>
                          <a:latin typeface="Calibri"/>
                        </a:rPr>
                        <a:t>[add your modules and experiments]</a:t>
                      </a:r>
                    </a:p>
                  </a:txBody>
                  <a:tcPr marL="54864" marR="54864" marT="27432" marB="27432" anchor="ctr">
                    <a:solidFill>
                      <a:srgbClr val="E6EEF7"/>
                    </a:solidFill>
                  </a:tcPr>
                </a:tc>
                <a:extLst>
                  <a:ext uri="{0D108BD9-81ED-4DB2-BD59-A6C34878D82A}">
                    <a16:rowId xmlns:a16="http://schemas.microsoft.com/office/drawing/2014/main" val="10001"/>
                  </a:ext>
                </a:extLst>
              </a:tr>
              <a:tr h="685800">
                <a:tc>
                  <a:txBody>
                    <a:bodyPr/>
                    <a:lstStyle/>
                    <a:p>
                      <a:r>
                        <a:rPr sz="1300" b="1">
                          <a:solidFill>
                            <a:srgbClr val="26323F"/>
                          </a:solidFill>
                          <a:latin typeface="Calibri"/>
                        </a:rPr>
                        <a:t>Rajika Saha</a:t>
                      </a:r>
                    </a:p>
                  </a:txBody>
                  <a:tcPr marL="54864" marR="54864" marT="27432" marB="27432" anchor="ctr">
                    <a:solidFill>
                      <a:srgbClr val="F6F9FC"/>
                    </a:solidFill>
                  </a:tcPr>
                </a:tc>
                <a:tc>
                  <a:txBody>
                    <a:bodyPr/>
                    <a:lstStyle/>
                    <a:p>
                      <a:r>
                        <a:rPr sz="1300" b="0">
                          <a:solidFill>
                            <a:srgbClr val="26323F"/>
                          </a:solidFill>
                          <a:latin typeface="Calibri"/>
                        </a:rPr>
                        <a:t>ENG23CS0415</a:t>
                      </a:r>
                    </a:p>
                  </a:txBody>
                  <a:tcPr marL="54864" marR="54864" marT="27432" marB="27432" anchor="ctr">
                    <a:solidFill>
                      <a:srgbClr val="F6F9FC"/>
                    </a:solidFill>
                  </a:tcPr>
                </a:tc>
                <a:tc>
                  <a:txBody>
                    <a:bodyPr/>
                    <a:lstStyle/>
                    <a:p>
                      <a:r>
                        <a:rPr sz="1300" b="0">
                          <a:solidFill>
                            <a:srgbClr val="26323F"/>
                          </a:solidFill>
                          <a:latin typeface="Calibri"/>
                        </a:rPr>
                        <a:t>[add your modules and experiments]</a:t>
                      </a:r>
                    </a:p>
                  </a:txBody>
                  <a:tcPr marL="54864" marR="54864" marT="27432" marB="27432" anchor="ctr">
                    <a:solidFill>
                      <a:srgbClr val="F6F9FC"/>
                    </a:solidFill>
                  </a:tcPr>
                </a:tc>
                <a:extLst>
                  <a:ext uri="{0D108BD9-81ED-4DB2-BD59-A6C34878D82A}">
                    <a16:rowId xmlns:a16="http://schemas.microsoft.com/office/drawing/2014/main" val="10002"/>
                  </a:ext>
                </a:extLst>
              </a:tr>
              <a:tr h="685800">
                <a:tc>
                  <a:txBody>
                    <a:bodyPr/>
                    <a:lstStyle/>
                    <a:p>
                      <a:r>
                        <a:rPr sz="1300" b="1">
                          <a:solidFill>
                            <a:srgbClr val="26323F"/>
                          </a:solidFill>
                          <a:latin typeface="Calibri"/>
                        </a:rPr>
                        <a:t>Monalisa</a:t>
                      </a:r>
                    </a:p>
                  </a:txBody>
                  <a:tcPr marL="54864" marR="54864" marT="27432" marB="27432" anchor="ctr">
                    <a:solidFill>
                      <a:srgbClr val="E6EEF7"/>
                    </a:solidFill>
                  </a:tcPr>
                </a:tc>
                <a:tc>
                  <a:txBody>
                    <a:bodyPr/>
                    <a:lstStyle/>
                    <a:p>
                      <a:r>
                        <a:rPr sz="1300" b="0">
                          <a:solidFill>
                            <a:srgbClr val="26323F"/>
                          </a:solidFill>
                          <a:latin typeface="Calibri"/>
                        </a:rPr>
                        <a:t>ENG23CS0368</a:t>
                      </a:r>
                    </a:p>
                  </a:txBody>
                  <a:tcPr marL="54864" marR="54864" marT="27432" marB="27432" anchor="ctr">
                    <a:solidFill>
                      <a:srgbClr val="E6EEF7"/>
                    </a:solidFill>
                  </a:tcPr>
                </a:tc>
                <a:tc>
                  <a:txBody>
                    <a:bodyPr/>
                    <a:lstStyle/>
                    <a:p>
                      <a:r>
                        <a:rPr sz="1300" b="0">
                          <a:solidFill>
                            <a:srgbClr val="26323F"/>
                          </a:solidFill>
                          <a:latin typeface="Calibri"/>
                        </a:rPr>
                        <a:t>[add your modules and experiments]</a:t>
                      </a:r>
                    </a:p>
                  </a:txBody>
                  <a:tcPr marL="54864" marR="54864" marT="27432" marB="27432" anchor="ctr">
                    <a:solidFill>
                      <a:srgbClr val="E6EEF7"/>
                    </a:solidFill>
                  </a:tcPr>
                </a:tc>
                <a:extLst>
                  <a:ext uri="{0D108BD9-81ED-4DB2-BD59-A6C34878D82A}">
                    <a16:rowId xmlns:a16="http://schemas.microsoft.com/office/drawing/2014/main" val="10003"/>
                  </a:ext>
                </a:extLst>
              </a:tr>
              <a:tr h="685800">
                <a:tc>
                  <a:txBody>
                    <a:bodyPr/>
                    <a:lstStyle/>
                    <a:p>
                      <a:r>
                        <a:rPr sz="1300" b="1">
                          <a:solidFill>
                            <a:srgbClr val="26323F"/>
                          </a:solidFill>
                          <a:latin typeface="Calibri"/>
                        </a:rPr>
                        <a:t>Sunand P Chowdary</a:t>
                      </a:r>
                    </a:p>
                  </a:txBody>
                  <a:tcPr marL="54864" marR="54864" marT="27432" marB="27432" anchor="ctr">
                    <a:solidFill>
                      <a:srgbClr val="F6F9FC"/>
                    </a:solidFill>
                  </a:tcPr>
                </a:tc>
                <a:tc>
                  <a:txBody>
                    <a:bodyPr/>
                    <a:lstStyle/>
                    <a:p>
                      <a:r>
                        <a:rPr sz="1300" b="0">
                          <a:solidFill>
                            <a:srgbClr val="26323F"/>
                          </a:solidFill>
                          <a:latin typeface="Calibri"/>
                        </a:rPr>
                        <a:t>ENG23CS0387</a:t>
                      </a:r>
                    </a:p>
                  </a:txBody>
                  <a:tcPr marL="54864" marR="54864" marT="27432" marB="27432" anchor="ctr">
                    <a:solidFill>
                      <a:srgbClr val="F6F9FC"/>
                    </a:solidFill>
                  </a:tcPr>
                </a:tc>
                <a:tc>
                  <a:txBody>
                    <a:bodyPr/>
                    <a:lstStyle/>
                    <a:p>
                      <a:r>
                        <a:rPr sz="1300" b="0">
                          <a:solidFill>
                            <a:srgbClr val="26323F"/>
                          </a:solidFill>
                          <a:latin typeface="Calibri"/>
                        </a:rPr>
                        <a:t>[add your modules and experiments]</a:t>
                      </a:r>
                    </a:p>
                  </a:txBody>
                  <a:tcPr marL="54864" marR="54864" marT="27432" marB="27432" anchor="ctr">
                    <a:solidFill>
                      <a:srgbClr val="F6F9FC"/>
                    </a:solidFill>
                  </a:tcPr>
                </a:tc>
                <a:extLst>
                  <a:ext uri="{0D108BD9-81ED-4DB2-BD59-A6C34878D82A}">
                    <a16:rowId xmlns:a16="http://schemas.microsoft.com/office/drawing/2014/main" val="10004"/>
                  </a:ext>
                </a:extLst>
              </a:tr>
            </a:tbl>
          </a:graphicData>
        </a:graphic>
      </p:graphicFrame>
      <p:sp>
        <p:nvSpPr>
          <p:cNvPr id="20486" name="TextBox 20485"/>
          <p:cNvSpPr txBox="1"/>
          <p:nvPr/>
        </p:nvSpPr>
        <p:spPr>
          <a:xfrm>
            <a:off x="1097280" y="5074920"/>
            <a:ext cx="7635240" cy="640080"/>
          </a:xfrm>
          <a:prstGeom prst="rect">
            <a:avLst/>
          </a:prstGeom>
          <a:noFill/>
        </p:spPr>
        <p:txBody>
          <a:bodyPr wrap="square" lIns="54864" tIns="27432" rIns="54864" bIns="27432" anchor="t">
            <a:noAutofit/>
          </a:bodyPr>
          <a:lstStyle/>
          <a:p>
            <a:pPr algn="l">
              <a:spcAft>
                <a:spcPts val="400"/>
              </a:spcAft>
            </a:pPr>
            <a:r>
              <a:rPr sz="1250" b="0" i="1">
                <a:solidFill>
                  <a:srgbClr val="6B7580"/>
                </a:solidFill>
                <a:latin typeface="Calibri"/>
              </a:rPr>
              <a:t>Every member should be ready to explain their own part and answer questions on the whole pipeline.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234440" y="475488"/>
            <a:ext cx="6492240" cy="777240"/>
          </a:xfrm>
          <a:ln/>
        </p:spPr>
        <p:txBody>
          <a:bodyPr vert="horz" wrap="square" lIns="91440" tIns="45720" rIns="91440" bIns="45720" anchor="ctr" anchorCtr="0">
            <a:noAutofit/>
          </a:bodyPr>
          <a:lstStyle/>
          <a:p>
            <a:pPr algn="ctr" eaLnBrk="1" hangingPunct="1"/>
            <a:r>
              <a:rPr sz="3000">
                <a:latin typeface="Calibri"/>
              </a:rPr>
              <a:t>List of Deliverables</a:t>
            </a:r>
            <a:endParaRPr lang="en-IN" altLang="en-US"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xfrm>
            <a:off x="1920875" y="6103938"/>
            <a:ext cx="1071563" cy="369888"/>
          </a:xfrm>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A6582B55-4E66-4BE5-85A4-28B9CA8A1ACB}"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27653"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20</a:t>
            </a:fld>
            <a:r>
              <a:rPr lang="en-US" altLang="en-US" sz="900" dirty="0">
                <a:solidFill>
                  <a:srgbClr val="898989"/>
                </a:solidFill>
              </a:rPr>
              <a:t> of 21</a:t>
            </a:r>
          </a:p>
        </p:txBody>
      </p:sp>
      <p:graphicFrame>
        <p:nvGraphicFramePr>
          <p:cNvPr id="27654" name="Table 27653"/>
          <p:cNvGraphicFramePr>
            <a:graphicFrameLocks noGrp="1"/>
          </p:cNvGraphicFramePr>
          <p:nvPr/>
        </p:nvGraphicFramePr>
        <p:xfrm>
          <a:off x="1097280" y="1371600"/>
          <a:ext cx="7635240" cy="4169664"/>
        </p:xfrm>
        <a:graphic>
          <a:graphicData uri="http://schemas.openxmlformats.org/drawingml/2006/table">
            <a:tbl>
              <a:tblPr>
                <a:tableStyleId>{2D5ABB26-0587-4C30-8999-92F81FD0307C}</a:tableStyleId>
              </a:tblPr>
              <a:tblGrid>
                <a:gridCol w="6309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384048">
                <a:tc>
                  <a:txBody>
                    <a:bodyPr/>
                    <a:lstStyle/>
                    <a:p>
                      <a:r>
                        <a:rPr sz="1250" b="1">
                          <a:solidFill>
                            <a:srgbClr val="FFFFFF"/>
                          </a:solidFill>
                          <a:latin typeface="Calibri"/>
                        </a:rPr>
                        <a:t>Deliverable</a:t>
                      </a:r>
                    </a:p>
                  </a:txBody>
                  <a:tcPr marL="54864" marR="54864" marT="27432" marB="27432" anchor="ctr">
                    <a:solidFill>
                      <a:srgbClr val="25578F"/>
                    </a:solidFill>
                  </a:tcPr>
                </a:tc>
                <a:tc>
                  <a:txBody>
                    <a:bodyPr/>
                    <a:lstStyle/>
                    <a:p>
                      <a:r>
                        <a:rPr sz="1250" b="1">
                          <a:solidFill>
                            <a:srgbClr val="FFFFFF"/>
                          </a:solidFill>
                          <a:latin typeface="Calibri"/>
                        </a:rPr>
                        <a:t>Status</a:t>
                      </a:r>
                    </a:p>
                  </a:txBody>
                  <a:tcPr marL="54864" marR="54864" marT="27432" marB="27432" anchor="ctr">
                    <a:solidFill>
                      <a:srgbClr val="25578F"/>
                    </a:solidFill>
                  </a:tcPr>
                </a:tc>
                <a:extLst>
                  <a:ext uri="{0D108BD9-81ED-4DB2-BD59-A6C34878D82A}">
                    <a16:rowId xmlns:a16="http://schemas.microsoft.com/office/drawing/2014/main" val="10000"/>
                  </a:ext>
                </a:extLst>
              </a:tr>
              <a:tr h="420624">
                <a:tc>
                  <a:txBody>
                    <a:bodyPr/>
                    <a:lstStyle/>
                    <a:p>
                      <a:r>
                        <a:rPr sz="1250" b="0">
                          <a:solidFill>
                            <a:srgbClr val="26323F"/>
                          </a:solidFill>
                          <a:latin typeface="Calibri"/>
                        </a:rPr>
                        <a:t>Calibrated detector (Python) with results files for every experiment</a:t>
                      </a:r>
                    </a:p>
                  </a:txBody>
                  <a:tcPr marL="54864" marR="54864" marT="27432" marB="27432" anchor="ctr">
                    <a:solidFill>
                      <a:srgbClr val="E6EEF7"/>
                    </a:solidFill>
                  </a:tcPr>
                </a:tc>
                <a:tc>
                  <a:txBody>
                    <a:bodyPr/>
                    <a:lstStyle/>
                    <a:p>
                      <a:r>
                        <a:rPr sz="1250" b="1">
                          <a:solidFill>
                            <a:srgbClr val="1E7B4B"/>
                          </a:solidFill>
                          <a:latin typeface="Calibri"/>
                        </a:rPr>
                        <a:t>Done</a:t>
                      </a:r>
                    </a:p>
                  </a:txBody>
                  <a:tcPr marL="54864" marR="54864" marT="27432" marB="27432" anchor="ctr">
                    <a:solidFill>
                      <a:srgbClr val="E6EEF7"/>
                    </a:solidFill>
                  </a:tcPr>
                </a:tc>
                <a:extLst>
                  <a:ext uri="{0D108BD9-81ED-4DB2-BD59-A6C34878D82A}">
                    <a16:rowId xmlns:a16="http://schemas.microsoft.com/office/drawing/2014/main" val="10001"/>
                  </a:ext>
                </a:extLst>
              </a:tr>
              <a:tr h="420624">
                <a:tc>
                  <a:txBody>
                    <a:bodyPr/>
                    <a:lstStyle/>
                    <a:p>
                      <a:r>
                        <a:rPr sz="1250" b="0">
                          <a:solidFill>
                            <a:srgbClr val="26323F"/>
                          </a:solidFill>
                          <a:latin typeface="Calibri"/>
                        </a:rPr>
                        <a:t>Evaluation suite and 5-tab dashboard (live clip, evaluate, results, model card, own recordings)</a:t>
                      </a:r>
                    </a:p>
                  </a:txBody>
                  <a:tcPr marL="54864" marR="54864" marT="27432" marB="27432" anchor="ctr">
                    <a:solidFill>
                      <a:srgbClr val="F6F9FC"/>
                    </a:solidFill>
                  </a:tcPr>
                </a:tc>
                <a:tc>
                  <a:txBody>
                    <a:bodyPr/>
                    <a:lstStyle/>
                    <a:p>
                      <a:r>
                        <a:rPr sz="1250" b="1">
                          <a:solidFill>
                            <a:srgbClr val="1E7B4B"/>
                          </a:solidFill>
                          <a:latin typeface="Calibri"/>
                        </a:rPr>
                        <a:t>Done</a:t>
                      </a:r>
                    </a:p>
                  </a:txBody>
                  <a:tcPr marL="54864" marR="54864" marT="27432" marB="27432" anchor="ctr">
                    <a:solidFill>
                      <a:srgbClr val="F6F9FC"/>
                    </a:solidFill>
                  </a:tcPr>
                </a:tc>
                <a:extLst>
                  <a:ext uri="{0D108BD9-81ED-4DB2-BD59-A6C34878D82A}">
                    <a16:rowId xmlns:a16="http://schemas.microsoft.com/office/drawing/2014/main" val="10002"/>
                  </a:ext>
                </a:extLst>
              </a:tr>
              <a:tr h="420624">
                <a:tc>
                  <a:txBody>
                    <a:bodyPr/>
                    <a:lstStyle/>
                    <a:p>
                      <a:r>
                        <a:rPr sz="1250" b="0">
                          <a:solidFill>
                            <a:srgbClr val="26323F"/>
                          </a:solidFill>
                          <a:latin typeface="Calibri"/>
                        </a:rPr>
                        <a:t>Own-recording test tool (phone or any microphone)</a:t>
                      </a:r>
                    </a:p>
                  </a:txBody>
                  <a:tcPr marL="54864" marR="54864" marT="27432" marB="27432" anchor="ctr">
                    <a:solidFill>
                      <a:srgbClr val="E6EEF7"/>
                    </a:solidFill>
                  </a:tcPr>
                </a:tc>
                <a:tc>
                  <a:txBody>
                    <a:bodyPr/>
                    <a:lstStyle/>
                    <a:p>
                      <a:r>
                        <a:rPr sz="1250" b="1">
                          <a:solidFill>
                            <a:srgbClr val="1E7B4B"/>
                          </a:solidFill>
                          <a:latin typeface="Calibri"/>
                        </a:rPr>
                        <a:t>Done (first test)</a:t>
                      </a:r>
                    </a:p>
                  </a:txBody>
                  <a:tcPr marL="54864" marR="54864" marT="27432" marB="27432" anchor="ctr">
                    <a:solidFill>
                      <a:srgbClr val="E6EEF7"/>
                    </a:solidFill>
                  </a:tcPr>
                </a:tc>
                <a:extLst>
                  <a:ext uri="{0D108BD9-81ED-4DB2-BD59-A6C34878D82A}">
                    <a16:rowId xmlns:a16="http://schemas.microsoft.com/office/drawing/2014/main" val="10003"/>
                  </a:ext>
                </a:extLst>
              </a:tr>
              <a:tr h="420624">
                <a:tc>
                  <a:txBody>
                    <a:bodyPr/>
                    <a:lstStyle/>
                    <a:p>
                      <a:r>
                        <a:rPr sz="1250" b="0">
                          <a:solidFill>
                            <a:srgbClr val="26323F"/>
                          </a:solidFill>
                          <a:latin typeface="Calibri"/>
                        </a:rPr>
                        <a:t>Literature survey and project guide</a:t>
                      </a:r>
                    </a:p>
                  </a:txBody>
                  <a:tcPr marL="54864" marR="54864" marT="27432" marB="27432" anchor="ctr">
                    <a:solidFill>
                      <a:srgbClr val="F6F9FC"/>
                    </a:solidFill>
                  </a:tcPr>
                </a:tc>
                <a:tc>
                  <a:txBody>
                    <a:bodyPr/>
                    <a:lstStyle/>
                    <a:p>
                      <a:r>
                        <a:rPr sz="1250" b="1">
                          <a:solidFill>
                            <a:srgbClr val="1E7B4B"/>
                          </a:solidFill>
                          <a:latin typeface="Calibri"/>
                        </a:rPr>
                        <a:t>Done</a:t>
                      </a:r>
                    </a:p>
                  </a:txBody>
                  <a:tcPr marL="54864" marR="54864" marT="27432" marB="27432" anchor="ctr">
                    <a:solidFill>
                      <a:srgbClr val="F6F9FC"/>
                    </a:solidFill>
                  </a:tcPr>
                </a:tc>
                <a:extLst>
                  <a:ext uri="{0D108BD9-81ED-4DB2-BD59-A6C34878D82A}">
                    <a16:rowId xmlns:a16="http://schemas.microsoft.com/office/drawing/2014/main" val="10004"/>
                  </a:ext>
                </a:extLst>
              </a:tr>
              <a:tr h="420624">
                <a:tc>
                  <a:txBody>
                    <a:bodyPr/>
                    <a:lstStyle/>
                    <a:p>
                      <a:r>
                        <a:rPr sz="1250" b="0">
                          <a:solidFill>
                            <a:srgbClr val="26323F"/>
                          </a:solidFill>
                          <a:latin typeface="Calibri"/>
                        </a:rPr>
                        <a:t>INT8 model and feature extraction in C</a:t>
                      </a:r>
                    </a:p>
                  </a:txBody>
                  <a:tcPr marL="54864" marR="54864" marT="27432" marB="27432" anchor="ctr">
                    <a:solidFill>
                      <a:srgbClr val="E6EEF7"/>
                    </a:solidFill>
                  </a:tcPr>
                </a:tc>
                <a:tc>
                  <a:txBody>
                    <a:bodyPr/>
                    <a:lstStyle/>
                    <a:p>
                      <a:r>
                        <a:rPr sz="1250" b="1">
                          <a:solidFill>
                            <a:srgbClr val="A86A00"/>
                          </a:solidFill>
                          <a:latin typeface="Calibri"/>
                        </a:rPr>
                        <a:t>Planned</a:t>
                      </a:r>
                    </a:p>
                  </a:txBody>
                  <a:tcPr marL="54864" marR="54864" marT="27432" marB="27432" anchor="ctr">
                    <a:solidFill>
                      <a:srgbClr val="E6EEF7"/>
                    </a:solidFill>
                  </a:tcPr>
                </a:tc>
                <a:extLst>
                  <a:ext uri="{0D108BD9-81ED-4DB2-BD59-A6C34878D82A}">
                    <a16:rowId xmlns:a16="http://schemas.microsoft.com/office/drawing/2014/main" val="10005"/>
                  </a:ext>
                </a:extLst>
              </a:tr>
              <a:tr h="420624">
                <a:tc>
                  <a:txBody>
                    <a:bodyPr/>
                    <a:lstStyle/>
                    <a:p>
                      <a:r>
                        <a:rPr sz="1250" b="0">
                          <a:solidFill>
                            <a:srgbClr val="26323F"/>
                          </a:solidFill>
                          <a:latin typeface="Calibri"/>
                        </a:rPr>
                        <a:t>ESP32-S3 prototype with LED output</a:t>
                      </a:r>
                    </a:p>
                  </a:txBody>
                  <a:tcPr marL="54864" marR="54864" marT="27432" marB="27432" anchor="ctr">
                    <a:solidFill>
                      <a:srgbClr val="F6F9FC"/>
                    </a:solidFill>
                  </a:tcPr>
                </a:tc>
                <a:tc>
                  <a:txBody>
                    <a:bodyPr/>
                    <a:lstStyle/>
                    <a:p>
                      <a:r>
                        <a:rPr sz="1250" b="1">
                          <a:solidFill>
                            <a:srgbClr val="A86A00"/>
                          </a:solidFill>
                          <a:latin typeface="Calibri"/>
                        </a:rPr>
                        <a:t>Planned</a:t>
                      </a:r>
                    </a:p>
                  </a:txBody>
                  <a:tcPr marL="54864" marR="54864" marT="27432" marB="27432" anchor="ctr">
                    <a:solidFill>
                      <a:srgbClr val="F6F9FC"/>
                    </a:solidFill>
                  </a:tcPr>
                </a:tc>
                <a:extLst>
                  <a:ext uri="{0D108BD9-81ED-4DB2-BD59-A6C34878D82A}">
                    <a16:rowId xmlns:a16="http://schemas.microsoft.com/office/drawing/2014/main" val="10006"/>
                  </a:ext>
                </a:extLst>
              </a:tr>
              <a:tr h="420624">
                <a:tc>
                  <a:txBody>
                    <a:bodyPr/>
                    <a:lstStyle/>
                    <a:p>
                      <a:r>
                        <a:rPr sz="1250" b="0">
                          <a:solidFill>
                            <a:srgbClr val="26323F"/>
                          </a:solidFill>
                          <a:latin typeface="Calibri"/>
                        </a:rPr>
                        <a:t>Test-rig results: sound, vibration, temperature</a:t>
                      </a:r>
                    </a:p>
                  </a:txBody>
                  <a:tcPr marL="54864" marR="54864" marT="27432" marB="27432" anchor="ctr">
                    <a:solidFill>
                      <a:srgbClr val="E6EEF7"/>
                    </a:solidFill>
                  </a:tcPr>
                </a:tc>
                <a:tc>
                  <a:txBody>
                    <a:bodyPr/>
                    <a:lstStyle/>
                    <a:p>
                      <a:r>
                        <a:rPr sz="1250" b="1">
                          <a:solidFill>
                            <a:srgbClr val="A86A00"/>
                          </a:solidFill>
                          <a:latin typeface="Calibri"/>
                        </a:rPr>
                        <a:t>Planned</a:t>
                      </a:r>
                    </a:p>
                  </a:txBody>
                  <a:tcPr marL="54864" marR="54864" marT="27432" marB="27432" anchor="ctr">
                    <a:solidFill>
                      <a:srgbClr val="E6EEF7"/>
                    </a:solidFill>
                  </a:tcPr>
                </a:tc>
                <a:extLst>
                  <a:ext uri="{0D108BD9-81ED-4DB2-BD59-A6C34878D82A}">
                    <a16:rowId xmlns:a16="http://schemas.microsoft.com/office/drawing/2014/main" val="10007"/>
                  </a:ext>
                </a:extLst>
              </a:tr>
              <a:tr h="420624">
                <a:tc>
                  <a:txBody>
                    <a:bodyPr/>
                    <a:lstStyle/>
                    <a:p>
                      <a:r>
                        <a:rPr sz="1250" b="0">
                          <a:solidFill>
                            <a:srgbClr val="26323F"/>
                          </a:solidFill>
                          <a:latin typeface="Calibri"/>
                        </a:rPr>
                        <a:t>Energy and noise estimate of a fault</a:t>
                      </a:r>
                    </a:p>
                  </a:txBody>
                  <a:tcPr marL="54864" marR="54864" marT="27432" marB="27432" anchor="ctr">
                    <a:solidFill>
                      <a:srgbClr val="F6F9FC"/>
                    </a:solidFill>
                  </a:tcPr>
                </a:tc>
                <a:tc>
                  <a:txBody>
                    <a:bodyPr/>
                    <a:lstStyle/>
                    <a:p>
                      <a:r>
                        <a:rPr sz="1250" b="1">
                          <a:solidFill>
                            <a:srgbClr val="A86A00"/>
                          </a:solidFill>
                          <a:latin typeface="Calibri"/>
                        </a:rPr>
                        <a:t>Planned</a:t>
                      </a:r>
                    </a:p>
                  </a:txBody>
                  <a:tcPr marL="54864" marR="54864" marT="27432" marB="27432" anchor="ctr">
                    <a:solidFill>
                      <a:srgbClr val="F6F9FC"/>
                    </a:solidFill>
                  </a:tcPr>
                </a:tc>
                <a:extLst>
                  <a:ext uri="{0D108BD9-81ED-4DB2-BD59-A6C34878D82A}">
                    <a16:rowId xmlns:a16="http://schemas.microsoft.com/office/drawing/2014/main" val="10008"/>
                  </a:ext>
                </a:extLst>
              </a:tr>
              <a:tr h="420624">
                <a:tc>
                  <a:txBody>
                    <a:bodyPr/>
                    <a:lstStyle/>
                    <a:p>
                      <a:r>
                        <a:rPr sz="1250" b="0">
                          <a:solidFill>
                            <a:srgbClr val="26323F"/>
                          </a:solidFill>
                          <a:latin typeface="Calibri"/>
                        </a:rPr>
                        <a:t>Research paper and patent filing</a:t>
                      </a:r>
                    </a:p>
                  </a:txBody>
                  <a:tcPr marL="54864" marR="54864" marT="27432" marB="27432" anchor="ctr">
                    <a:solidFill>
                      <a:srgbClr val="E6EEF7"/>
                    </a:solidFill>
                  </a:tcPr>
                </a:tc>
                <a:tc>
                  <a:txBody>
                    <a:bodyPr/>
                    <a:lstStyle/>
                    <a:p>
                      <a:r>
                        <a:rPr sz="1250" b="1">
                          <a:solidFill>
                            <a:srgbClr val="A86A00"/>
                          </a:solidFill>
                          <a:latin typeface="Calibri"/>
                        </a:rPr>
                        <a:t>Planned</a:t>
                      </a:r>
                    </a:p>
                  </a:txBody>
                  <a:tcPr marL="54864" marR="54864" marT="27432" marB="27432" anchor="ctr">
                    <a:solidFill>
                      <a:srgbClr val="E6EEF7"/>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234440" y="475488"/>
            <a:ext cx="6492240" cy="777240"/>
          </a:xfrm>
          <a:ln/>
        </p:spPr>
        <p:txBody>
          <a:bodyPr vert="horz" wrap="square" lIns="91440" tIns="45720" rIns="91440" bIns="45720" anchor="ctr" anchorCtr="0">
            <a:noAutofit/>
          </a:bodyPr>
          <a:lstStyle/>
          <a:p>
            <a:pPr algn="ctr" eaLnBrk="1" hangingPunct="1"/>
            <a:r>
              <a:rPr sz="3000">
                <a:latin typeface="Calibri"/>
              </a:rPr>
              <a:t>References</a:t>
            </a:r>
            <a:endParaRPr lang="en-IN" altLang="en-US" b="1"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CEBED0AC-B1C5-4D9E-B8BC-A200B7C1B7E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t>10/24/2026</a:t>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p>
        </p:txBody>
      </p:sp>
      <p:sp>
        <p:nvSpPr>
          <p:cNvPr id="28678"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t>21</a:t>
            </a:fld>
            <a:r>
              <a:rPr lang="en-US" altLang="en-US" sz="900" dirty="0">
                <a:solidFill>
                  <a:srgbClr val="898989"/>
                </a:solidFill>
              </a:rPr>
              <a:t> of 21</a:t>
            </a:r>
          </a:p>
        </p:txBody>
      </p:sp>
      <p:sp>
        <p:nvSpPr>
          <p:cNvPr id="28679" name="TextBox 28678"/>
          <p:cNvSpPr txBox="1"/>
          <p:nvPr/>
        </p:nvSpPr>
        <p:spPr>
          <a:xfrm>
            <a:off x="1097280" y="1371600"/>
            <a:ext cx="7680960" cy="4572000"/>
          </a:xfrm>
          <a:prstGeom prst="rect">
            <a:avLst/>
          </a:prstGeom>
          <a:noFill/>
        </p:spPr>
        <p:txBody>
          <a:bodyPr wrap="square" lIns="54864" tIns="27432" rIns="54864" bIns="27432" anchor="t">
            <a:noAutofit/>
          </a:bodyPr>
          <a:lstStyle/>
          <a:p>
            <a:pPr algn="l">
              <a:spcAft>
                <a:spcPts val="600"/>
              </a:spcAft>
            </a:pPr>
            <a:r>
              <a:rPr sz="1150" b="0" i="0">
                <a:solidFill>
                  <a:srgbClr val="26323F"/>
                </a:solidFill>
                <a:latin typeface="Calibri"/>
              </a:rPr>
              <a:t>[1] H. Purohit et al., "MIMII Dataset: Sound Dataset for Malfunctioning Industrial Machine Investigation and Inspection," DCASE Workshop, 2019. arXiv:1909.09347.</a:t>
            </a:r>
          </a:p>
          <a:p>
            <a:pPr algn="l">
              <a:spcAft>
                <a:spcPts val="600"/>
              </a:spcAft>
            </a:pPr>
            <a:r>
              <a:rPr sz="1150" b="0" i="0">
                <a:solidFill>
                  <a:srgbClr val="26323F"/>
                </a:solidFill>
                <a:latin typeface="Calibri"/>
              </a:rPr>
              <a:t>[2] S. Abbasi, M. Famouri, M. J. Shafiee, A. Wong, "OutlierNets: Highly Compact Deep Autoencoder Network Architectures for On-Device Acoustic Anomaly Detection," arXiv:2104.00528, 2021.</a:t>
            </a:r>
          </a:p>
          <a:p>
            <a:pPr algn="l">
              <a:spcAft>
                <a:spcPts val="600"/>
              </a:spcAft>
            </a:pPr>
            <a:r>
              <a:rPr sz="1150" b="0" i="0">
                <a:solidFill>
                  <a:srgbClr val="26323F"/>
                </a:solidFill>
                <a:latin typeface="Calibri"/>
              </a:rPr>
              <a:t>[3] P. Kolok, M. Hodon, P. Sevcik, L. Hotz, N. Remy, "Low-Cost IoT-Based Predictive Maintenance Using Vibration," Sensors, vol. 25, no. 21, p. 6610, 2025.</a:t>
            </a:r>
          </a:p>
          <a:p>
            <a:pPr algn="l">
              <a:spcAft>
                <a:spcPts val="600"/>
              </a:spcAft>
            </a:pPr>
            <a:r>
              <a:rPr sz="1150" b="0" i="0">
                <a:solidFill>
                  <a:srgbClr val="26323F"/>
                </a:solidFill>
                <a:latin typeface="Calibri"/>
              </a:rPr>
              <a:t>[4] M. Yamaguchi, Y. Koizumi, N. Harada, "AdaFlow: Domain-Adaptive Density Estimator with Application to Anomaly Detection and Unpaired Cross-Domain Translation," ICASSP, 2019. arXiv:1812.05796.</a:t>
            </a:r>
          </a:p>
          <a:p>
            <a:pPr algn="l">
              <a:spcAft>
                <a:spcPts val="600"/>
              </a:spcAft>
            </a:pPr>
            <a:r>
              <a:rPr sz="1150" b="0" i="0">
                <a:solidFill>
                  <a:srgbClr val="26323F"/>
                </a:solidFill>
                <a:latin typeface="Calibri"/>
              </a:rPr>
              <a:t>[5] B. Chen, L. Bondi, S. Das, "Learning to Adapt to Domain Shifts with Few-shot Samples in Anomalous Sound Detection," arXiv:2204.01905, 2022.</a:t>
            </a:r>
          </a:p>
          <a:p>
            <a:pPr algn="l">
              <a:spcAft>
                <a:spcPts val="600"/>
              </a:spcAft>
            </a:pPr>
            <a:r>
              <a:rPr sz="1150" b="0" i="0">
                <a:solidFill>
                  <a:srgbClr val="26323F"/>
                </a:solidFill>
                <a:latin typeface="Calibri"/>
              </a:rPr>
              <a:t>[6] W. A. Smith, R. B. Randall, "Rolling element bearing diagnostics using the Case Western Reserve University data: A benchmark study," Mech. Syst. Signal Process., vol. 64-65, pp. 100-131, 2015.</a:t>
            </a:r>
          </a:p>
          <a:p>
            <a:pPr algn="l">
              <a:spcAft>
                <a:spcPts val="600"/>
              </a:spcAft>
            </a:pPr>
            <a:r>
              <a:rPr sz="1150" b="0" i="0">
                <a:solidFill>
                  <a:srgbClr val="26323F"/>
                </a:solidFill>
                <a:latin typeface="Calibri"/>
              </a:rPr>
              <a:t>[7] W. Jung et al., "Vibration, acoustic, temperature, and motor current dataset of rotating machine under varying operating conditions for fault diagnosis," Data in Brief, vol. 48, 109049, 2023.</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1CACE3"/>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4182</Words>
  <Application>Microsoft Office PowerPoint</Application>
  <PresentationFormat>On-screen Show (4:3)</PresentationFormat>
  <Paragraphs>467</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Century Gothic</vt:lpstr>
      <vt:lpstr>Wingdings</vt:lpstr>
      <vt:lpstr>Wingdings 3</vt:lpstr>
      <vt:lpstr>Wisp</vt:lpstr>
      <vt:lpstr>PowerPoint Presentation</vt:lpstr>
      <vt:lpstr>Overview</vt:lpstr>
      <vt:lpstr>Abstract</vt:lpstr>
      <vt:lpstr>Project Objectives</vt:lpstr>
      <vt:lpstr>Requirement Specification &amp; Validation</vt:lpstr>
      <vt:lpstr>Innovation &amp; Potential Impact</vt:lpstr>
      <vt:lpstr>Literature Survey</vt:lpstr>
      <vt:lpstr>Research Gap</vt:lpstr>
      <vt:lpstr>High-Level Design: What Is Built</vt:lpstr>
      <vt:lpstr>Proposed Methodology &amp; Technical Design</vt:lpstr>
      <vt:lpstr>High-Level Design: Final System (Proposed)</vt:lpstr>
      <vt:lpstr>Implementation Progress (about 40%)</vt:lpstr>
      <vt:lpstr>Results: Validation and Calibration</vt:lpstr>
      <vt:lpstr>Results: Final Evaluation</vt:lpstr>
      <vt:lpstr>Screenshot: Evaluation Dashboard</vt:lpstr>
      <vt:lpstr>Screenshot: Live Clip and Own Recording</vt:lpstr>
      <vt:lpstr>Challenges and Mitigation</vt:lpstr>
      <vt:lpstr>Future Work Plan</vt:lpstr>
      <vt:lpstr>Team Contribution</vt:lpstr>
      <vt:lpstr>List of Deliverables</vt:lpstr>
      <vt:lpstr>References</vt:lpstr>
    </vt:vector>
  </TitlesOfParts>
  <Company>.:L4zy w4r3z:.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exam</dc:creator>
  <cp:lastModifiedBy>Nikitha D ENG23CS0384</cp:lastModifiedBy>
  <cp:revision>76</cp:revision>
  <dcterms:created xsi:type="dcterms:W3CDTF">2014-02-04T16:39:29Z</dcterms:created>
  <dcterms:modified xsi:type="dcterms:W3CDTF">2026-10-23T23:08:05Z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03A2DF2DCA054515A30B36592F96C437_13</vt:lpwstr>
  </property>
  <property fmtid="{D5CDD505-2E9C-101B-9397-08002B2CF9AE}" pid="3" name="KSOProductBuildVer">
    <vt:lpwstr>1033-12.1.0.29162</vt:lpwstr>
  </property>
</Properties>
</file>